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1幕 憧れ" id="{34ea8069-b0bc-4d84-d4e7-5c526b5ea62c}">
          <p14:sldIdLst>
            <p14:sldId id="256"/>
            <p14:sldId id="257"/>
            <p14:sldId id="258"/>
            <p14:sldId id="259"/>
          </p14:sldIdLst>
        </p14:section>
        <p14:section name="第2幕 発見" id="{db15cc5f-874c-ecd6-b02f-50ac9aade485}">
          <p14:sldIdLst>
            <p14:sldId id="260"/>
            <p14:sldId id="261"/>
            <p14:sldId id="262"/>
            <p14:sldId id="263"/>
            <p14:sldId id="264"/>
            <p14:sldId id="265"/>
          </p14:sldIdLst>
        </p14:section>
        <p14:section name="第3幕 納得" id="{89641efd-ba46-378d-c878-69909ab5535c}">
          <p14:sldIdLst>
            <p14:sldId id="266"/>
            <p14:sldId id="267"/>
            <p14:sldId id="268"/>
            <p14:sldId id="269"/>
            <p14:sldId id="270"/>
            <p14:sldId id="271"/>
          </p14:sldIdLst>
        </p14:section>
        <p14:section name="第4幕 安心" id="{43dd70f1-6393-a342-957a-55d9811bcd0d}">
          <p14:sldIdLst>
            <p14:sldId id="272"/>
            <p14:sldId id="273"/>
            <p14:sldId id="274"/>
            <p14:sldId id="275"/>
            <p14:sldId id="276"/>
          </p14:sldIdLst>
        </p14:section>
        <p14:section name="第5幕 行動" id="{4d4a622a-ec5c-93f5-3386-f566d8382182}">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概念図：価値の動き方の違い（万円）</a:t>
            </a:r>
          </a:p>
        </c:rich>
      </c:tx>
      <c:layout/>
      <c:overlay val="0"/>
    </c:title>
    <c:autoTitleDeleted val="0"/>
    <c:plotArea>
      <c:layout/>
      <c:lineChart>
        <c:varyColors val="0"/>
        <c:ser>
          <c:idx val="0"/>
          <c:order val="0"/>
          <c:tx>
            <c:strRef>
              <c:f>Sheet1!$B$1</c:f>
              <c:strCache>
                <c:ptCount val="1"/>
                <c:pt idx="0">
                  <c:v>土地（横ばいと仮定）</c:v>
                </c:pt>
              </c:strCache>
            </c:strRef>
          </c:tx>
          <c:spPr>
            <a:solidFill>
              <a:srgbClr val="B89B6A"/>
            </a:solidFill>
            <a:ln w="3810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9B6A"/>
              </a:solidFill>
              <a:ln w="9525" cap="flat">
                <a:solidFill>
                  <a:srgbClr val="B89B6A"/>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Sheet1!$B$2:$B$8</c:f>
              <c:numCache>
                <c:formatCode>General</c:formatCode>
                <c:ptCount val="7"/>
                <c:pt idx="0">
                  <c:v>1500</c:v>
                </c:pt>
                <c:pt idx="1">
                  <c:v>1500</c:v>
                </c:pt>
                <c:pt idx="2">
                  <c:v>1500</c:v>
                </c:pt>
                <c:pt idx="3">
                  <c:v>1500</c:v>
                </c:pt>
                <c:pt idx="4">
                  <c:v>1500</c:v>
                </c:pt>
                <c:pt idx="5">
                  <c:v>1500</c:v>
                </c:pt>
                <c:pt idx="6">
                  <c:v>1500</c:v>
                </c:pt>
              </c:numCache>
            </c:numRef>
          </c:val>
          <c:smooth val="0"/>
        </c:ser>
        <c:ser>
          <c:idx val="1"/>
          <c:order val="1"/>
          <c:tx>
            <c:strRef>
              <c:f>Sheet1!$C$1</c:f>
              <c:strCache>
                <c:ptCount val="1"/>
                <c:pt idx="0">
                  <c:v>建物（年数とともに下がる一例）</c:v>
                </c:pt>
              </c:strCache>
            </c:strRef>
          </c:tx>
          <c:spPr>
            <a:solidFill>
              <a:srgbClr val="17233B"/>
            </a:solidFill>
            <a:ln w="3810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7233B"/>
              </a:solidFill>
              <a:ln w="9525" cap="flat">
                <a:solidFill>
                  <a:srgbClr val="17233B"/>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Sheet1!$C$2:$C$8</c:f>
              <c:numCache>
                <c:formatCode>General</c:formatCode>
                <c:ptCount val="7"/>
                <c:pt idx="0">
                  <c:v>2000</c:v>
                </c:pt>
                <c:pt idx="1">
                  <c:v>1500</c:v>
                </c:pt>
                <c:pt idx="2">
                  <c:v>1000</c:v>
                </c:pt>
                <c:pt idx="3">
                  <c:v>500</c:v>
                </c:pt>
                <c:pt idx="4">
                  <c:v>200</c:v>
                </c:pt>
                <c:pt idx="5">
                  <c:v>200</c:v>
                </c:pt>
                <c:pt idx="6">
                  <c:v>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年ごとの控除見込額（万円）— 新築・ZEH水準・2027年入居</a:t>
            </a:r>
          </a:p>
        </c:rich>
      </c:tx>
      <c:layout/>
      <c:overlay val="0"/>
    </c:title>
    <c:autoTitleDeleted val="0"/>
    <c:plotArea>
      <c:layout/>
      <c:barChart>
        <c:barDir val="col"/>
        <c:grouping val="stacked"/>
        <c:varyColors val="0"/>
        <c:ser>
          <c:idx val="0"/>
          <c:order val="0"/>
          <c:tx>
            <c:strRef>
              <c:f>Sheet1!$B$1</c:f>
              <c:strCache>
                <c:ptCount val="1"/>
                <c:pt idx="0">
                  <c:v>所得税から</c:v>
                </c:pt>
              </c:strCache>
            </c:strRef>
          </c:tx>
          <c:spPr>
            <a:solidFill>
              <a:srgbClr val="17233B"/>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Sheet1!$B$2:$B$14</c:f>
              <c:numCache>
                <c:formatCode>General</c:formatCode>
                <c:ptCount val="13"/>
                <c:pt idx="0">
                  <c:v>11.2</c:v>
                </c:pt>
                <c:pt idx="1">
                  <c:v>11.2</c:v>
                </c:pt>
                <c:pt idx="2">
                  <c:v>11.2</c:v>
                </c:pt>
                <c:pt idx="3">
                  <c:v>11.2</c:v>
                </c:pt>
                <c:pt idx="4">
                  <c:v>11.2</c:v>
                </c:pt>
                <c:pt idx="5">
                  <c:v>11.2</c:v>
                </c:pt>
                <c:pt idx="6">
                  <c:v>11.2</c:v>
                </c:pt>
                <c:pt idx="7">
                  <c:v>11.2</c:v>
                </c:pt>
                <c:pt idx="8">
                  <c:v>11.2</c:v>
                </c:pt>
                <c:pt idx="9">
                  <c:v>11.2</c:v>
                </c:pt>
                <c:pt idx="10">
                  <c:v>11.2</c:v>
                </c:pt>
                <c:pt idx="11">
                  <c:v>11.2</c:v>
                </c:pt>
                <c:pt idx="12">
                  <c:v>11.2</c:v>
                </c:pt>
              </c:numCache>
            </c:numRef>
          </c:val>
        </c:ser>
        <c:ser>
          <c:idx val="1"/>
          <c:order val="1"/>
          <c:tx>
            <c:strRef>
              <c:f>Sheet1!$C$1</c:f>
              <c:strCache>
                <c:ptCount val="1"/>
                <c:pt idx="0">
                  <c:v>住民税から</c:v>
                </c:pt>
              </c:strCache>
            </c:strRef>
          </c:tx>
          <c:spPr>
            <a:solidFill>
              <a:srgbClr val="B89B6A"/>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Sheet1!$C$2:$C$14</c:f>
              <c:numCache>
                <c:formatCode>General</c:formatCode>
                <c:ptCount val="13"/>
                <c:pt idx="0">
                  <c:v>9.8</c:v>
                </c:pt>
                <c:pt idx="1">
                  <c:v>9.8</c:v>
                </c:pt>
                <c:pt idx="2">
                  <c:v>9.8</c:v>
                </c:pt>
                <c:pt idx="3">
                  <c:v>9.3</c:v>
                </c:pt>
                <c:pt idx="4">
                  <c:v>8.8</c:v>
                </c:pt>
                <c:pt idx="5">
                  <c:v>8.3</c:v>
                </c:pt>
                <c:pt idx="6">
                  <c:v>7.7</c:v>
                </c:pt>
                <c:pt idx="7">
                  <c:v>7.2</c:v>
                </c:pt>
                <c:pt idx="8">
                  <c:v>6.6</c:v>
                </c:pt>
                <c:pt idx="9">
                  <c:v>6.1</c:v>
                </c:pt>
                <c:pt idx="10">
                  <c:v>5.5</c:v>
                </c:pt>
                <c:pt idx="11">
                  <c:v>4.9</c:v>
                </c:pt>
                <c:pt idx="12">
                  <c:v>4.4</c:v>
                </c:pt>
              </c:numCache>
            </c:numRef>
          </c:val>
        </c:ser>
        <c:ser>
          <c:idx val="2"/>
          <c:order val="2"/>
          <c:tx>
            <c:strRef>
              <c:f>Sheet1!$D$1</c:f>
              <c:strCache>
                <c:ptCount val="1"/>
                <c:pt idx="0">
                  <c:v>控除しきれない額（受け取れない）</c:v>
                </c:pt>
              </c:strCache>
            </c:strRef>
          </c:tx>
          <c:spPr>
            <a:solidFill>
              <a:srgbClr val="D3D7DD"/>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Sheet1!$D$2:$D$14</c:f>
              <c:numCache>
                <c:formatCode>General</c:formatCode>
                <c:ptCount val="13"/>
                <c:pt idx="0">
                  <c:v>1.1</c:v>
                </c:pt>
                <c:pt idx="1">
                  <c:v>0.6</c:v>
                </c:pt>
                <c:pt idx="2">
                  <c:v>0.1</c:v>
                </c:pt>
                <c:pt idx="3">
                  <c:v>0</c:v>
                </c:pt>
                <c:pt idx="4">
                  <c:v>0</c:v>
                </c:pt>
                <c:pt idx="5">
                  <c:v>0</c:v>
                </c:pt>
                <c:pt idx="6">
                  <c:v>0</c:v>
                </c:pt>
                <c:pt idx="7">
                  <c:v>0</c:v>
                </c:pt>
                <c:pt idx="8">
                  <c:v>0</c:v>
                </c:pt>
                <c:pt idx="9">
                  <c:v>0</c:v>
                </c:pt>
                <c:pt idx="10">
                  <c:v>0</c:v>
                </c:pt>
                <c:pt idx="11">
                  <c:v>0</c:v>
                </c:pt>
                <c:pt idx="12">
                  <c:v>0</c:v>
                </c:pt>
              </c:numCache>
            </c:numRef>
          </c:val>
        </c:ser>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新築サンプル：残債と物件価値の推移（万円・横軸は年後）</a:t>
            </a:r>
          </a:p>
        </c:rich>
      </c:tx>
      <c:layout/>
      <c:overlay val="0"/>
    </c:title>
    <c:autoTitleDeleted val="0"/>
    <c:plotArea>
      <c:layout/>
      <c:lineChart>
        <c:varyColors val="0"/>
        <c:ser>
          <c:idx val="0"/>
          <c:order val="0"/>
          <c:tx>
            <c:strRef>
              <c:f>Sheet1!$B$1</c:f>
              <c:strCache>
                <c:ptCount val="1"/>
                <c:pt idx="0">
                  <c:v>ローン残債</c:v>
                </c:pt>
              </c:strCache>
            </c:strRef>
          </c:tx>
          <c:spPr>
            <a:solidFill>
              <a:srgbClr val="17233B"/>
            </a:solidFill>
            <a:ln w="3175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33B"/>
              </a:solidFill>
              <a:ln w="9525" cap="flat">
                <a:solidFill>
                  <a:srgbClr val="17233B"/>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Sheet1!$B$2:$B$37</c:f>
              <c:numCache>
                <c:formatCode>General</c:formatCode>
                <c:ptCount val="36"/>
                <c:pt idx="0">
                  <c:v>3200</c:v>
                </c:pt>
                <c:pt idx="1">
                  <c:v>3130</c:v>
                </c:pt>
                <c:pt idx="2">
                  <c:v>3059</c:v>
                </c:pt>
                <c:pt idx="3">
                  <c:v>2987</c:v>
                </c:pt>
                <c:pt idx="4">
                  <c:v>2913</c:v>
                </c:pt>
                <c:pt idx="5">
                  <c:v>2839</c:v>
                </c:pt>
                <c:pt idx="6">
                  <c:v>2763</c:v>
                </c:pt>
                <c:pt idx="7">
                  <c:v>2687</c:v>
                </c:pt>
                <c:pt idx="8">
                  <c:v>2609</c:v>
                </c:pt>
                <c:pt idx="9">
                  <c:v>2530</c:v>
                </c:pt>
                <c:pt idx="10">
                  <c:v>2450</c:v>
                </c:pt>
                <c:pt idx="11">
                  <c:v>2368</c:v>
                </c:pt>
                <c:pt idx="12">
                  <c:v>2286</c:v>
                </c:pt>
                <c:pt idx="13">
                  <c:v>2202</c:v>
                </c:pt>
                <c:pt idx="14">
                  <c:v>2117</c:v>
                </c:pt>
                <c:pt idx="15">
                  <c:v>2030</c:v>
                </c:pt>
                <c:pt idx="16">
                  <c:v>1943</c:v>
                </c:pt>
                <c:pt idx="17">
                  <c:v>1854</c:v>
                </c:pt>
                <c:pt idx="18">
                  <c:v>1763</c:v>
                </c:pt>
                <c:pt idx="19">
                  <c:v>1672</c:v>
                </c:pt>
                <c:pt idx="20">
                  <c:v>1578</c:v>
                </c:pt>
                <c:pt idx="21">
                  <c:v>1484</c:v>
                </c:pt>
                <c:pt idx="22">
                  <c:v>1388</c:v>
                </c:pt>
                <c:pt idx="23">
                  <c:v>1290</c:v>
                </c:pt>
                <c:pt idx="24">
                  <c:v>1192</c:v>
                </c:pt>
                <c:pt idx="25">
                  <c:v>1091</c:v>
                </c:pt>
                <c:pt idx="26">
                  <c:v>989</c:v>
                </c:pt>
                <c:pt idx="27">
                  <c:v>886</c:v>
                </c:pt>
                <c:pt idx="28">
                  <c:v>781</c:v>
                </c:pt>
                <c:pt idx="29">
                  <c:v>674</c:v>
                </c:pt>
                <c:pt idx="30">
                  <c:v>566</c:v>
                </c:pt>
                <c:pt idx="31">
                  <c:v>456</c:v>
                </c:pt>
                <c:pt idx="32">
                  <c:v>345</c:v>
                </c:pt>
                <c:pt idx="33">
                  <c:v>232</c:v>
                </c:pt>
                <c:pt idx="34">
                  <c:v>117</c:v>
                </c:pt>
                <c:pt idx="35">
                  <c:v>0</c:v>
                </c:pt>
              </c:numCache>
            </c:numRef>
          </c:val>
          <c:smooth val="0"/>
        </c:ser>
        <c:ser>
          <c:idx val="1"/>
          <c:order val="1"/>
          <c:tx>
            <c:strRef>
              <c:f>Sheet1!$C$1</c:f>
              <c:strCache>
                <c:ptCount val="1"/>
                <c:pt idx="0">
                  <c:v>物件の価値（横ばい）</c:v>
                </c:pt>
              </c:strCache>
            </c:strRef>
          </c:tx>
          <c:spPr>
            <a:solidFill>
              <a:srgbClr val="B89B6A"/>
            </a:solidFill>
            <a:ln w="3175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9B6A"/>
              </a:solidFill>
              <a:ln w="9525" cap="flat">
                <a:solidFill>
                  <a:srgbClr val="B89B6A"/>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Sheet1!$C$2:$C$37</c:f>
              <c:numCache>
                <c:formatCode>General</c:formatCode>
                <c:ptCount val="36"/>
                <c:pt idx="0">
                  <c:v>3500</c:v>
                </c:pt>
                <c:pt idx="1">
                  <c:v>3400</c:v>
                </c:pt>
                <c:pt idx="2">
                  <c:v>3300</c:v>
                </c:pt>
                <c:pt idx="3">
                  <c:v>3200</c:v>
                </c:pt>
                <c:pt idx="4">
                  <c:v>3100</c:v>
                </c:pt>
                <c:pt idx="5">
                  <c:v>3000</c:v>
                </c:pt>
                <c:pt idx="6">
                  <c:v>2900</c:v>
                </c:pt>
                <c:pt idx="7">
                  <c:v>2800</c:v>
                </c:pt>
                <c:pt idx="8">
                  <c:v>2700</c:v>
                </c:pt>
                <c:pt idx="9">
                  <c:v>2600</c:v>
                </c:pt>
                <c:pt idx="10">
                  <c:v>2500</c:v>
                </c:pt>
                <c:pt idx="11">
                  <c:v>2400</c:v>
                </c:pt>
                <c:pt idx="12">
                  <c:v>2300</c:v>
                </c:pt>
                <c:pt idx="13">
                  <c:v>2200</c:v>
                </c:pt>
                <c:pt idx="14">
                  <c:v>2100</c:v>
                </c:pt>
                <c:pt idx="15">
                  <c:v>2000</c:v>
                </c:pt>
                <c:pt idx="16">
                  <c:v>1900</c:v>
                </c:pt>
                <c:pt idx="17">
                  <c:v>1800</c:v>
                </c:pt>
                <c:pt idx="18">
                  <c:v>1700</c:v>
                </c:pt>
                <c:pt idx="19">
                  <c:v>1700</c:v>
                </c:pt>
                <c:pt idx="20">
                  <c:v>1700</c:v>
                </c:pt>
                <c:pt idx="21">
                  <c:v>1700</c:v>
                </c:pt>
                <c:pt idx="22">
                  <c:v>1700</c:v>
                </c:pt>
                <c:pt idx="23">
                  <c:v>1700</c:v>
                </c:pt>
                <c:pt idx="24">
                  <c:v>1700</c:v>
                </c:pt>
                <c:pt idx="25">
                  <c:v>1700</c:v>
                </c:pt>
                <c:pt idx="26">
                  <c:v>1700</c:v>
                </c:pt>
                <c:pt idx="27">
                  <c:v>1700</c:v>
                </c:pt>
                <c:pt idx="28">
                  <c:v>1700</c:v>
                </c:pt>
                <c:pt idx="29">
                  <c:v>1700</c:v>
                </c:pt>
                <c:pt idx="30">
                  <c:v>1700</c:v>
                </c:pt>
                <c:pt idx="31">
                  <c:v>1700</c:v>
                </c:pt>
                <c:pt idx="32">
                  <c:v>1700</c:v>
                </c:pt>
                <c:pt idx="33">
                  <c:v>1700</c:v>
                </c:pt>
                <c:pt idx="34">
                  <c:v>1700</c:v>
                </c:pt>
                <c:pt idx="35">
                  <c:v>1700</c:v>
                </c:pt>
              </c:numCache>
            </c:numRef>
          </c:val>
          <c:smooth val="0"/>
        </c:ser>
        <c:ser>
          <c:idx val="2"/>
          <c:order val="2"/>
          <c:tx>
            <c:strRef>
              <c:f>Sheet1!$D$1</c:f>
              <c:strCache>
                <c:ptCount val="1"/>
                <c:pt idx="0">
                  <c:v>物件の価値（上昇）</c:v>
                </c:pt>
              </c:strCache>
            </c:strRef>
          </c:tx>
          <c:spPr>
            <a:solidFill>
              <a:srgbClr val="D9C9A6"/>
            </a:solidFill>
            <a:ln w="31750" cap="flat">
              <a:solidFill>
                <a:srgbClr val="D9C9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C9A6"/>
              </a:solidFill>
              <a:ln w="9525" cap="flat">
                <a:solidFill>
                  <a:srgbClr val="D9C9A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Sheet1!$D$2:$D$37</c:f>
              <c:numCache>
                <c:formatCode>General</c:formatCode>
                <c:ptCount val="36"/>
                <c:pt idx="0">
                  <c:v>3500</c:v>
                </c:pt>
                <c:pt idx="1">
                  <c:v>3435</c:v>
                </c:pt>
                <c:pt idx="2">
                  <c:v>3370</c:v>
                </c:pt>
                <c:pt idx="3">
                  <c:v>3305</c:v>
                </c:pt>
                <c:pt idx="4">
                  <c:v>3241</c:v>
                </c:pt>
                <c:pt idx="5">
                  <c:v>3177</c:v>
                </c:pt>
                <c:pt idx="6">
                  <c:v>3112</c:v>
                </c:pt>
                <c:pt idx="7">
                  <c:v>3048</c:v>
                </c:pt>
                <c:pt idx="8">
                  <c:v>2984</c:v>
                </c:pt>
                <c:pt idx="9">
                  <c:v>2921</c:v>
                </c:pt>
                <c:pt idx="10">
                  <c:v>2857</c:v>
                </c:pt>
                <c:pt idx="11">
                  <c:v>2794</c:v>
                </c:pt>
                <c:pt idx="12">
                  <c:v>2730</c:v>
                </c:pt>
                <c:pt idx="13">
                  <c:v>2667</c:v>
                </c:pt>
                <c:pt idx="14">
                  <c:v>2604</c:v>
                </c:pt>
                <c:pt idx="15">
                  <c:v>2541</c:v>
                </c:pt>
                <c:pt idx="16">
                  <c:v>2479</c:v>
                </c:pt>
                <c:pt idx="17">
                  <c:v>2416</c:v>
                </c:pt>
                <c:pt idx="18">
                  <c:v>2354</c:v>
                </c:pt>
                <c:pt idx="19">
                  <c:v>2292</c:v>
                </c:pt>
                <c:pt idx="20">
                  <c:v>2230</c:v>
                </c:pt>
                <c:pt idx="21">
                  <c:v>2169</c:v>
                </c:pt>
                <c:pt idx="22">
                  <c:v>2107</c:v>
                </c:pt>
                <c:pt idx="23">
                  <c:v>2086</c:v>
                </c:pt>
                <c:pt idx="24">
                  <c:v>2105</c:v>
                </c:pt>
                <c:pt idx="25">
                  <c:v>2124</c:v>
                </c:pt>
                <c:pt idx="26">
                  <c:v>2143</c:v>
                </c:pt>
                <c:pt idx="27">
                  <c:v>2162</c:v>
                </c:pt>
                <c:pt idx="28">
                  <c:v>2182</c:v>
                </c:pt>
                <c:pt idx="29">
                  <c:v>2202</c:v>
                </c:pt>
                <c:pt idx="30">
                  <c:v>2222</c:v>
                </c:pt>
                <c:pt idx="31">
                  <c:v>2242</c:v>
                </c:pt>
                <c:pt idx="32">
                  <c:v>2262</c:v>
                </c:pt>
                <c:pt idx="33">
                  <c:v>2283</c:v>
                </c:pt>
                <c:pt idx="34">
                  <c:v>2304</c:v>
                </c:pt>
                <c:pt idx="35">
                  <c:v>2325</c:v>
                </c:pt>
              </c:numCache>
            </c:numRef>
          </c:val>
          <c:smooth val="0"/>
        </c:ser>
        <c:ser>
          <c:idx val="3"/>
          <c:order val="3"/>
          <c:tx>
            <c:strRef>
              <c:f>Sheet1!$E$1</c:f>
              <c:strCache>
                <c:ptCount val="1"/>
                <c:pt idx="0">
                  <c:v>物件の価値（下落）</c:v>
                </c:pt>
              </c:strCache>
            </c:strRef>
          </c:tx>
          <c:spPr>
            <a:solidFill>
              <a:srgbClr val="C9CED6"/>
            </a:solidFill>
            <a:ln w="31750" cap="flat">
              <a:solidFill>
                <a:srgbClr val="C9CE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CED6"/>
              </a:solidFill>
              <a:ln w="9525" cap="flat">
                <a:solidFill>
                  <a:srgbClr val="C9CED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Sheet1!$E$2:$E$37</c:f>
              <c:numCache>
                <c:formatCode>General</c:formatCode>
                <c:ptCount val="36"/>
                <c:pt idx="0">
                  <c:v>3500</c:v>
                </c:pt>
                <c:pt idx="1">
                  <c:v>3365</c:v>
                </c:pt>
                <c:pt idx="2">
                  <c:v>3230</c:v>
                </c:pt>
                <c:pt idx="3">
                  <c:v>3095</c:v>
                </c:pt>
                <c:pt idx="4">
                  <c:v>2961</c:v>
                </c:pt>
                <c:pt idx="5">
                  <c:v>2826</c:v>
                </c:pt>
                <c:pt idx="6">
                  <c:v>2692</c:v>
                </c:pt>
                <c:pt idx="7">
                  <c:v>2558</c:v>
                </c:pt>
                <c:pt idx="8">
                  <c:v>2424</c:v>
                </c:pt>
                <c:pt idx="9">
                  <c:v>2290</c:v>
                </c:pt>
                <c:pt idx="10">
                  <c:v>2157</c:v>
                </c:pt>
                <c:pt idx="11">
                  <c:v>2023</c:v>
                </c:pt>
                <c:pt idx="12">
                  <c:v>1890</c:v>
                </c:pt>
                <c:pt idx="13">
                  <c:v>1756</c:v>
                </c:pt>
                <c:pt idx="14">
                  <c:v>1623</c:v>
                </c:pt>
                <c:pt idx="15">
                  <c:v>1490</c:v>
                </c:pt>
                <c:pt idx="16">
                  <c:v>1477</c:v>
                </c:pt>
                <c:pt idx="17">
                  <c:v>1464</c:v>
                </c:pt>
                <c:pt idx="18">
                  <c:v>1452</c:v>
                </c:pt>
                <c:pt idx="19">
                  <c:v>1439</c:v>
                </c:pt>
                <c:pt idx="20">
                  <c:v>1427</c:v>
                </c:pt>
                <c:pt idx="21">
                  <c:v>1415</c:v>
                </c:pt>
                <c:pt idx="22">
                  <c:v>1402</c:v>
                </c:pt>
                <c:pt idx="23">
                  <c:v>1390</c:v>
                </c:pt>
                <c:pt idx="24">
                  <c:v>1379</c:v>
                </c:pt>
                <c:pt idx="25">
                  <c:v>1367</c:v>
                </c:pt>
                <c:pt idx="26">
                  <c:v>1355</c:v>
                </c:pt>
                <c:pt idx="27">
                  <c:v>1344</c:v>
                </c:pt>
                <c:pt idx="28">
                  <c:v>1332</c:v>
                </c:pt>
                <c:pt idx="29">
                  <c:v>1321</c:v>
                </c:pt>
                <c:pt idx="30">
                  <c:v>1310</c:v>
                </c:pt>
                <c:pt idx="31">
                  <c:v>1298</c:v>
                </c:pt>
                <c:pt idx="32">
                  <c:v>1287</c:v>
                </c:pt>
                <c:pt idx="33">
                  <c:v>1277</c:v>
                </c:pt>
                <c:pt idx="34">
                  <c:v>1266</c:v>
                </c:pt>
                <c:pt idx="35">
                  <c:v>1255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最初の1枚は説明しない。写真とコピーだけを見てもらい、「自分の家」という感覚を持ってもらう。今日は売り込みではなく、暮らし方を一緒に考える時間だと伝える。
【顧客への質問】
・この写真を見て、最初にどんなことを感じましたか？
・今日、どんなことが分かれば「来てよかった」と思えますか？
【想定される不安】
・売り込まれるのではないか
・単身で家を買うのは早いのではないか
【根拠に基づく回答】
・今日のゴールは購入を決めることではなく、賃貸・マンション・戸建てを同じ物差しで比べられるようになること
・資料はお持ち帰りいただける。見送りも大切な選択肢として扱う
【次のページへのつなぎ】
「では、ひとりで暮らすからこそできる暮らし方から見ていきましょう。」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「家族のための家」という前提を外す。誰にも合わせなくていい単身者だからこそ、家の使い方を100%自分で決められる。趣味・仕事・休日の3つの時間で、具体的な暮らしを想像してもらう。
【顧客への質問】
・休日、いちばん長く過ごしている場所はどこですか？
・今の住まいで「本当はこうしたい」と思っていることは？
【想定される不安】
・一人で一戸建ては広すぎるのでは
・掃除や手入れが大変そう
【根拠に基づく回答】
・広さは「何に使うか」が決まって初めて価値になる。用途が決まらなければコンパクトな物件や賃貸が合理的なこともある
・手入れの手間はデメリットとして正直に扱う（P20で維持費、元資料のデメリット13「管理の手間」）
【次のページへのつなぎ】
「その自由が、家の中でどう形になるのか。写真で見てみましょう。」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リビング・書斎・収納・外まわり・ガレージ。賃貸のワンルームや1LDKでは分けられない空間が、すべて自分のものになる。写真を指しながら「この部屋を何に使うか」を一緒に決める。
【顧客への質問】
・この中で、いちばん欲しい空間はどれですか？
・空いている一部屋があったら、何に使いますか？
【想定される不安】
・写真のような家は高いのでは
・使わない部屋が無駄になりそう
【根拠に基づく回答】
・写真はイメージ。実際の物件は予算と希望条件から選ぶ（P10・P23）
・使い道が決まらない部屋は、収納・来客・将来の在宅勤務など、用途の候補を先に挙げてから判断する
【次のページへのつなぎ】
「では、10年後のご自分を少し想像してみましょう。」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ここで初めてお客様に書いてもらう。「家を買うか」ではなく「どう暮らしたいか」が出発点。書いた言葉は、後半の物件条件（P10・P23）と提案書にそのまま使う。
【顧客への質問】
・10年後、どの街に住んでいたいですか？
・家で、どんな時間を過ごしていたいですか？
・家に「これだけは欲しい」空間は？
・暮らしの中で、大切にしたいものは何ですか？
【想定される不安】
・10年後のことは分からない
・結婚するかもしれない
【根拠に基づく回答】
・分からなくて大丈夫。今の希望を書くだけでよく、変わったときの選択肢（売る・住み替える・貸す）はP17で確認する
・本資料は結婚を前提にしない。家族構成が変わった場合も、その時点の状況で判断できる
【次のページへのつなぎ】
「書いていただいた暮らしを、どう実現するか。まず『住まいとお金』の関係から整理します。」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株・NISAと自宅は「どちらが得か」ではなく役割が違う。金融資産は増やす・備えるための手段。自宅は住みながら使える実物資産。株を否定せず「住まいは株では代わりがききません」と、両方持つ前提で話す。
【顧客への質問】
・今、NISAやiDeCoで積立をしていますか？
・資産について、いちばん大事にしているのは「増やす」「守る」「使う」のどれですか？
【想定される不安】
・家を買うよりNISAで運用したほうが得では
・家を買ったら積立をやめないといけないのでは
【根拠に基づく回答】
・利回りと換金性だけなら金融資産が有利な面がはっきりある。ただ住まいは誰でも必ずお金を払うもので、比べる土俵が違う
・購入後も積立を続けられる返済額にすること。それが両立の条件（P11・P19）
・「必ず値上がりする」「絶対に損しない」は宅建業法で禁じられた断定的説明。言わない
【次のページへのつなぎ】
「では、自宅にしかない『土地』という価値を見ていきます。」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不動産は「場所の権利」。動かせない、二つとない、登記で持ち主を示す。土地付き戸建ては、その場所を法令の範囲で自由に使い、貸し、売り、建て替えられる。ただし土地の価格も上下する。
【顧客への質問】
・住む場所を選ぶとき、絶対に譲れない条件は何ですか？
・この街に、どのくらい住み続けるイメージがありますか？
【想定される不安】
・土地は値下がりしないのでは（誤解）
・土地があれば何でも建てられるのでは（誤解）
【根拠に基づく回答】
・土地価格も人口や需要で上下する。値上がりは保証できない。だから立地・接道・用途地域など『価値の理由』を確認する（P21）
・建てられる建物は建築基準法・都市計画法（用途地域・建ぺい率・容積率など）で決まり、重要事項説明で確認する
【次のページへのつなぎ】
「土地と建物では、価値の動き方がまったく違います。」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物件価格を土地と建物に分けて見る。建物は年数とともに評価が下がるのが一般的で、手入れで差がつく。土地は劣化しないが、市場で上下する。「どこの土地か」と「どう手入れするか」の両方が大切。
【顧客への質問】
・この物件価格のうち、土地と建物がそれぞれいくらか気になりますか？
・建物の手入れには、どのくらい関心がありますか？
【想定される不安】
・木造は20年ほどで価値がゼロになると聞いた
・建物の価値が下がるなら損では
【根拠に基づく回答】
・中古市場では木造の建物は築20〜25年ほどで評価がかなり低くなるのが一般的（元資料『戸建ての基礎知識』）。ただし寿命ではなく、点検・修繕の記録は評価につながる
・木造住宅の法定耐用年数22年は税務上の基準で、建物の寿命ではない
・中古戸建ては『建物が安くなった分、土地付きで手に入る家』とも言える（P15）
【次のページへのつなぎ】
「では、所有することで得られる『空間の自由』を具体的に見ていきます。」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賃貸では契約上の制約を受けやすい「改装・音・ペット・駐車場」。所有すれば、法令と近隣への配慮の範囲で自分の判断で決められる。ただし実現できるかは物件しだいなので、条件も必ずセットで伝える。
【顧客への質問】
・今、賃貸の規約や間取りであきらめていることはありますか？
・在宅勤務は週に何日くらいありますか？
【想定される不安】
・賃貸でも広い部屋を借りれば同じでは
・ペットを飼うと売るときに不利では
【根拠に基づく回答】
・広さは家賃で買えるが、造作・防音・駐車場・ペットは契約で制限されやすい（P12で同じ広さの賃貸とも比較）
・飼育の跡は売却時の評価に影響しうる。床材・壁材の選び方と退去時の補修で備える
【次のページへのつなぎ】
「マンションという選択肢とも、公平に比べておきましょう。」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どちらにも長所と短所がある。マンションにも敷地の共有持分がある（「マンションは土地がない」は誤り）。違いは土地を単独で持つか共有するか、管理を自分で決めるか管理組合で決めるか。
【顧客への質問】
・管理は「任せたい」派ですか、「自分で決めたい」派ですか？
・駅からの距離と広さ、どちらを優先しますか？
【想定される不安】
・戸建ては修繕費が読めない
・マンションのほうが売りやすいのでは
【根拠に基づく回答】
・戸建ては管理費・修繕積立金がない代わりに自分で積み立てる（試算では月1.5万円を住居費に含める）
・駅近マンションは流通しやすい傾向がある。戸建ては立地・土地条件で個別性が大きいので、売れる・貸せる立地を選ぶことが大切
【次のページへのつなぎ】
「では、あなたの暮らしに合う戸建てとはどんなものか。希望を条件に置き換えてみます。」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単身者を一括りにしない。P04で書いた希望を「物件で確認する条件」に置き換える。3つのタイプは例で、実際はシミュレーターで希望を入力すると、物件ごとに合う・合わない・未確認が自動で出る。
【顧客への質問】
・3つのタイプのうち、いちばん近いのはどれですか？
・「これがないなら買わない」という条件を1つ挙げるとしたら？
【想定される不安】
・条件を全部満たす物件はないのでは
・優先順位がつけられない
【根拠に基づく回答】
・全部を満たす物件はまれ。「必須」と「あればうれしい」を分けると判断しやすい
・迷う場合は、毎月の住居費と通勤時間を先に決めると絞り込みやすい
【次のページへのつなぎ】
「暮らしのイメージができたところで、お金の現実を確かめていきます。」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お金は3つの数字で見る。①最初に払う「初期費用」545万円、②毎月の「住居費」12.5万円（返済に税・保険・修繕を加える）、③買った後に残る「手元資金」55万円。サンプル条件では手元資金が予備資金の目安に届かないので、頭金の配分を見直す余地があることを正直に示す。
【顧客への質問】
・購入後も、手元にいくら残しておきたいですか？
・月々いくらまでなら、今の生活水準を変えずに払えそうですか？
【想定される不安】
・頭金は多いほうがいいのでは
・諸費用がこんなにかかるとは思わなかった
【根拠に基づく回答】
・頭金を増やすと借入と利息は減るが手元資金が薄くなる。単身者は収入源が1つなので、まず生活費の半年分程度を残す考え方がおすすめ（目安147万円）
・諸費用は仲介手数料・登記費用・ローン手数料・保険など。物件価格とは別に必要（元資料デメリット01）
【次のページへのつなぎ】
「では、今の家賃と比べて毎月の支出がどう変わるかを見てみましょう。」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賃と返済額だけを比べない。税金・保険・修繕・更新料・管理費・駐車場まで入れた「総住居費」で比べる。今の賃貸は月10.6万円、新築戸建ては12.5万円、中古戸建ては10.2万円。何と比べるかで結論が変わることを示す。
【顧客への質問】
・今の家賃以外に、住まいにかかっている費用（更新料・駐車場など）はいくらですか？
・月2.0万円の差は、得られる広さや自由に見合うと感じますか？
【想定される不安】
・家賃とほぼ同じ返済額なら買ったほうが得では
・結局、高くなるのでは
【根拠に基づく回答】
・返済額（9.8万円）は家賃と近いが、所有には税金・保険・修繕がかかる。総額では今の賃貸より月2.0万円多い（新築の場合）
・中古なら10.2万円と、今の家賃に近い水準になる
・家賃は『住む権利』の対価で、無駄ではない。違いは所有すると住みながら借入残高が減っていく点
【次のページへのつなぎ】
「ここに、住宅ローン控除という税金の軽減が加わります。新築と中古で違いがあります。」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控除の枠（借入限度額×控除期間）は「新築か中古か」と「住宅の性能」で決まる。2026年以降は、性能の高い中古（ZEH水準・認定住宅）も3,500万円・13年に拡充された。省エネ基準を満たさない新築は原則対象外。性能を証明する書類があるかが分かれ目。
【顧客への質問】
・検討中の物件に、省エネ性能の証明書は付いていますか？
・入居はいつ頃を考えていますか？（2028年以降は新築の条件が変わります）
【想定される不安】
・中古は控除が少ないのでは
・新築なら必ず控除を受けられるのでは
【根拠に基づく回答】
・性能の高い中古はZEH水準・認定住宅なら3,500万円・13年。性能の証明がない中古は2,000万円・10年
・省エネ基準を満たさない新築は原則対象外。2028年以降入居の省エネ基準適合住宅は、2027年末までの建築確認等に限り2,000万円・10年
・子育て・若者夫婦世帯の上乗せは、単身者には適用しない（条件を満たす場合のみ）
【次のページへのつなぎ】
「では、年収550万円の方なら実際にいくら軽くなるのか、年ごとに見てみましょう。」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制度上の上限（年末残高×0.7%）は13年で245.5万円。実際に控除できるのは、その年の所得税と住民税（上限9.75万円）の範囲まで。年収550万円のサンプルでは見込み243.7万円で、初年度は10,800円が控除しきれない。控除は毎月の返済額を減らすのではなく、税金が軽くなる制度。
【顧客への質問】
・昨年の源泉徴収票はお手元にありますか？（あると詳しく計算できます）
・iDeCo・医療費控除・ふるさと納税など、ほかに税金が減る制度を使っていますか？
【想定される不安】
・最大額が全部戻ってくるのでは
・控除で毎月の返済が安くなるのでは
【根拠に基づく回答】
・戻るのは税額の範囲まで。本試算は概算で、所得が変われば見込みも変わる
・毎月の返済97,979円は変わらない。所得税は年末調整・確定申告で還付、住民税は翌年度に減額される
・1年目は確定申告が必要（2年目以降は年末調整）。ふるさと納税の上限額が下がる場合もあるので併せて確認
【次のページへのつなぎ】
「控除を差し引いたうえで、新築と中古の10年間の総コストを比べます。」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初期費用・返済・税・保険・修繕を10年分足し、住宅ローン控除を差し引く。新築1,855万円、中古1,595万円。控除は新築のほうが大きいが、価格と返済の差のほうが大きい。中古は「建物が安くなった分、土地付きで手に入る家」。ただし修繕は早めに来る。
【顧客への質問】
・新築と中古で、いちばん気になる違いは「価格」「性能」「修繕」のどれですか？
・中古の場合、購入前にインスペクション（建物状況調査）を入れたいですか？
【想定される不安】
・控除が多い新築のほうが得では
・中古は修繕費が怖い
【根拠に基づく回答】
・10年の控除は新築195.3万円・中古133.0万円。差は約62.4万円だが、支出全体の差は約260万円
・中古の修繕積立は月2.5万円と多めに置いている。インスペクションで劣化状況を確認し、見積もりを取ってから判断する
・性能・住み心地・売るときの価値（P16・P18）まで含めて比べる。控除の額だけで決めない
【次のページへのつなぎ】
「では、払い続けた結果、残債と家の価値がどうなっていくかを見ます。」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返済が進むと残債は減る。売るときの手元は「売却価格−売却費用−残債」。残債（紺の線）と物件の価値（金の線）の差が、売却時の手取りに近い。最初の数年は差が小さく、短期で売ると持ち出しになりやすい。
【顧客への質問】
・10年以内に住み替える可能性は、どのくらいありそうですか？
・繰上げ返済に回せそうな余裕資金は、年にどれくらいありそうですか？
【想定される不安】
・返済した分は全部自分の資産になるのでは（誤解）
・値下がりしたら借金だけ残るのでは
【根拠に基づく回答】
・返済した元金がそのまま利益になるわけではない。手元に残る額は売却価格しだい
・下落シナリオでも生活が成り立つ計画かを、P18で年数ごとに確認する。長く住むほど残債が減り、選択肢が広がる
【次のページへのつなぎ】
「ここからは、将来への不安に一つずつ答えていきます。まず、住まいを変えたくなったら。」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を買っても、ずっと住み続けなければならないわけではない。売却・住み替え・条件付きの賃貸という3つの出口がある。どの出口も「売れる・貸せる立地」と「無理のない資金計画」で広がる（元資料：持ち家で成功するための2つのポイント）。
【顧客への質問】
・転勤や転職の可能性は、どのくらいありますか？
・もし住まいを変えるなら、どんな理由が考えられますか？
【想定される不安】
・転勤になったら困る
・すぐに売れなかったらどうしよう
【根拠に基づく回答】
・住宅ローンは原則本人が住むことが前提。貸す場合は金融機関への相談が必要
・急ぐ場合は不動産会社の買取という方法もある（仲介より価格は下がることが多い）
・売却益には居住用財産の3,000万円特別控除などの特例がある（要件を要確認）
【次のページへのつなぎ】
「では、5年後・10年後・20年後に売った場合の手取りを具体的に見てみます。」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売った場合の手取りを、年数×3つのシナリオで一覧にする。新築は短期で売ると持ち出しになりやすく、長く住むほど改善する。中古は価格が抑えられているぶん、手取りがプラスになりやすい。最悪のケースも先に見せることで安心につなげる。
【顧客への質問】
・この表で、いちばん気になるマスはどこですか？
・下落シナリオの数字でも、生活は成り立ちそうですか？
【想定される不安】
・結局、上がるのか下がるのか
・持ち出しになったらどうしよう
【根拠に基づく回答】
・将来価格は誰にも分からない。だから幅で見て、下落でも成り立つ計画かを確認する
・持ち出しの可能性がある期間は、予備資金を厚めに持つ・繰上げ返済で残債を減らすなどで備える
【次のページへのつなぎ】
「売るとき以外の不安、たとえば収入が減ったときのことも確認しておきましょう。」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は収入源が1本。収入が2割・4割減ったときの返済負担と家計の余裕を先に見ておく。新築サンプルでは、今の収入でも返済が手取りの27.4%で、目安の25%を超える。中古なら18.9%。数字で見て、借入額・頭金・物件価格を一緒に調整する。
【顧客への質問】
・病気やけがで3か月働けなくなったら、生活費はどう工面しますか？
・勤務先の休業時の保障や、加入中の保険の内容は把握していますか？
【想定される不安】
・収入が減っても返済は続く
・団信に入れば安心では
【根拠に基づく回答】
・返済額は手取りの25%以内が一つの目安（元資料デメリット05）。超える場合は借入額・頭金・物件価格を見直す
・団信は死亡・高度障害等で残債が弁済される保険。働けない期間の収入減は商品によって保障の範囲が異なるので、就業不能保険も含めて確認
・固定金利を選ぶ・金利が上がっても払える額で借りる（元資料デメリット04）
【次のページへのつなぎ】
「もう一つの不安、戸建ての維持費を具体的に見ておきましょう。」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戸建ては管理費・修繕積立金がない代わりに、修繕を自分で計画する。毎年かかるもの（固定資産税・保険）と、いつか来るもの（設備交換・外装）を分けて、毎月の積立で備える。知っていれば、維持費は「想定内」にできる。
【顧客への質問】
・今、家の修繕や設備交換にかかる費用のイメージはありますか？
・毎月の積立は、自動で別口座に分けておく方法でも大丈夫ですか？
【想定される不安】
・突然大きな修繕費がかかるのでは
・固定資産税はいくらかかるのか
【根拠に基づく回答】
・交換・修繕の時期と費用は建物・仕様・使い方で大きく変わる。目安を知り、点検と見積もりで具体化する
・固定資産税は物件ごとに違い、新築住宅には一定期間の軽減措置がある（適用期限・要件は要確認）。試算では年12万円と仮定
【次のページへのつなぎ】
「最後に、購入前に確認すべきことを整理しておきましょう。」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不安の多くは、購入前に確認できる。災害・接道・再建築・耐震・住宅性能・ローン審査の6つを、誰と・何で確認するかまでセットで伝える。不利な情報も先に伝えることが、信頼につながる。
【顧客への質問】
・この6つのうち、ご自身で確認したことがあるものはありますか？
・現地は、昼と夜、平日と休日で見たことがありますか？
【想定される不安】
・専門的で自分では分からない
・確認しても見落としがありそう
【根拠に基づく回答】
・重要事項説明で宅地建物取引士が説明する事項が多い。事前に資料を共有し、分からない点はその場で確認する
・ハザードマップは国土交通省「ハザードマップポータルサイト」で誰でも確認できる
【次のページへのつなぎ】
「ここまでを踏まえて、あなたにとっての戸建ての価値を言葉にしてみましょう。」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ここまでの話を、お客様自身の言葉でまとめてもらう。4つの価値のうち、どれが一番大きいかを聞き、P04で書いた希望とつなげる。営業担当がまとめるのではなく、お客様に語ってもらう。
【顧客への質問】
・4つのうち、あなたにとって一番大きい価値はどれですか？
・逆に、あまり重要でないものは？
【想定される不安】
・価値は分かったが、自分に合うか分からない
・まだ決めきれない
【根拠に基づく回答】
・決めきれなくて当然。次のページで、具体的な物件が希望に合うかを確認してから判断すればよい
・比較を続ける・見送るも、大切な選択肢
【次のページへのつなぎ】
「では、実際の物件が、あなたの希望にどのくらい合っているかを見てみましょう。」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物件を「良い・悪い」ではなく「あなたの希望に合うか」で見る。合う点・合わない点・まだ確認していない点を正直に並べる。未確認事項は、見学と調査で確かめる理由になる。
【顧客への質問】
・この中で、必ず確かめたい未確認事項はどれですか？
・「△」の項目は、許容できそうですか？
【想定される不安】
・デメリットがあるなら、やめたほうがいいのでは
・未確認事項が多いと不安
【根拠に基づく回答】
・完璧な物件はまれ。必須条件を満たしているか、デメリットを許容できるかで判断する
・未確認事項は、見学・ハザードマップ・重要事項説明で一つずつ確かめられる
【次のページへのつなぎ】
「確かめたいことが見えてきました。最後に、次の一歩をご提案します。」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契約を迫らない。次の一歩を4つの具体的な行動として示し、お客様に選んでもらう。見学は昼と夜、平日と休日で。資金計画は源泉徴収票で詳しく計算する。見送りも大切な判断として尊重する。
【顧客への質問】
・4つのうち、どれから始めたいですか？
・見学するなら、いつ頃がご都合よいですか？
【想定される不安】
・見学したら断りにくくなるのでは
・今買わないと損では
【根拠に基づく回答】
・見学は確かめるための場。見て合わなければ、それも大事な情報
・『今買わないと損』と断言できる根拠はない。予備資金・住居費・住む期間がそろったときが、その人にとっての買い時
【次のページへのつなぎ】
（終了）資料とパーソナル提案書をお渡しし、次回の日程を一緒に決める。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VORY">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AVY">
    <p:bg>
      <p:bgPr>
        <a:solidFill>
          <a:srgbClr val="17233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home/user/-/construction-portfolio/img/p23.jpg">    </p:cNvPr>
          <p:cNvPicPr>
            <a:picLocks noChangeAspect="1"/>
          </p:cNvPicPr>
          <p:nvPr/>
        </p:nvPicPr>
        <p:blipFill>
          <a:blip r:embed="rId1"/>
          <a:srcRect l="0" r="0" t="0" b="0"/>
          <a:stretch/>
        </p:blipFill>
        <p:spPr>
          <a:xfrm>
            <a:off x="0" y="0"/>
            <a:ext cx="12191695" cy="6858000"/>
          </a:xfrm>
          <a:prstGeom prst="rect">
            <a:avLst/>
          </a:prstGeom>
        </p:spPr>
      </p:pic>
      <p:sp>
        <p:nvSpPr>
          <p:cNvPr id="4" name="Shape 0"/>
          <p:cNvSpPr/>
          <p:nvPr/>
        </p:nvSpPr>
        <p:spPr>
          <a:xfrm>
            <a:off x="0" y="0"/>
            <a:ext cx="6766560" cy="6858000"/>
          </a:xfrm>
          <a:prstGeom prst="rect">
            <a:avLst/>
          </a:prstGeom>
          <a:solidFill>
            <a:srgbClr val="17233B">
              <a:alpha val="82000"/>
            </a:srgbClr>
          </a:solidFill>
          <a:ln w="12700">
            <a:solidFill>
              <a:srgbClr val="17233B">
                <a:alpha val="0"/>
              </a:srgbClr>
            </a:solidFill>
            <a:prstDash val="solid"/>
          </a:ln>
        </p:spPr>
      </p:sp>
      <p:sp>
        <p:nvSpPr>
          <p:cNvPr id="5" name="Text 1"/>
          <p:cNvSpPr txBox="1"/>
          <p:nvPr/>
        </p:nvSpPr>
        <p:spPr>
          <a:xfrm>
            <a:off x="640080" y="502920"/>
            <a:ext cx="4572000" cy="274320"/>
          </a:xfrm>
          <a:prstGeom prst="rect">
            <a:avLst/>
          </a:prstGeom>
          <a:noFill/>
          <a:ln/>
        </p:spPr>
        <p:txBody>
          <a:bodyPr wrap="square" lIns="0" tIns="0" rIns="0" bIns="0" rtlCol="0" anchor="t"/>
          <a:lstStyle/>
          <a:p>
            <a:pPr indent="0" marL="0">
              <a:buNone/>
            </a:pPr>
            <a:r>
              <a:rPr lang="en-US" sz="1200" b="1" spc="400" kern="0" dirty="0">
                <a:solidFill>
                  <a:srgbClr val="B89B6A"/>
                </a:solidFill>
                <a:latin typeface="Yu Gothic" pitchFamily="34" charset="0"/>
                <a:ea typeface="Yu Gothic" pitchFamily="34" charset="-122"/>
                <a:cs typeface="Yu Gothic" pitchFamily="34" charset="-120"/>
              </a:rPr>
              <a:t>JAPAN MANAGEMENT</a:t>
            </a:r>
            <a:endParaRPr lang="en-US" sz="1200" dirty="0"/>
          </a:p>
        </p:txBody>
      </p:sp>
      <p:sp>
        <p:nvSpPr>
          <p:cNvPr id="6" name="Text 2"/>
          <p:cNvSpPr txBox="1"/>
          <p:nvPr/>
        </p:nvSpPr>
        <p:spPr>
          <a:xfrm>
            <a:off x="640080" y="1554480"/>
            <a:ext cx="6035040" cy="2377440"/>
          </a:xfrm>
          <a:prstGeom prst="rect">
            <a:avLst/>
          </a:prstGeom>
          <a:noFill/>
          <a:ln/>
        </p:spPr>
        <p:txBody>
          <a:bodyPr wrap="square" lIns="0" tIns="0" rIns="0" bIns="0" rtlCol="0" anchor="t"/>
          <a:lstStyle/>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人生を、</a:t>
            </a:r>
            <a:endParaRPr lang="en-US" sz="5600" dirty="0"/>
          </a:p>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自分の土地から。</a:t>
            </a:r>
            <a:endParaRPr lang="en-US" sz="5600" dirty="0"/>
          </a:p>
        </p:txBody>
      </p:sp>
      <p:sp>
        <p:nvSpPr>
          <p:cNvPr id="7" name="Text 3"/>
          <p:cNvSpPr txBox="1"/>
          <p:nvPr/>
        </p:nvSpPr>
        <p:spPr>
          <a:xfrm>
            <a:off x="640080" y="4069080"/>
            <a:ext cx="6035040" cy="457200"/>
          </a:xfrm>
          <a:prstGeom prst="rect">
            <a:avLst/>
          </a:prstGeom>
          <a:noFill/>
          <a:ln/>
        </p:spPr>
        <p:txBody>
          <a:bodyPr wrap="square" lIns="0" tIns="0" rIns="0" bIns="0" rtlCol="0" anchor="t"/>
          <a:lstStyle/>
          <a:p>
            <a:pPr indent="0" marL="0">
              <a:buNone/>
            </a:pPr>
            <a:r>
              <a:rPr lang="en-US" sz="1800" dirty="0">
                <a:solidFill>
                  <a:srgbClr val="EADFCB"/>
                </a:solidFill>
                <a:latin typeface="Yu Gothic" pitchFamily="34" charset="0"/>
                <a:ea typeface="Yu Gothic" pitchFamily="34" charset="-122"/>
                <a:cs typeface="Yu Gothic" pitchFamily="34" charset="-120"/>
              </a:rPr>
              <a:t>ひとりで暮らす。その自由を、もっと大きく。</a:t>
            </a:r>
            <a:endParaRPr lang="en-US" sz="1800" dirty="0"/>
          </a:p>
        </p:txBody>
      </p:sp>
      <p:sp>
        <p:nvSpPr>
          <p:cNvPr id="8" name="Text 4"/>
          <p:cNvSpPr txBox="1"/>
          <p:nvPr/>
        </p:nvSpPr>
        <p:spPr>
          <a:xfrm>
            <a:off x="640080" y="5806440"/>
            <a:ext cx="5486400"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単身者のための 戸建て所有のご提案</a:t>
            </a:r>
            <a:endParaRPr lang="en-US" sz="1100" dirty="0"/>
          </a:p>
        </p:txBody>
      </p:sp>
      <p:sp>
        <p:nvSpPr>
          <p:cNvPr id="9" name="Text 5"/>
          <p:cNvSpPr txBox="1"/>
          <p:nvPr/>
        </p:nvSpPr>
        <p:spPr>
          <a:xfrm>
            <a:off x="640080" y="6108192"/>
            <a:ext cx="5486400" cy="320040"/>
          </a:xfrm>
          <a:prstGeom prst="rect">
            <a:avLst/>
          </a:prstGeom>
          <a:noFill/>
          <a:ln/>
        </p:spPr>
        <p:txBody>
          <a:bodyPr wrap="square" lIns="0" tIns="0" rIns="0" bIns="0" rtlCol="0" anchor="t"/>
          <a:lstStyle/>
          <a:p>
            <a:pPr indent="0" marL="0">
              <a:buNone/>
            </a:pPr>
            <a:r>
              <a:rPr lang="en-US" sz="1400" b="1" dirty="0">
                <a:solidFill>
                  <a:srgbClr val="FFFFFF"/>
                </a:solidFill>
                <a:latin typeface="Yu Gothic" pitchFamily="34" charset="0"/>
                <a:ea typeface="Yu Gothic" pitchFamily="34" charset="-122"/>
                <a:cs typeface="Yu Gothic" pitchFamily="34" charset="-120"/>
              </a:rPr>
              <a:t>株式会社ジャパンマネジメント</a:t>
            </a:r>
            <a:endParaRPr lang="en-US" sz="1400" dirty="0"/>
          </a:p>
        </p:txBody>
      </p:sp>
      <p:sp>
        <p:nvSpPr>
          <p:cNvPr id="10" name="Text 6"/>
          <p:cNvSpPr txBox="1"/>
          <p:nvPr/>
        </p:nvSpPr>
        <p:spPr>
          <a:xfrm>
            <a:off x="10271455" y="6492240"/>
            <a:ext cx="1645920" cy="228600"/>
          </a:xfrm>
          <a:prstGeom prst="rect">
            <a:avLst/>
          </a:prstGeom>
          <a:noFill/>
          <a:ln/>
        </p:spPr>
        <p:txBody>
          <a:bodyPr wrap="square" lIns="0" tIns="0" rIns="0" bIns="0" rtlCol="0" anchor="t"/>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イメージ写真">    </p:cNvPr>
          <p:cNvPicPr>
            <a:picLocks noChangeAspect="1"/>
          </p:cNvPicPr>
          <p:nvPr/>
        </p:nvPicPr>
        <p:blipFill>
          <a:blip r:embed="rId1"/>
          <a:srcRect l="0" r="0" t="0" b="0"/>
          <a:stretch/>
        </p:blipFill>
        <p:spPr>
          <a:xfrm>
            <a:off x="6309360" y="0"/>
            <a:ext cx="5882335" cy="6858000"/>
          </a:xfrm>
          <a:prstGeom prst="rect">
            <a:avLst/>
          </a:prstGeom>
        </p:spPr>
      </p:pic>
      <p:sp>
        <p:nvSpPr>
          <p:cNvPr id="4" name="Text 0"/>
          <p:cNvSpPr txBox="1"/>
          <p:nvPr/>
        </p:nvSpPr>
        <p:spPr>
          <a:xfrm>
            <a:off x="10728655" y="65836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5" name="Text 1"/>
          <p:cNvSpPr txBox="1"/>
          <p:nvPr/>
        </p:nvSpPr>
        <p:spPr>
          <a:xfrm>
            <a:off x="640080" y="502920"/>
            <a:ext cx="5120640" cy="27432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ACT 1 ─ 憧れ　｜　P02</a:t>
            </a:r>
            <a:endParaRPr lang="en-US" sz="1100" dirty="0"/>
          </a:p>
        </p:txBody>
      </p:sp>
      <p:sp>
        <p:nvSpPr>
          <p:cNvPr id="6" name="Text 2"/>
          <p:cNvSpPr txBox="1"/>
          <p:nvPr/>
        </p:nvSpPr>
        <p:spPr>
          <a:xfrm>
            <a:off x="640080" y="868680"/>
            <a:ext cx="5303520" cy="1554480"/>
          </a:xfrm>
          <a:prstGeom prst="rect">
            <a:avLst/>
          </a:prstGeom>
          <a:noFill/>
          <a:ln/>
        </p:spPr>
        <p:txBody>
          <a:bodyPr wrap="square" lIns="0" tIns="0" rIns="0" bIns="0" rtlCol="0" anchor="t"/>
          <a:lstStyle/>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一人だからこそ、</a:t>
            </a:r>
            <a:endParaRPr lang="en-US" sz="3600" dirty="0"/>
          </a:p>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暮らしを自由に。</a:t>
            </a:r>
            <a:endParaRPr lang="en-US" sz="3600" dirty="0"/>
          </a:p>
        </p:txBody>
      </p:sp>
      <p:sp>
        <p:nvSpPr>
          <p:cNvPr id="7" name="Text 3"/>
          <p:cNvSpPr txBox="1"/>
          <p:nvPr/>
        </p:nvSpPr>
        <p:spPr>
          <a:xfrm>
            <a:off x="640080" y="2514600"/>
            <a:ext cx="5303520" cy="640080"/>
          </a:xfrm>
          <a:prstGeom prst="rect">
            <a:avLst/>
          </a:prstGeom>
          <a:noFill/>
          <a:ln/>
        </p:spPr>
        <p:txBody>
          <a:bodyPr wrap="square" lIns="0" tIns="0" rIns="0" bIns="0" rtlCol="0" anchor="t"/>
          <a:lstStyle/>
          <a:p>
            <a:pPr indent="0" marL="0">
              <a:buNone/>
            </a:pPr>
            <a:r>
              <a:rPr lang="en-US" sz="1500" dirty="0">
                <a:solidFill>
                  <a:srgbClr val="2B2F36"/>
                </a:solidFill>
                <a:latin typeface="Yu Gothic" pitchFamily="34" charset="0"/>
                <a:ea typeface="Yu Gothic" pitchFamily="34" charset="-122"/>
                <a:cs typeface="Yu Gothic" pitchFamily="34" charset="-120"/>
              </a:rPr>
              <a:t>誰かに合わせなくていい。家の使い方を、すべて自分で決められる。</a:t>
            </a:r>
            <a:endParaRPr lang="en-US" sz="1500" dirty="0"/>
          </a:p>
        </p:txBody>
      </p:sp>
      <p:sp>
        <p:nvSpPr>
          <p:cNvPr id="8" name="Shape 4"/>
          <p:cNvSpPr/>
          <p:nvPr/>
        </p:nvSpPr>
        <p:spPr>
          <a:xfrm>
            <a:off x="640080" y="3429000"/>
            <a:ext cx="640080" cy="640080"/>
          </a:xfrm>
          <a:prstGeom prst="ellipse">
            <a:avLst/>
          </a:prstGeom>
          <a:solidFill>
            <a:srgbClr val="17233B"/>
          </a:solidFill>
          <a:ln w="12700">
            <a:solidFill>
              <a:srgbClr val="17233B"/>
            </a:solidFill>
            <a:prstDash val="solid"/>
          </a:ln>
        </p:spPr>
      </p:sp>
      <p:pic>
        <p:nvPicPr>
          <p:cNvPr id="9" name="Image 1" descr="preencoded.png">    </p:cNvPr>
          <p:cNvPicPr>
            <a:picLocks noChangeAspect="1"/>
          </p:cNvPicPr>
          <p:nvPr/>
        </p:nvPicPr>
        <p:blipFill>
          <a:blip r:embed="rId2"/>
          <a:stretch>
            <a:fillRect/>
          </a:stretch>
        </p:blipFill>
        <p:spPr>
          <a:xfrm>
            <a:off x="800100" y="3589020"/>
            <a:ext cx="320040" cy="320040"/>
          </a:xfrm>
          <a:prstGeom prst="rect">
            <a:avLst/>
          </a:prstGeom>
        </p:spPr>
      </p:pic>
      <p:sp>
        <p:nvSpPr>
          <p:cNvPr id="10" name="Text 5"/>
          <p:cNvSpPr txBox="1"/>
          <p:nvPr/>
        </p:nvSpPr>
        <p:spPr>
          <a:xfrm>
            <a:off x="1508760" y="344728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趣味</a:t>
            </a:r>
            <a:endParaRPr lang="en-US" sz="1600" dirty="0"/>
          </a:p>
        </p:txBody>
      </p:sp>
      <p:sp>
        <p:nvSpPr>
          <p:cNvPr id="11" name="Text 6"/>
          <p:cNvSpPr txBox="1"/>
          <p:nvPr/>
        </p:nvSpPr>
        <p:spPr>
          <a:xfrm>
            <a:off x="1508760" y="375818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好きなものを、広げたままにできる部屋。</a:t>
            </a:r>
            <a:endParaRPr lang="en-US" sz="1400" dirty="0"/>
          </a:p>
        </p:txBody>
      </p:sp>
      <p:sp>
        <p:nvSpPr>
          <p:cNvPr id="12" name="Shape 7"/>
          <p:cNvSpPr/>
          <p:nvPr/>
        </p:nvSpPr>
        <p:spPr>
          <a:xfrm>
            <a:off x="640080" y="4297680"/>
            <a:ext cx="640080" cy="640080"/>
          </a:xfrm>
          <a:prstGeom prst="ellipse">
            <a:avLst/>
          </a:prstGeom>
          <a:solidFill>
            <a:srgbClr val="B89B6A"/>
          </a:solidFill>
          <a:ln w="12700">
            <a:solidFill>
              <a:srgbClr val="B89B6A"/>
            </a:solidFill>
            <a:prstDash val="solid"/>
          </a:ln>
        </p:spPr>
      </p:sp>
      <p:pic>
        <p:nvPicPr>
          <p:cNvPr id="13" name="Image 2" descr="preencoded.png">    </p:cNvPr>
          <p:cNvPicPr>
            <a:picLocks noChangeAspect="1"/>
          </p:cNvPicPr>
          <p:nvPr/>
        </p:nvPicPr>
        <p:blipFill>
          <a:blip r:embed="rId3"/>
          <a:stretch>
            <a:fillRect/>
          </a:stretch>
        </p:blipFill>
        <p:spPr>
          <a:xfrm>
            <a:off x="800100" y="4457700"/>
            <a:ext cx="320040" cy="320040"/>
          </a:xfrm>
          <a:prstGeom prst="rect">
            <a:avLst/>
          </a:prstGeom>
        </p:spPr>
      </p:pic>
      <p:sp>
        <p:nvSpPr>
          <p:cNvPr id="14" name="Text 8"/>
          <p:cNvSpPr txBox="1"/>
          <p:nvPr/>
        </p:nvSpPr>
        <p:spPr>
          <a:xfrm>
            <a:off x="1508760" y="431596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仕事</a:t>
            </a:r>
            <a:endParaRPr lang="en-US" sz="1600" dirty="0"/>
          </a:p>
        </p:txBody>
      </p:sp>
      <p:sp>
        <p:nvSpPr>
          <p:cNvPr id="15" name="Text 9"/>
          <p:cNvSpPr txBox="1"/>
          <p:nvPr/>
        </p:nvSpPr>
        <p:spPr>
          <a:xfrm>
            <a:off x="1508760" y="462686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生活と切り離して、集中できる書斎。</a:t>
            </a:r>
            <a:endParaRPr lang="en-US" sz="1400" dirty="0"/>
          </a:p>
        </p:txBody>
      </p:sp>
      <p:sp>
        <p:nvSpPr>
          <p:cNvPr id="16" name="Shape 10"/>
          <p:cNvSpPr/>
          <p:nvPr/>
        </p:nvSpPr>
        <p:spPr>
          <a:xfrm>
            <a:off x="640080" y="5166360"/>
            <a:ext cx="640080" cy="640080"/>
          </a:xfrm>
          <a:prstGeom prst="ellipse">
            <a:avLst/>
          </a:prstGeom>
          <a:solidFill>
            <a:srgbClr val="17233B"/>
          </a:solidFill>
          <a:ln w="12700">
            <a:solidFill>
              <a:srgbClr val="17233B"/>
            </a:solidFill>
            <a:prstDash val="solid"/>
          </a:ln>
        </p:spPr>
      </p:sp>
      <p:pic>
        <p:nvPicPr>
          <p:cNvPr id="17" name="Image 3" descr="preencoded.png">    </p:cNvPr>
          <p:cNvPicPr>
            <a:picLocks noChangeAspect="1"/>
          </p:cNvPicPr>
          <p:nvPr/>
        </p:nvPicPr>
        <p:blipFill>
          <a:blip r:embed="rId4"/>
          <a:stretch>
            <a:fillRect/>
          </a:stretch>
        </p:blipFill>
        <p:spPr>
          <a:xfrm>
            <a:off x="800100" y="5326380"/>
            <a:ext cx="320040" cy="320040"/>
          </a:xfrm>
          <a:prstGeom prst="rect">
            <a:avLst/>
          </a:prstGeom>
        </p:spPr>
      </p:pic>
      <p:sp>
        <p:nvSpPr>
          <p:cNvPr id="18" name="Text 11"/>
          <p:cNvSpPr txBox="1"/>
          <p:nvPr/>
        </p:nvSpPr>
        <p:spPr>
          <a:xfrm>
            <a:off x="1508760" y="518464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休日</a:t>
            </a:r>
            <a:endParaRPr lang="en-US" sz="1600" dirty="0"/>
          </a:p>
        </p:txBody>
      </p:sp>
      <p:sp>
        <p:nvSpPr>
          <p:cNvPr id="19" name="Text 12"/>
          <p:cNvSpPr txBox="1"/>
          <p:nvPr/>
        </p:nvSpPr>
        <p:spPr>
          <a:xfrm>
            <a:off x="1508760" y="549554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車の手入れ、庭でコーヒー、何もしない贅沢。</a:t>
            </a:r>
            <a:endParaRPr lang="en-US" sz="1400" dirty="0"/>
          </a:p>
        </p:txBody>
      </p:sp>
      <p:sp>
        <p:nvSpPr>
          <p:cNvPr id="20" name="Text 13"/>
          <p:cNvSpPr txBox="1"/>
          <p:nvPr/>
        </p:nvSpPr>
        <p:spPr>
          <a:xfrm>
            <a:off x="640080" y="6446520"/>
            <a:ext cx="4572000" cy="256032"/>
          </a:xfrm>
          <a:prstGeom prst="rect">
            <a:avLst/>
          </a:prstGeom>
          <a:noFill/>
          <a:ln/>
        </p:spPr>
        <p:txBody>
          <a:bodyPr wrap="square" lIns="0" tIns="0" rIns="0" bIns="0" rtlCol="0" anchor="t"/>
          <a:lstStyle/>
          <a:p>
            <a:pPr indent="0" marL="0">
              <a:buNone/>
            </a:pPr>
            <a:r>
              <a:rPr lang="en-US" sz="900" dirty="0">
                <a:solidFill>
                  <a:srgbClr val="6B7078"/>
                </a:solidFill>
                <a:latin typeface="Yu Gothic" pitchFamily="34" charset="0"/>
                <a:ea typeface="Yu Gothic" pitchFamily="34" charset="-122"/>
                <a:cs typeface="Yu Gothic" pitchFamily="34" charset="-120"/>
              </a:rPr>
              <a:t>株式会社ジャパンマネジメント</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もし、家のすべてが自分の空間だったら。</a:t>
            </a:r>
            <a:endParaRPr lang="en-US" sz="3000" dirty="0"/>
          </a:p>
        </p:txBody>
      </p:sp>
      <p:pic>
        <p:nvPicPr>
          <p:cNvPr id="5" name="Image 0" descr="/home/user/-/construction-portfolio/img/p26.jpg">    </p:cNvPr>
          <p:cNvPicPr>
            <a:picLocks noChangeAspect="1"/>
          </p:cNvPicPr>
          <p:nvPr/>
        </p:nvPicPr>
        <p:blipFill>
          <a:blip r:embed="rId1"/>
          <a:srcRect l="0" r="0" t="0" b="0"/>
          <a:stretch/>
        </p:blipFill>
        <p:spPr>
          <a:xfrm>
            <a:off x="640080" y="1600200"/>
            <a:ext cx="5669280" cy="4206240"/>
          </a:xfrm>
          <a:prstGeom prst="rect">
            <a:avLst/>
          </a:prstGeom>
        </p:spPr>
      </p:pic>
      <p:sp>
        <p:nvSpPr>
          <p:cNvPr id="6" name="Shape 2"/>
          <p:cNvSpPr/>
          <p:nvPr/>
        </p:nvSpPr>
        <p:spPr>
          <a:xfrm>
            <a:off x="822960" y="1783080"/>
            <a:ext cx="1188720" cy="365760"/>
          </a:xfrm>
          <a:prstGeom prst="roundRect">
            <a:avLst>
              <a:gd name="adj" fmla="val 15000"/>
            </a:avLst>
          </a:prstGeom>
          <a:solidFill>
            <a:srgbClr val="FFFFFF"/>
          </a:solidFill>
          <a:ln w="9525">
            <a:solidFill>
              <a:srgbClr val="FFFFFF"/>
            </a:solidFill>
            <a:prstDash val="solid"/>
          </a:ln>
        </p:spPr>
      </p:sp>
      <p:sp>
        <p:nvSpPr>
          <p:cNvPr id="7" name="Text 3"/>
          <p:cNvSpPr txBox="1"/>
          <p:nvPr/>
        </p:nvSpPr>
        <p:spPr>
          <a:xfrm>
            <a:off x="822960" y="1783080"/>
            <a:ext cx="1188720" cy="365760"/>
          </a:xfrm>
          <a:prstGeom prst="rect">
            <a:avLst/>
          </a:prstGeom>
          <a:noFill/>
          <a:ln/>
        </p:spPr>
        <p:txBody>
          <a:bodyPr wrap="square" lIns="0" tIns="0" rIns="0" bIns="0" rtlCol="0" anchor="ctr"/>
          <a:lstStyle/>
          <a:p>
            <a:pPr algn="ctr" indent="0" marL="0">
              <a:buNone/>
            </a:pPr>
            <a:r>
              <a:rPr lang="en-US" sz="1200" b="1" dirty="0">
                <a:solidFill>
                  <a:srgbClr val="17233B"/>
                </a:solidFill>
                <a:latin typeface="Yu Gothic" pitchFamily="34" charset="0"/>
                <a:ea typeface="Yu Gothic" pitchFamily="34" charset="-122"/>
                <a:cs typeface="Yu Gothic" pitchFamily="34" charset="-120"/>
              </a:rPr>
              <a:t>リビング</a:t>
            </a:r>
            <a:endParaRPr lang="en-US" sz="1200" dirty="0"/>
          </a:p>
        </p:txBody>
      </p:sp>
      <p:pic>
        <p:nvPicPr>
          <p:cNvPr id="8" name="Image 1" descr="/home/user/-/construction-portfolio/img/p03.jpg">    </p:cNvPr>
          <p:cNvPicPr>
            <a:picLocks noChangeAspect="1"/>
          </p:cNvPicPr>
          <p:nvPr/>
        </p:nvPicPr>
        <p:blipFill>
          <a:blip r:embed="rId2"/>
          <a:srcRect l="0" r="0" t="0" b="0"/>
          <a:stretch/>
        </p:blipFill>
        <p:spPr>
          <a:xfrm>
            <a:off x="6537960" y="1600200"/>
            <a:ext cx="2392528" cy="1988820"/>
          </a:xfrm>
          <a:prstGeom prst="rect">
            <a:avLst/>
          </a:prstGeom>
        </p:spPr>
      </p:pic>
      <p:sp>
        <p:nvSpPr>
          <p:cNvPr id="9" name="Shape 4"/>
          <p:cNvSpPr/>
          <p:nvPr/>
        </p:nvSpPr>
        <p:spPr>
          <a:xfrm>
            <a:off x="6675120" y="1737360"/>
            <a:ext cx="1682496" cy="347472"/>
          </a:xfrm>
          <a:prstGeom prst="roundRect">
            <a:avLst>
              <a:gd name="adj" fmla="val 15789"/>
            </a:avLst>
          </a:prstGeom>
          <a:solidFill>
            <a:srgbClr val="FFFFFF"/>
          </a:solidFill>
          <a:ln w="9525">
            <a:solidFill>
              <a:srgbClr val="FFFFFF"/>
            </a:solidFill>
            <a:prstDash val="solid"/>
          </a:ln>
        </p:spPr>
      </p:sp>
      <p:sp>
        <p:nvSpPr>
          <p:cNvPr id="10" name="Text 5"/>
          <p:cNvSpPr txBox="1"/>
          <p:nvPr/>
        </p:nvSpPr>
        <p:spPr>
          <a:xfrm>
            <a:off x="6675120" y="173736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書斎にできる個室</a:t>
            </a:r>
            <a:endParaRPr lang="en-US" sz="1100" dirty="0"/>
          </a:p>
        </p:txBody>
      </p:sp>
      <p:pic>
        <p:nvPicPr>
          <p:cNvPr id="11" name="Image 2" descr="/home/user/-/construction-portfolio/img/p05.jpg">    </p:cNvPr>
          <p:cNvPicPr>
            <a:picLocks noChangeAspect="1"/>
          </p:cNvPicPr>
          <p:nvPr/>
        </p:nvPicPr>
        <p:blipFill>
          <a:blip r:embed="rId3"/>
          <a:srcRect l="0" r="0" t="0" b="0"/>
          <a:stretch/>
        </p:blipFill>
        <p:spPr>
          <a:xfrm>
            <a:off x="9159088" y="1600200"/>
            <a:ext cx="2392528" cy="1988820"/>
          </a:xfrm>
          <a:prstGeom prst="rect">
            <a:avLst/>
          </a:prstGeom>
        </p:spPr>
      </p:pic>
      <p:sp>
        <p:nvSpPr>
          <p:cNvPr id="12" name="Shape 6"/>
          <p:cNvSpPr/>
          <p:nvPr/>
        </p:nvSpPr>
        <p:spPr>
          <a:xfrm>
            <a:off x="9296248" y="1737360"/>
            <a:ext cx="640080" cy="347472"/>
          </a:xfrm>
          <a:prstGeom prst="roundRect">
            <a:avLst>
              <a:gd name="adj" fmla="val 15789"/>
            </a:avLst>
          </a:prstGeom>
          <a:solidFill>
            <a:srgbClr val="FFFFFF"/>
          </a:solidFill>
          <a:ln w="9525">
            <a:solidFill>
              <a:srgbClr val="FFFFFF"/>
            </a:solidFill>
            <a:prstDash val="solid"/>
          </a:ln>
        </p:spPr>
      </p:sp>
      <p:sp>
        <p:nvSpPr>
          <p:cNvPr id="13" name="Text 7"/>
          <p:cNvSpPr txBox="1"/>
          <p:nvPr/>
        </p:nvSpPr>
        <p:spPr>
          <a:xfrm>
            <a:off x="9296248" y="1737360"/>
            <a:ext cx="640080"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収納</a:t>
            </a:r>
            <a:endParaRPr lang="en-US" sz="1100" dirty="0"/>
          </a:p>
        </p:txBody>
      </p:sp>
      <p:pic>
        <p:nvPicPr>
          <p:cNvPr id="14" name="Image 3" descr="/home/user/-/construction-portfolio/img/p16.jpg">    </p:cNvPr>
          <p:cNvPicPr>
            <a:picLocks noChangeAspect="1"/>
          </p:cNvPicPr>
          <p:nvPr/>
        </p:nvPicPr>
        <p:blipFill>
          <a:blip r:embed="rId4"/>
          <a:srcRect l="0" r="0" t="0" b="0"/>
          <a:stretch/>
        </p:blipFill>
        <p:spPr>
          <a:xfrm>
            <a:off x="6537960" y="3817620"/>
            <a:ext cx="2392528" cy="1988820"/>
          </a:xfrm>
          <a:prstGeom prst="rect">
            <a:avLst/>
          </a:prstGeom>
        </p:spPr>
      </p:pic>
      <p:sp>
        <p:nvSpPr>
          <p:cNvPr id="15" name="Shape 8"/>
          <p:cNvSpPr/>
          <p:nvPr/>
        </p:nvSpPr>
        <p:spPr>
          <a:xfrm>
            <a:off x="6675120" y="3954780"/>
            <a:ext cx="1335024" cy="347472"/>
          </a:xfrm>
          <a:prstGeom prst="roundRect">
            <a:avLst>
              <a:gd name="adj" fmla="val 15789"/>
            </a:avLst>
          </a:prstGeom>
          <a:solidFill>
            <a:srgbClr val="FFFFFF"/>
          </a:solidFill>
          <a:ln w="9525">
            <a:solidFill>
              <a:srgbClr val="FFFFFF"/>
            </a:solidFill>
            <a:prstDash val="solid"/>
          </a:ln>
        </p:spPr>
      </p:sp>
      <p:sp>
        <p:nvSpPr>
          <p:cNvPr id="16" name="Text 9"/>
          <p:cNvSpPr txBox="1"/>
          <p:nvPr/>
        </p:nvSpPr>
        <p:spPr>
          <a:xfrm>
            <a:off x="6675120" y="3954780"/>
            <a:ext cx="1335024"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外まわり・庭</a:t>
            </a:r>
            <a:endParaRPr lang="en-US" sz="1100" dirty="0"/>
          </a:p>
        </p:txBody>
      </p:sp>
      <p:pic>
        <p:nvPicPr>
          <p:cNvPr id="17" name="Image 4" descr="/home/user/-/construction-portfolio/img/p01.jpg">    </p:cNvPr>
          <p:cNvPicPr>
            <a:picLocks noChangeAspect="1"/>
          </p:cNvPicPr>
          <p:nvPr/>
        </p:nvPicPr>
        <p:blipFill>
          <a:blip r:embed="rId5"/>
          <a:srcRect l="0" r="0" t="0" b="0"/>
          <a:stretch/>
        </p:blipFill>
        <p:spPr>
          <a:xfrm>
            <a:off x="9159088" y="3817620"/>
            <a:ext cx="2392528" cy="1988820"/>
          </a:xfrm>
          <a:prstGeom prst="rect">
            <a:avLst/>
          </a:prstGeom>
        </p:spPr>
      </p:pic>
      <p:sp>
        <p:nvSpPr>
          <p:cNvPr id="18" name="Shape 10"/>
          <p:cNvSpPr/>
          <p:nvPr/>
        </p:nvSpPr>
        <p:spPr>
          <a:xfrm>
            <a:off x="9296248" y="3954780"/>
            <a:ext cx="1682496" cy="347472"/>
          </a:xfrm>
          <a:prstGeom prst="roundRect">
            <a:avLst>
              <a:gd name="adj" fmla="val 15789"/>
            </a:avLst>
          </a:prstGeom>
          <a:solidFill>
            <a:srgbClr val="FFFFFF"/>
          </a:solidFill>
          <a:ln w="9525">
            <a:solidFill>
              <a:srgbClr val="FFFFFF"/>
            </a:solidFill>
            <a:prstDash val="solid"/>
          </a:ln>
        </p:spPr>
      </p:sp>
      <p:sp>
        <p:nvSpPr>
          <p:cNvPr id="19" name="Text 11"/>
          <p:cNvSpPr txBox="1"/>
          <p:nvPr/>
        </p:nvSpPr>
        <p:spPr>
          <a:xfrm>
            <a:off x="9296248" y="395478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ガレージ・駐車場</a:t>
            </a:r>
            <a:endParaRPr lang="en-US" sz="1100" dirty="0"/>
          </a:p>
        </p:txBody>
      </p:sp>
      <p:sp>
        <p:nvSpPr>
          <p:cNvPr id="20" name="Text 1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写真はすべてイメージ写真です。試算に用いた物件・ご提案物件の写真ではありません。実現できる空間は物件によって異なります。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10年後、どんな場所で暮らしていたいですか。</a:t>
            </a:r>
            <a:endParaRPr lang="en-US" sz="3000" dirty="0"/>
          </a:p>
        </p:txBody>
      </p:sp>
      <p:sp>
        <p:nvSpPr>
          <p:cNvPr id="5" name="Text 2"/>
          <p:cNvSpPr txBox="1"/>
          <p:nvPr/>
        </p:nvSpPr>
        <p:spPr>
          <a:xfrm>
            <a:off x="640080" y="1600200"/>
            <a:ext cx="3840480" cy="822960"/>
          </a:xfrm>
          <a:prstGeom prst="rect">
            <a:avLst/>
          </a:prstGeom>
          <a:noFill/>
          <a:ln/>
        </p:spPr>
        <p:txBody>
          <a:bodyPr wrap="square" lIns="0" tIns="0" rIns="0" bIns="0" rtlCol="0" anchor="t"/>
          <a:lstStyle/>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答えに正解はありません。</a:t>
            </a:r>
            <a:endParaRPr lang="en-US" sz="1500" dirty="0"/>
          </a:p>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思いつくまま、ここに書き込んでください。</a:t>
            </a:r>
            <a:endParaRPr lang="en-US" sz="1500" dirty="0"/>
          </a:p>
        </p:txBody>
      </p:sp>
      <p:pic>
        <p:nvPicPr>
          <p:cNvPr id="6" name="Image 0" descr="preencoded.png">    </p:cNvPr>
          <p:cNvPicPr>
            <a:picLocks noChangeAspect="1"/>
          </p:cNvPicPr>
          <p:nvPr/>
        </p:nvPicPr>
        <p:blipFill>
          <a:blip r:embed="rId1"/>
          <a:stretch>
            <a:fillRect/>
          </a:stretch>
        </p:blipFill>
        <p:spPr>
          <a:xfrm>
            <a:off x="640080" y="2651760"/>
            <a:ext cx="548640" cy="548640"/>
          </a:xfrm>
          <a:prstGeom prst="rect">
            <a:avLst/>
          </a:prstGeom>
        </p:spPr>
      </p:pic>
      <p:sp>
        <p:nvSpPr>
          <p:cNvPr id="7" name="Text 3"/>
          <p:cNvSpPr txBox="1"/>
          <p:nvPr/>
        </p:nvSpPr>
        <p:spPr>
          <a:xfrm>
            <a:off x="640080" y="3383280"/>
            <a:ext cx="3840480" cy="731520"/>
          </a:xfrm>
          <a:prstGeom prst="rect">
            <a:avLst/>
          </a:prstGeom>
          <a:noFill/>
          <a:ln/>
        </p:spPr>
        <p:txBody>
          <a:bodyPr wrap="square" lIns="0" tIns="0" rIns="0" bIns="0" rtlCol="0" anchor="t"/>
          <a:lstStyle/>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書いた言葉は、後のページで</a:t>
            </a:r>
            <a:endParaRPr lang="en-US" sz="1300" dirty="0"/>
          </a:p>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物件の条件に置き換えていきます。</a:t>
            </a:r>
            <a:endParaRPr lang="en-US" sz="1300" dirty="0"/>
          </a:p>
        </p:txBody>
      </p:sp>
      <p:sp>
        <p:nvSpPr>
          <p:cNvPr id="8" name="Shape 4"/>
          <p:cNvSpPr/>
          <p:nvPr/>
        </p:nvSpPr>
        <p:spPr>
          <a:xfrm>
            <a:off x="4846320" y="1600200"/>
            <a:ext cx="3215488" cy="2057400"/>
          </a:xfrm>
          <a:prstGeom prst="roundRect">
            <a:avLst>
              <a:gd name="adj" fmla="val 2667"/>
            </a:avLst>
          </a:prstGeom>
          <a:solidFill>
            <a:srgbClr val="FFFFFF"/>
          </a:solidFill>
          <a:ln w="9525">
            <a:solidFill>
              <a:srgbClr val="DDE0E5"/>
            </a:solidFill>
            <a:prstDash val="solid"/>
          </a:ln>
        </p:spPr>
      </p:sp>
      <p:sp>
        <p:nvSpPr>
          <p:cNvPr id="9" name="Text 5"/>
          <p:cNvSpPr txBox="1"/>
          <p:nvPr/>
        </p:nvSpPr>
        <p:spPr>
          <a:xfrm>
            <a:off x="5120640"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10" name="Text 6"/>
          <p:cNvSpPr txBox="1"/>
          <p:nvPr/>
        </p:nvSpPr>
        <p:spPr>
          <a:xfrm>
            <a:off x="5532120"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住んでいたい街・場所</a:t>
            </a:r>
            <a:endParaRPr lang="en-US" sz="1500" dirty="0"/>
          </a:p>
        </p:txBody>
      </p:sp>
      <p:sp>
        <p:nvSpPr>
          <p:cNvPr id="11" name="Shape 7"/>
          <p:cNvSpPr/>
          <p:nvPr/>
        </p:nvSpPr>
        <p:spPr>
          <a:xfrm>
            <a:off x="5120640" y="2560320"/>
            <a:ext cx="2666848" cy="0"/>
          </a:xfrm>
          <a:prstGeom prst="line">
            <a:avLst/>
          </a:prstGeom>
          <a:noFill/>
          <a:ln w="9525">
            <a:solidFill>
              <a:srgbClr val="C9CED6"/>
            </a:solidFill>
            <a:prstDash val="dash"/>
          </a:ln>
        </p:spPr>
      </p:sp>
      <p:sp>
        <p:nvSpPr>
          <p:cNvPr id="12" name="Shape 8"/>
          <p:cNvSpPr/>
          <p:nvPr/>
        </p:nvSpPr>
        <p:spPr>
          <a:xfrm>
            <a:off x="5120640" y="2926080"/>
            <a:ext cx="2666848" cy="0"/>
          </a:xfrm>
          <a:prstGeom prst="line">
            <a:avLst/>
          </a:prstGeom>
          <a:noFill/>
          <a:ln w="9525">
            <a:solidFill>
              <a:srgbClr val="C9CED6"/>
            </a:solidFill>
            <a:prstDash val="dash"/>
          </a:ln>
        </p:spPr>
      </p:sp>
      <p:sp>
        <p:nvSpPr>
          <p:cNvPr id="13" name="Shape 9"/>
          <p:cNvSpPr/>
          <p:nvPr/>
        </p:nvSpPr>
        <p:spPr>
          <a:xfrm>
            <a:off x="5120640" y="3291840"/>
            <a:ext cx="2666848" cy="0"/>
          </a:xfrm>
          <a:prstGeom prst="line">
            <a:avLst/>
          </a:prstGeom>
          <a:noFill/>
          <a:ln w="9525">
            <a:solidFill>
              <a:srgbClr val="C9CED6"/>
            </a:solidFill>
            <a:prstDash val="dash"/>
          </a:ln>
        </p:spPr>
      </p:sp>
      <p:sp>
        <p:nvSpPr>
          <p:cNvPr id="14" name="Shape 10"/>
          <p:cNvSpPr/>
          <p:nvPr/>
        </p:nvSpPr>
        <p:spPr>
          <a:xfrm>
            <a:off x="8336128" y="1600200"/>
            <a:ext cx="3215488" cy="2057400"/>
          </a:xfrm>
          <a:prstGeom prst="roundRect">
            <a:avLst>
              <a:gd name="adj" fmla="val 2667"/>
            </a:avLst>
          </a:prstGeom>
          <a:solidFill>
            <a:srgbClr val="FFFFFF"/>
          </a:solidFill>
          <a:ln w="9525">
            <a:solidFill>
              <a:srgbClr val="DDE0E5"/>
            </a:solidFill>
            <a:prstDash val="solid"/>
          </a:ln>
        </p:spPr>
      </p:sp>
      <p:sp>
        <p:nvSpPr>
          <p:cNvPr id="15" name="Text 11"/>
          <p:cNvSpPr txBox="1"/>
          <p:nvPr/>
        </p:nvSpPr>
        <p:spPr>
          <a:xfrm>
            <a:off x="8610448"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6" name="Text 12"/>
          <p:cNvSpPr txBox="1"/>
          <p:nvPr/>
        </p:nvSpPr>
        <p:spPr>
          <a:xfrm>
            <a:off x="9021928"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家で過ごしたい時間</a:t>
            </a:r>
            <a:endParaRPr lang="en-US" sz="1500" dirty="0"/>
          </a:p>
        </p:txBody>
      </p:sp>
      <p:sp>
        <p:nvSpPr>
          <p:cNvPr id="17" name="Shape 13"/>
          <p:cNvSpPr/>
          <p:nvPr/>
        </p:nvSpPr>
        <p:spPr>
          <a:xfrm>
            <a:off x="8610448" y="2560320"/>
            <a:ext cx="2666848" cy="0"/>
          </a:xfrm>
          <a:prstGeom prst="line">
            <a:avLst/>
          </a:prstGeom>
          <a:noFill/>
          <a:ln w="9525">
            <a:solidFill>
              <a:srgbClr val="C9CED6"/>
            </a:solidFill>
            <a:prstDash val="dash"/>
          </a:ln>
        </p:spPr>
      </p:sp>
      <p:sp>
        <p:nvSpPr>
          <p:cNvPr id="18" name="Shape 14"/>
          <p:cNvSpPr/>
          <p:nvPr/>
        </p:nvSpPr>
        <p:spPr>
          <a:xfrm>
            <a:off x="8610448" y="2926080"/>
            <a:ext cx="2666848" cy="0"/>
          </a:xfrm>
          <a:prstGeom prst="line">
            <a:avLst/>
          </a:prstGeom>
          <a:noFill/>
          <a:ln w="9525">
            <a:solidFill>
              <a:srgbClr val="C9CED6"/>
            </a:solidFill>
            <a:prstDash val="dash"/>
          </a:ln>
        </p:spPr>
      </p:sp>
      <p:sp>
        <p:nvSpPr>
          <p:cNvPr id="19" name="Shape 15"/>
          <p:cNvSpPr/>
          <p:nvPr/>
        </p:nvSpPr>
        <p:spPr>
          <a:xfrm>
            <a:off x="8610448" y="3291840"/>
            <a:ext cx="2666848" cy="0"/>
          </a:xfrm>
          <a:prstGeom prst="line">
            <a:avLst/>
          </a:prstGeom>
          <a:noFill/>
          <a:ln w="9525">
            <a:solidFill>
              <a:srgbClr val="C9CED6"/>
            </a:solidFill>
            <a:prstDash val="dash"/>
          </a:ln>
        </p:spPr>
      </p:sp>
      <p:sp>
        <p:nvSpPr>
          <p:cNvPr id="20" name="Shape 16"/>
          <p:cNvSpPr/>
          <p:nvPr/>
        </p:nvSpPr>
        <p:spPr>
          <a:xfrm>
            <a:off x="4846320" y="3931920"/>
            <a:ext cx="3215488" cy="2057400"/>
          </a:xfrm>
          <a:prstGeom prst="roundRect">
            <a:avLst>
              <a:gd name="adj" fmla="val 2667"/>
            </a:avLst>
          </a:prstGeom>
          <a:solidFill>
            <a:srgbClr val="FFFFFF"/>
          </a:solidFill>
          <a:ln w="9525">
            <a:solidFill>
              <a:srgbClr val="DDE0E5"/>
            </a:solidFill>
            <a:prstDash val="solid"/>
          </a:ln>
        </p:spPr>
      </p:sp>
      <p:sp>
        <p:nvSpPr>
          <p:cNvPr id="21" name="Text 17"/>
          <p:cNvSpPr txBox="1"/>
          <p:nvPr/>
        </p:nvSpPr>
        <p:spPr>
          <a:xfrm>
            <a:off x="5120640"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2" name="Text 18"/>
          <p:cNvSpPr txBox="1"/>
          <p:nvPr/>
        </p:nvSpPr>
        <p:spPr>
          <a:xfrm>
            <a:off x="5532120"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家に欲しい空間</a:t>
            </a:r>
            <a:endParaRPr lang="en-US" sz="1500" dirty="0"/>
          </a:p>
        </p:txBody>
      </p:sp>
      <p:sp>
        <p:nvSpPr>
          <p:cNvPr id="23" name="Shape 19"/>
          <p:cNvSpPr/>
          <p:nvPr/>
        </p:nvSpPr>
        <p:spPr>
          <a:xfrm>
            <a:off x="5120640" y="4892040"/>
            <a:ext cx="2666848" cy="0"/>
          </a:xfrm>
          <a:prstGeom prst="line">
            <a:avLst/>
          </a:prstGeom>
          <a:noFill/>
          <a:ln w="9525">
            <a:solidFill>
              <a:srgbClr val="C9CED6"/>
            </a:solidFill>
            <a:prstDash val="dash"/>
          </a:ln>
        </p:spPr>
      </p:sp>
      <p:sp>
        <p:nvSpPr>
          <p:cNvPr id="24" name="Shape 20"/>
          <p:cNvSpPr/>
          <p:nvPr/>
        </p:nvSpPr>
        <p:spPr>
          <a:xfrm>
            <a:off x="5120640" y="5257800"/>
            <a:ext cx="2666848" cy="0"/>
          </a:xfrm>
          <a:prstGeom prst="line">
            <a:avLst/>
          </a:prstGeom>
          <a:noFill/>
          <a:ln w="9525">
            <a:solidFill>
              <a:srgbClr val="C9CED6"/>
            </a:solidFill>
            <a:prstDash val="dash"/>
          </a:ln>
        </p:spPr>
      </p:sp>
      <p:sp>
        <p:nvSpPr>
          <p:cNvPr id="25" name="Shape 21"/>
          <p:cNvSpPr/>
          <p:nvPr/>
        </p:nvSpPr>
        <p:spPr>
          <a:xfrm>
            <a:off x="5120640" y="5623560"/>
            <a:ext cx="2666848" cy="0"/>
          </a:xfrm>
          <a:prstGeom prst="line">
            <a:avLst/>
          </a:prstGeom>
          <a:noFill/>
          <a:ln w="9525">
            <a:solidFill>
              <a:srgbClr val="C9CED6"/>
            </a:solidFill>
            <a:prstDash val="dash"/>
          </a:ln>
        </p:spPr>
      </p:sp>
      <p:sp>
        <p:nvSpPr>
          <p:cNvPr id="26" name="Shape 22"/>
          <p:cNvSpPr/>
          <p:nvPr/>
        </p:nvSpPr>
        <p:spPr>
          <a:xfrm>
            <a:off x="8336128" y="3931920"/>
            <a:ext cx="3215488" cy="2057400"/>
          </a:xfrm>
          <a:prstGeom prst="roundRect">
            <a:avLst>
              <a:gd name="adj" fmla="val 2667"/>
            </a:avLst>
          </a:prstGeom>
          <a:solidFill>
            <a:srgbClr val="FFFFFF"/>
          </a:solidFill>
          <a:ln w="9525">
            <a:solidFill>
              <a:srgbClr val="DDE0E5"/>
            </a:solidFill>
            <a:prstDash val="solid"/>
          </a:ln>
        </p:spPr>
      </p:sp>
      <p:sp>
        <p:nvSpPr>
          <p:cNvPr id="27" name="Text 23"/>
          <p:cNvSpPr txBox="1"/>
          <p:nvPr/>
        </p:nvSpPr>
        <p:spPr>
          <a:xfrm>
            <a:off x="8610448"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04</a:t>
            </a:r>
            <a:endParaRPr lang="en-US" sz="1400" dirty="0"/>
          </a:p>
        </p:txBody>
      </p:sp>
      <p:sp>
        <p:nvSpPr>
          <p:cNvPr id="28" name="Text 24"/>
          <p:cNvSpPr txBox="1"/>
          <p:nvPr/>
        </p:nvSpPr>
        <p:spPr>
          <a:xfrm>
            <a:off x="9021928"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大切にしたいもの</a:t>
            </a:r>
            <a:endParaRPr lang="en-US" sz="1500" dirty="0"/>
          </a:p>
        </p:txBody>
      </p:sp>
      <p:sp>
        <p:nvSpPr>
          <p:cNvPr id="29" name="Shape 25"/>
          <p:cNvSpPr/>
          <p:nvPr/>
        </p:nvSpPr>
        <p:spPr>
          <a:xfrm>
            <a:off x="8610448" y="4892040"/>
            <a:ext cx="2666848" cy="0"/>
          </a:xfrm>
          <a:prstGeom prst="line">
            <a:avLst/>
          </a:prstGeom>
          <a:noFill/>
          <a:ln w="9525">
            <a:solidFill>
              <a:srgbClr val="C9CED6"/>
            </a:solidFill>
            <a:prstDash val="dash"/>
          </a:ln>
        </p:spPr>
      </p:sp>
      <p:sp>
        <p:nvSpPr>
          <p:cNvPr id="30" name="Shape 26"/>
          <p:cNvSpPr/>
          <p:nvPr/>
        </p:nvSpPr>
        <p:spPr>
          <a:xfrm>
            <a:off x="8610448" y="5257800"/>
            <a:ext cx="2666848" cy="0"/>
          </a:xfrm>
          <a:prstGeom prst="line">
            <a:avLst/>
          </a:prstGeom>
          <a:noFill/>
          <a:ln w="9525">
            <a:solidFill>
              <a:srgbClr val="C9CED6"/>
            </a:solidFill>
            <a:prstDash val="dash"/>
          </a:ln>
        </p:spPr>
      </p:sp>
      <p:sp>
        <p:nvSpPr>
          <p:cNvPr id="31" name="Shape 27"/>
          <p:cNvSpPr/>
          <p:nvPr/>
        </p:nvSpPr>
        <p:spPr>
          <a:xfrm>
            <a:off x="8610448" y="5623560"/>
            <a:ext cx="2666848" cy="0"/>
          </a:xfrm>
          <a:prstGeom prst="line">
            <a:avLst/>
          </a:prstGeom>
          <a:noFill/>
          <a:ln w="9525">
            <a:solidFill>
              <a:srgbClr val="C9CED6"/>
            </a:solidFill>
            <a:prstDash val="dash"/>
          </a:ln>
        </p:spPr>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住まいは、金融資産とは違う。</a:t>
            </a:r>
            <a:endParaRPr lang="en-US" sz="3000" dirty="0"/>
          </a:p>
        </p:txBody>
      </p:sp>
      <p:sp>
        <p:nvSpPr>
          <p:cNvPr id="5" name="Shape 2"/>
          <p:cNvSpPr/>
          <p:nvPr/>
        </p:nvSpPr>
        <p:spPr>
          <a:xfrm>
            <a:off x="640080" y="1691640"/>
            <a:ext cx="4754880" cy="3931920"/>
          </a:xfrm>
          <a:prstGeom prst="roundRect">
            <a:avLst>
              <a:gd name="adj" fmla="val 1395"/>
            </a:avLst>
          </a:prstGeom>
          <a:solidFill>
            <a:srgbClr val="EEF0F3"/>
          </a:solidFill>
          <a:ln w="9525">
            <a:solidFill>
              <a:srgbClr val="EEF0F3"/>
            </a:solidFill>
            <a:prstDash val="solid"/>
          </a:ln>
        </p:spPr>
      </p:sp>
      <p:sp>
        <p:nvSpPr>
          <p:cNvPr id="6" name="Text 3"/>
          <p:cNvSpPr txBox="1"/>
          <p:nvPr/>
        </p:nvSpPr>
        <p:spPr>
          <a:xfrm>
            <a:off x="1005840" y="1965960"/>
            <a:ext cx="4023360" cy="411480"/>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株式・投資信託</a:t>
            </a:r>
            <a:endParaRPr lang="en-US" sz="2000" dirty="0"/>
          </a:p>
        </p:txBody>
      </p:sp>
      <p:sp>
        <p:nvSpPr>
          <p:cNvPr id="7" name="Text 4"/>
          <p:cNvSpPr txBox="1"/>
          <p:nvPr/>
        </p:nvSpPr>
        <p:spPr>
          <a:xfrm>
            <a:off x="1005840" y="2404872"/>
            <a:ext cx="4023360"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NISA口座などで保有</a:t>
            </a:r>
            <a:endParaRPr lang="en-US" sz="1200" dirty="0"/>
          </a:p>
        </p:txBody>
      </p:sp>
      <p:sp>
        <p:nvSpPr>
          <p:cNvPr id="8" name="Shape 5"/>
          <p:cNvSpPr/>
          <p:nvPr/>
        </p:nvSpPr>
        <p:spPr>
          <a:xfrm>
            <a:off x="1005840" y="2880360"/>
            <a:ext cx="4023360" cy="0"/>
          </a:xfrm>
          <a:prstGeom prst="line">
            <a:avLst/>
          </a:prstGeom>
          <a:noFill/>
          <a:ln w="9525">
            <a:solidFill>
              <a:srgbClr val="DDE0E5"/>
            </a:solidFill>
            <a:prstDash val="solid"/>
          </a:ln>
        </p:spPr>
      </p:sp>
      <p:sp>
        <p:nvSpPr>
          <p:cNvPr id="9" name="Text 6"/>
          <p:cNvSpPr txBox="1"/>
          <p:nvPr/>
        </p:nvSpPr>
        <p:spPr>
          <a:xfrm>
            <a:off x="1005840" y="297180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目的</a:t>
            </a:r>
            <a:endParaRPr lang="en-US" sz="1300" dirty="0"/>
          </a:p>
        </p:txBody>
      </p:sp>
      <p:sp>
        <p:nvSpPr>
          <p:cNvPr id="10" name="Text 7"/>
          <p:cNvSpPr txBox="1"/>
          <p:nvPr/>
        </p:nvSpPr>
        <p:spPr>
          <a:xfrm>
            <a:off x="2057400" y="297180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増やす・備える</a:t>
            </a:r>
            <a:endParaRPr lang="en-US" sz="1500" dirty="0"/>
          </a:p>
        </p:txBody>
      </p:sp>
      <p:sp>
        <p:nvSpPr>
          <p:cNvPr id="11" name="Shape 8"/>
          <p:cNvSpPr/>
          <p:nvPr/>
        </p:nvSpPr>
        <p:spPr>
          <a:xfrm>
            <a:off x="1005840" y="3520440"/>
            <a:ext cx="4023360" cy="0"/>
          </a:xfrm>
          <a:prstGeom prst="line">
            <a:avLst/>
          </a:prstGeom>
          <a:noFill/>
          <a:ln w="9525">
            <a:solidFill>
              <a:srgbClr val="DDE0E5"/>
            </a:solidFill>
            <a:prstDash val="solid"/>
          </a:ln>
        </p:spPr>
      </p:sp>
      <p:sp>
        <p:nvSpPr>
          <p:cNvPr id="12" name="Text 9"/>
          <p:cNvSpPr txBox="1"/>
          <p:nvPr/>
        </p:nvSpPr>
        <p:spPr>
          <a:xfrm>
            <a:off x="1005840" y="361188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使い方</a:t>
            </a:r>
            <a:endParaRPr lang="en-US" sz="1300" dirty="0"/>
          </a:p>
        </p:txBody>
      </p:sp>
      <p:sp>
        <p:nvSpPr>
          <p:cNvPr id="13" name="Text 10"/>
          <p:cNvSpPr txBox="1"/>
          <p:nvPr/>
        </p:nvSpPr>
        <p:spPr>
          <a:xfrm>
            <a:off x="2057400" y="361188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持っているだけ</a:t>
            </a:r>
            <a:endParaRPr lang="en-US" sz="1500" dirty="0"/>
          </a:p>
        </p:txBody>
      </p:sp>
      <p:sp>
        <p:nvSpPr>
          <p:cNvPr id="14" name="Shape 11"/>
          <p:cNvSpPr/>
          <p:nvPr/>
        </p:nvSpPr>
        <p:spPr>
          <a:xfrm>
            <a:off x="1005840" y="4160520"/>
            <a:ext cx="4023360" cy="0"/>
          </a:xfrm>
          <a:prstGeom prst="line">
            <a:avLst/>
          </a:prstGeom>
          <a:noFill/>
          <a:ln w="9525">
            <a:solidFill>
              <a:srgbClr val="DDE0E5"/>
            </a:solidFill>
            <a:prstDash val="solid"/>
          </a:ln>
        </p:spPr>
      </p:sp>
      <p:sp>
        <p:nvSpPr>
          <p:cNvPr id="15" name="Text 12"/>
          <p:cNvSpPr txBox="1"/>
          <p:nvPr/>
        </p:nvSpPr>
        <p:spPr>
          <a:xfrm>
            <a:off x="1005840" y="425196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現金化</a:t>
            </a:r>
            <a:endParaRPr lang="en-US" sz="1300" dirty="0"/>
          </a:p>
        </p:txBody>
      </p:sp>
      <p:sp>
        <p:nvSpPr>
          <p:cNvPr id="16" name="Text 13"/>
          <p:cNvSpPr txBox="1"/>
          <p:nvPr/>
        </p:nvSpPr>
        <p:spPr>
          <a:xfrm>
            <a:off x="2057400" y="425196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比較的すぐ（価格は変動）</a:t>
            </a:r>
            <a:endParaRPr lang="en-US" sz="1500" dirty="0"/>
          </a:p>
        </p:txBody>
      </p:sp>
      <p:sp>
        <p:nvSpPr>
          <p:cNvPr id="17" name="Shape 14"/>
          <p:cNvSpPr/>
          <p:nvPr/>
        </p:nvSpPr>
        <p:spPr>
          <a:xfrm>
            <a:off x="1005840" y="4800600"/>
            <a:ext cx="4023360" cy="0"/>
          </a:xfrm>
          <a:prstGeom prst="line">
            <a:avLst/>
          </a:prstGeom>
          <a:noFill/>
          <a:ln w="9525">
            <a:solidFill>
              <a:srgbClr val="DDE0E5"/>
            </a:solidFill>
            <a:prstDash val="solid"/>
          </a:ln>
        </p:spPr>
      </p:sp>
      <p:sp>
        <p:nvSpPr>
          <p:cNvPr id="18" name="Text 15"/>
          <p:cNvSpPr txBox="1"/>
          <p:nvPr/>
        </p:nvSpPr>
        <p:spPr>
          <a:xfrm>
            <a:off x="1005840" y="489204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維持</a:t>
            </a:r>
            <a:endParaRPr lang="en-US" sz="1300" dirty="0"/>
          </a:p>
        </p:txBody>
      </p:sp>
      <p:sp>
        <p:nvSpPr>
          <p:cNvPr id="19" name="Text 16"/>
          <p:cNvSpPr txBox="1"/>
          <p:nvPr/>
        </p:nvSpPr>
        <p:spPr>
          <a:xfrm>
            <a:off x="2057400" y="489204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ほぼ不要（保有コストは少額）</a:t>
            </a:r>
            <a:endParaRPr lang="en-US" sz="1500" dirty="0"/>
          </a:p>
        </p:txBody>
      </p:sp>
      <p:sp>
        <p:nvSpPr>
          <p:cNvPr id="20" name="Shape 17"/>
          <p:cNvSpPr/>
          <p:nvPr/>
        </p:nvSpPr>
        <p:spPr>
          <a:xfrm>
            <a:off x="6796735" y="1691640"/>
            <a:ext cx="4754880" cy="3931920"/>
          </a:xfrm>
          <a:prstGeom prst="roundRect">
            <a:avLst>
              <a:gd name="adj" fmla="val 1395"/>
            </a:avLst>
          </a:prstGeom>
          <a:solidFill>
            <a:srgbClr val="17233B"/>
          </a:solidFill>
          <a:ln w="9525">
            <a:solidFill>
              <a:srgbClr val="17233B"/>
            </a:solidFill>
            <a:prstDash val="solid"/>
          </a:ln>
        </p:spPr>
      </p:sp>
      <p:sp>
        <p:nvSpPr>
          <p:cNvPr id="21" name="Text 18"/>
          <p:cNvSpPr txBox="1"/>
          <p:nvPr/>
        </p:nvSpPr>
        <p:spPr>
          <a:xfrm>
            <a:off x="7162495" y="1965960"/>
            <a:ext cx="4023360" cy="411480"/>
          </a:xfrm>
          <a:prstGeom prst="rect">
            <a:avLst/>
          </a:prstGeom>
          <a:noFill/>
          <a:ln/>
        </p:spPr>
        <p:txBody>
          <a:bodyPr wrap="square" lIns="0" tIns="0" rIns="0" bIns="0" rtlCol="0" anchor="t"/>
          <a:lstStyle/>
          <a:p>
            <a:pPr indent="0" marL="0">
              <a:buNone/>
            </a:pPr>
            <a:r>
              <a:rPr lang="en-US" sz="2000" b="1" dirty="0">
                <a:solidFill>
                  <a:srgbClr val="FFFFFF"/>
                </a:solidFill>
                <a:latin typeface="Yu Mincho" pitchFamily="34" charset="0"/>
                <a:ea typeface="Yu Mincho" pitchFamily="34" charset="-122"/>
                <a:cs typeface="Yu Mincho" pitchFamily="34" charset="-120"/>
              </a:rPr>
              <a:t>自宅（土地付き戸建て）</a:t>
            </a:r>
            <a:endParaRPr lang="en-US" sz="2000" dirty="0"/>
          </a:p>
        </p:txBody>
      </p:sp>
      <p:sp>
        <p:nvSpPr>
          <p:cNvPr id="22" name="Text 19"/>
          <p:cNvSpPr txBox="1"/>
          <p:nvPr/>
        </p:nvSpPr>
        <p:spPr>
          <a:xfrm>
            <a:off x="7162495" y="2404872"/>
            <a:ext cx="4023360"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住みながら使える実物資産</a:t>
            </a:r>
            <a:endParaRPr lang="en-US" sz="1200" dirty="0"/>
          </a:p>
        </p:txBody>
      </p:sp>
      <p:sp>
        <p:nvSpPr>
          <p:cNvPr id="23" name="Shape 20"/>
          <p:cNvSpPr/>
          <p:nvPr/>
        </p:nvSpPr>
        <p:spPr>
          <a:xfrm>
            <a:off x="7162495" y="2880360"/>
            <a:ext cx="4023360" cy="0"/>
          </a:xfrm>
          <a:prstGeom prst="line">
            <a:avLst/>
          </a:prstGeom>
          <a:noFill/>
          <a:ln w="9525">
            <a:solidFill>
              <a:srgbClr val="26375A"/>
            </a:solidFill>
            <a:prstDash val="solid"/>
          </a:ln>
        </p:spPr>
      </p:sp>
      <p:sp>
        <p:nvSpPr>
          <p:cNvPr id="24" name="Text 21"/>
          <p:cNvSpPr txBox="1"/>
          <p:nvPr/>
        </p:nvSpPr>
        <p:spPr>
          <a:xfrm>
            <a:off x="7162495" y="297180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目的</a:t>
            </a:r>
            <a:endParaRPr lang="en-US" sz="1300" dirty="0"/>
          </a:p>
        </p:txBody>
      </p:sp>
      <p:sp>
        <p:nvSpPr>
          <p:cNvPr id="25" name="Text 22"/>
          <p:cNvSpPr txBox="1"/>
          <p:nvPr/>
        </p:nvSpPr>
        <p:spPr>
          <a:xfrm>
            <a:off x="8214055" y="297180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住む・使う</a:t>
            </a:r>
            <a:endParaRPr lang="en-US" sz="1500" dirty="0"/>
          </a:p>
        </p:txBody>
      </p:sp>
      <p:sp>
        <p:nvSpPr>
          <p:cNvPr id="26" name="Shape 23"/>
          <p:cNvSpPr/>
          <p:nvPr/>
        </p:nvSpPr>
        <p:spPr>
          <a:xfrm>
            <a:off x="7162495" y="3520440"/>
            <a:ext cx="4023360" cy="0"/>
          </a:xfrm>
          <a:prstGeom prst="line">
            <a:avLst/>
          </a:prstGeom>
          <a:noFill/>
          <a:ln w="9525">
            <a:solidFill>
              <a:srgbClr val="26375A"/>
            </a:solidFill>
            <a:prstDash val="solid"/>
          </a:ln>
        </p:spPr>
      </p:sp>
      <p:sp>
        <p:nvSpPr>
          <p:cNvPr id="27" name="Text 24"/>
          <p:cNvSpPr txBox="1"/>
          <p:nvPr/>
        </p:nvSpPr>
        <p:spPr>
          <a:xfrm>
            <a:off x="7162495" y="361188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使い方</a:t>
            </a:r>
            <a:endParaRPr lang="en-US" sz="1300" dirty="0"/>
          </a:p>
        </p:txBody>
      </p:sp>
      <p:sp>
        <p:nvSpPr>
          <p:cNvPr id="28" name="Text 25"/>
          <p:cNvSpPr txBox="1"/>
          <p:nvPr/>
        </p:nvSpPr>
        <p:spPr>
          <a:xfrm>
            <a:off x="8214055" y="361188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毎日、暮らしの場として</a:t>
            </a:r>
            <a:endParaRPr lang="en-US" sz="1500" dirty="0"/>
          </a:p>
        </p:txBody>
      </p:sp>
      <p:sp>
        <p:nvSpPr>
          <p:cNvPr id="29" name="Shape 26"/>
          <p:cNvSpPr/>
          <p:nvPr/>
        </p:nvSpPr>
        <p:spPr>
          <a:xfrm>
            <a:off x="7162495" y="4160520"/>
            <a:ext cx="4023360" cy="0"/>
          </a:xfrm>
          <a:prstGeom prst="line">
            <a:avLst/>
          </a:prstGeom>
          <a:noFill/>
          <a:ln w="9525">
            <a:solidFill>
              <a:srgbClr val="26375A"/>
            </a:solidFill>
            <a:prstDash val="solid"/>
          </a:ln>
        </p:spPr>
      </p:sp>
      <p:sp>
        <p:nvSpPr>
          <p:cNvPr id="30" name="Text 27"/>
          <p:cNvSpPr txBox="1"/>
          <p:nvPr/>
        </p:nvSpPr>
        <p:spPr>
          <a:xfrm>
            <a:off x="7162495" y="425196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現金化</a:t>
            </a:r>
            <a:endParaRPr lang="en-US" sz="1300" dirty="0"/>
          </a:p>
        </p:txBody>
      </p:sp>
      <p:sp>
        <p:nvSpPr>
          <p:cNvPr id="31" name="Text 28"/>
          <p:cNvSpPr txBox="1"/>
          <p:nvPr/>
        </p:nvSpPr>
        <p:spPr>
          <a:xfrm>
            <a:off x="8214055" y="425196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数か月と費用がかかる</a:t>
            </a:r>
            <a:endParaRPr lang="en-US" sz="1500" dirty="0"/>
          </a:p>
        </p:txBody>
      </p:sp>
      <p:sp>
        <p:nvSpPr>
          <p:cNvPr id="32" name="Shape 29"/>
          <p:cNvSpPr/>
          <p:nvPr/>
        </p:nvSpPr>
        <p:spPr>
          <a:xfrm>
            <a:off x="7162495" y="4800600"/>
            <a:ext cx="4023360" cy="0"/>
          </a:xfrm>
          <a:prstGeom prst="line">
            <a:avLst/>
          </a:prstGeom>
          <a:noFill/>
          <a:ln w="9525">
            <a:solidFill>
              <a:srgbClr val="26375A"/>
            </a:solidFill>
            <a:prstDash val="solid"/>
          </a:ln>
        </p:spPr>
      </p:sp>
      <p:sp>
        <p:nvSpPr>
          <p:cNvPr id="33" name="Text 30"/>
          <p:cNvSpPr txBox="1"/>
          <p:nvPr/>
        </p:nvSpPr>
        <p:spPr>
          <a:xfrm>
            <a:off x="7162495" y="489204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維持</a:t>
            </a:r>
            <a:endParaRPr lang="en-US" sz="1300" dirty="0"/>
          </a:p>
        </p:txBody>
      </p:sp>
      <p:sp>
        <p:nvSpPr>
          <p:cNvPr id="34" name="Text 31"/>
          <p:cNvSpPr txBox="1"/>
          <p:nvPr/>
        </p:nvSpPr>
        <p:spPr>
          <a:xfrm>
            <a:off x="8214055" y="489204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修繕・税金・保険が必要</a:t>
            </a:r>
            <a:endParaRPr lang="en-US" sz="1500" dirty="0"/>
          </a:p>
        </p:txBody>
      </p:sp>
      <p:sp>
        <p:nvSpPr>
          <p:cNvPr id="35" name="Shape 32"/>
          <p:cNvSpPr/>
          <p:nvPr/>
        </p:nvSpPr>
        <p:spPr>
          <a:xfrm>
            <a:off x="5364328" y="2926080"/>
            <a:ext cx="1463040" cy="1463040"/>
          </a:xfrm>
          <a:prstGeom prst="ellipse">
            <a:avLst/>
          </a:prstGeom>
          <a:solidFill>
            <a:srgbClr val="FFFFFF"/>
          </a:solidFill>
          <a:ln w="19050">
            <a:solidFill>
              <a:srgbClr val="B89B6A"/>
            </a:solidFill>
            <a:prstDash val="solid"/>
          </a:ln>
        </p:spPr>
      </p:sp>
      <p:sp>
        <p:nvSpPr>
          <p:cNvPr id="36" name="Text 33"/>
          <p:cNvSpPr txBox="1"/>
          <p:nvPr/>
        </p:nvSpPr>
        <p:spPr>
          <a:xfrm>
            <a:off x="5364328" y="2926080"/>
            <a:ext cx="1463040" cy="1463040"/>
          </a:xfrm>
          <a:prstGeom prst="rect">
            <a:avLst/>
          </a:prstGeom>
          <a:noFill/>
          <a:ln/>
        </p:spPr>
        <p:txBody>
          <a:bodyPr wrap="square" lIns="0" tIns="0" rIns="0" bIns="0" rtlCol="0" anchor="ctr"/>
          <a:lstStyle/>
          <a:p>
            <a:pPr algn="ctr" indent="0" marL="0">
              <a:buNone/>
            </a:pPr>
            <a:r>
              <a:rPr lang="en-US" sz="1400" b="1" dirty="0">
                <a:solidFill>
                  <a:srgbClr val="17233B"/>
                </a:solidFill>
                <a:latin typeface="Yu Mincho" pitchFamily="34" charset="0"/>
                <a:ea typeface="Yu Mincho" pitchFamily="34" charset="-122"/>
                <a:cs typeface="Yu Mincho" pitchFamily="34" charset="-120"/>
              </a:rPr>
              <a:t>比べる</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土俵が</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違う</a:t>
            </a:r>
            <a:endParaRPr lang="en-US" sz="1400" dirty="0"/>
          </a:p>
        </p:txBody>
      </p:sp>
      <p:sp>
        <p:nvSpPr>
          <p:cNvPr id="37" name="Text 3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NISAは投資で得た利益が非課税になる「制度（口座）」で、投資商品そのものではありません。どちらが有利かは目的と期間で変わります。本資料は特定の金融商品の勧誘を目的としません。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土地を所有するということ。</a:t>
            </a:r>
            <a:endParaRPr lang="en-US" sz="3000" dirty="0"/>
          </a:p>
        </p:txBody>
      </p:sp>
      <p:pic>
        <p:nvPicPr>
          <p:cNvPr id="5" name="Image 0" descr="イメージ写真">    </p:cNvPr>
          <p:cNvPicPr>
            <a:picLocks noChangeAspect="1"/>
          </p:cNvPicPr>
          <p:nvPr/>
        </p:nvPicPr>
        <p:blipFill>
          <a:blip r:embed="rId1"/>
          <a:srcRect l="0" r="0" t="0" b="0"/>
          <a:stretch/>
        </p:blipFill>
        <p:spPr>
          <a:xfrm>
            <a:off x="640080" y="1600200"/>
            <a:ext cx="4846320" cy="4251960"/>
          </a:xfrm>
          <a:prstGeom prst="rect">
            <a:avLst/>
          </a:prstGeom>
        </p:spPr>
      </p:pic>
      <p:sp>
        <p:nvSpPr>
          <p:cNvPr id="6" name="Text 2"/>
          <p:cNvSpPr txBox="1"/>
          <p:nvPr/>
        </p:nvSpPr>
        <p:spPr>
          <a:xfrm>
            <a:off x="4023360" y="557784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7" name="Text 3"/>
          <p:cNvSpPr txBox="1"/>
          <p:nvPr/>
        </p:nvSpPr>
        <p:spPr>
          <a:xfrm>
            <a:off x="5897880" y="1600200"/>
            <a:ext cx="5653735" cy="1143000"/>
          </a:xfrm>
          <a:prstGeom prst="rect">
            <a:avLst/>
          </a:prstGeom>
          <a:noFill/>
          <a:ln/>
        </p:spPr>
        <p:txBody>
          <a:bodyPr wrap="square" lIns="0" tIns="0" rIns="0" bIns="0" rtlCol="0" anchor="t"/>
          <a:lstStyle/>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不動産とは、</a:t>
            </a:r>
            <a:endParaRPr lang="en-US" sz="2800" dirty="0"/>
          </a:p>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「場所の権利」。</a:t>
            </a:r>
            <a:endParaRPr lang="en-US" sz="2800" dirty="0"/>
          </a:p>
        </p:txBody>
      </p:sp>
      <p:sp>
        <p:nvSpPr>
          <p:cNvPr id="8" name="Text 4"/>
          <p:cNvSpPr txBox="1"/>
          <p:nvPr/>
        </p:nvSpPr>
        <p:spPr>
          <a:xfrm>
            <a:off x="5897880" y="2926080"/>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01</a:t>
            </a:r>
            <a:endParaRPr lang="en-US" sz="2000" dirty="0"/>
          </a:p>
        </p:txBody>
      </p:sp>
      <p:sp>
        <p:nvSpPr>
          <p:cNvPr id="9" name="Text 5"/>
          <p:cNvSpPr txBox="1"/>
          <p:nvPr/>
        </p:nvSpPr>
        <p:spPr>
          <a:xfrm>
            <a:off x="6492240" y="2944368"/>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二つとない</a:t>
            </a:r>
            <a:endParaRPr lang="en-US" sz="1600" dirty="0"/>
          </a:p>
        </p:txBody>
      </p:sp>
      <p:sp>
        <p:nvSpPr>
          <p:cNvPr id="10" name="Text 6"/>
          <p:cNvSpPr txBox="1"/>
          <p:nvPr/>
        </p:nvSpPr>
        <p:spPr>
          <a:xfrm>
            <a:off x="6492240" y="3291840"/>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同じ立地・形・道路付けの土地は存在しない。だから定価がなく、価格は査定と交渉で決まる。</a:t>
            </a:r>
            <a:endParaRPr lang="en-US" sz="1300" dirty="0"/>
          </a:p>
        </p:txBody>
      </p:sp>
      <p:sp>
        <p:nvSpPr>
          <p:cNvPr id="11" name="Text 7"/>
          <p:cNvSpPr txBox="1"/>
          <p:nvPr/>
        </p:nvSpPr>
        <p:spPr>
          <a:xfrm>
            <a:off x="5897880" y="3913632"/>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02</a:t>
            </a:r>
            <a:endParaRPr lang="en-US" sz="2000" dirty="0"/>
          </a:p>
        </p:txBody>
      </p:sp>
      <p:sp>
        <p:nvSpPr>
          <p:cNvPr id="12" name="Text 8"/>
          <p:cNvSpPr txBox="1"/>
          <p:nvPr/>
        </p:nvSpPr>
        <p:spPr>
          <a:xfrm>
            <a:off x="6492240" y="3931920"/>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所有する</a:t>
            </a:r>
            <a:endParaRPr lang="en-US" sz="1600" dirty="0"/>
          </a:p>
        </p:txBody>
      </p:sp>
      <p:sp>
        <p:nvSpPr>
          <p:cNvPr id="13" name="Text 9"/>
          <p:cNvSpPr txBox="1"/>
          <p:nvPr/>
        </p:nvSpPr>
        <p:spPr>
          <a:xfrm>
            <a:off x="6492240" y="4279392"/>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登記で持ち主を公に示す。法令の範囲で、使う・貸す・売る・建て替えるを自分で決められる。</a:t>
            </a:r>
            <a:endParaRPr lang="en-US" sz="1300" dirty="0"/>
          </a:p>
        </p:txBody>
      </p:sp>
      <p:sp>
        <p:nvSpPr>
          <p:cNvPr id="14" name="Text 10"/>
          <p:cNvSpPr txBox="1"/>
          <p:nvPr/>
        </p:nvSpPr>
        <p:spPr>
          <a:xfrm>
            <a:off x="5897880" y="4901184"/>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03</a:t>
            </a:r>
            <a:endParaRPr lang="en-US" sz="2000" dirty="0"/>
          </a:p>
        </p:txBody>
      </p:sp>
      <p:sp>
        <p:nvSpPr>
          <p:cNvPr id="15" name="Text 11"/>
          <p:cNvSpPr txBox="1"/>
          <p:nvPr/>
        </p:nvSpPr>
        <p:spPr>
          <a:xfrm>
            <a:off x="6492240" y="4919472"/>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選択肢が残る</a:t>
            </a:r>
            <a:endParaRPr lang="en-US" sz="1600" dirty="0"/>
          </a:p>
        </p:txBody>
      </p:sp>
      <p:sp>
        <p:nvSpPr>
          <p:cNvPr id="16" name="Text 12"/>
          <p:cNvSpPr txBox="1"/>
          <p:nvPr/>
        </p:nvSpPr>
        <p:spPr>
          <a:xfrm>
            <a:off x="6492240" y="5266944"/>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住み続ける、売る、住み替える、条件が整えば貸す。将来の状況に合わせて選べる。</a:t>
            </a:r>
            <a:endParaRPr lang="en-US" sz="1300" dirty="0"/>
          </a:p>
        </p:txBody>
      </p:sp>
      <p:sp>
        <p:nvSpPr>
          <p:cNvPr id="17" name="Text 13"/>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民法86条1項「土地及びその定着物は、不動産とする」。土地の利用は建築基準法・都市計画法等の制限を受けます。土地価格の上昇を保証するものではありません。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土地と建物、二つの価値。</a:t>
            </a:r>
            <a:endParaRPr lang="en-US" sz="3000" dirty="0"/>
          </a:p>
        </p:txBody>
      </p:sp>
      <p:graphicFrame>
        <p:nvGraphicFramePr>
          <p:cNvPr id="5" name="Chart 0" descr=""/>
          <p:cNvGraphicFramePr/>
          <p:nvPr/>
        </p:nvGraphicFramePr>
        <p:xfrm>
          <a:off x="640080" y="16002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26680" y="1645920"/>
            <a:ext cx="3824935" cy="1965960"/>
          </a:xfrm>
          <a:prstGeom prst="roundRect">
            <a:avLst>
              <a:gd name="adj" fmla="val 2791"/>
            </a:avLst>
          </a:prstGeom>
          <a:solidFill>
            <a:srgbClr val="F7F4EE"/>
          </a:solidFill>
          <a:ln w="9525">
            <a:solidFill>
              <a:srgbClr val="F7F4EE"/>
            </a:solidFill>
            <a:prstDash val="solid"/>
          </a:ln>
        </p:spPr>
      </p:sp>
      <p:pic>
        <p:nvPicPr>
          <p:cNvPr id="7" name="Image 0" descr="preencoded.png">    </p:cNvPr>
          <p:cNvPicPr>
            <a:picLocks noChangeAspect="1"/>
          </p:cNvPicPr>
          <p:nvPr/>
        </p:nvPicPr>
        <p:blipFill>
          <a:blip r:embed="rId2"/>
          <a:stretch>
            <a:fillRect/>
          </a:stretch>
        </p:blipFill>
        <p:spPr>
          <a:xfrm>
            <a:off x="8001000" y="1874520"/>
            <a:ext cx="411480" cy="411480"/>
          </a:xfrm>
          <a:prstGeom prst="rect">
            <a:avLst/>
          </a:prstGeom>
        </p:spPr>
      </p:pic>
      <p:sp>
        <p:nvSpPr>
          <p:cNvPr id="8" name="Text 3"/>
          <p:cNvSpPr txBox="1"/>
          <p:nvPr/>
        </p:nvSpPr>
        <p:spPr>
          <a:xfrm>
            <a:off x="8549640" y="1874520"/>
            <a:ext cx="1828800" cy="41148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土地</a:t>
            </a:r>
            <a:endParaRPr lang="en-US" sz="2000" dirty="0"/>
          </a:p>
        </p:txBody>
      </p:sp>
      <p:sp>
        <p:nvSpPr>
          <p:cNvPr id="9" name="Text 4"/>
          <p:cNvSpPr txBox="1"/>
          <p:nvPr/>
        </p:nvSpPr>
        <p:spPr>
          <a:xfrm>
            <a:off x="8001000" y="246888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2B2F36"/>
                </a:solidFill>
                <a:latin typeface="Yu Gothic" pitchFamily="34" charset="0"/>
                <a:ea typeface="Yu Gothic" pitchFamily="34" charset="-122"/>
                <a:cs typeface="Yu Gothic" pitchFamily="34" charset="-120"/>
              </a:rPr>
              <a:t>劣化しない。価値は立地・需要・金利・人口など「市場」で上下する。</a:t>
            </a:r>
            <a:endParaRPr lang="en-US" sz="1400" dirty="0"/>
          </a:p>
        </p:txBody>
      </p:sp>
      <p:sp>
        <p:nvSpPr>
          <p:cNvPr id="10" name="Shape 5"/>
          <p:cNvSpPr/>
          <p:nvPr/>
        </p:nvSpPr>
        <p:spPr>
          <a:xfrm>
            <a:off x="7726680" y="3794760"/>
            <a:ext cx="3824935" cy="1965960"/>
          </a:xfrm>
          <a:prstGeom prst="roundRect">
            <a:avLst>
              <a:gd name="adj" fmla="val 2791"/>
            </a:avLst>
          </a:prstGeom>
          <a:solidFill>
            <a:srgbClr val="17233B"/>
          </a:solidFill>
          <a:ln w="9525">
            <a:solidFill>
              <a:srgbClr val="17233B"/>
            </a:solidFill>
            <a:prstDash val="solid"/>
          </a:ln>
        </p:spPr>
      </p:sp>
      <p:pic>
        <p:nvPicPr>
          <p:cNvPr id="11" name="Image 1" descr="preencoded.png">    </p:cNvPr>
          <p:cNvPicPr>
            <a:picLocks noChangeAspect="1"/>
          </p:cNvPicPr>
          <p:nvPr/>
        </p:nvPicPr>
        <p:blipFill>
          <a:blip r:embed="rId3"/>
          <a:stretch>
            <a:fillRect/>
          </a:stretch>
        </p:blipFill>
        <p:spPr>
          <a:xfrm>
            <a:off x="8001000" y="4023360"/>
            <a:ext cx="411480" cy="411480"/>
          </a:xfrm>
          <a:prstGeom prst="rect">
            <a:avLst/>
          </a:prstGeom>
        </p:spPr>
      </p:pic>
      <p:sp>
        <p:nvSpPr>
          <p:cNvPr id="12" name="Text 6"/>
          <p:cNvSpPr txBox="1"/>
          <p:nvPr/>
        </p:nvSpPr>
        <p:spPr>
          <a:xfrm>
            <a:off x="8549640" y="4023360"/>
            <a:ext cx="1828800" cy="41148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建物</a:t>
            </a:r>
            <a:endParaRPr lang="en-US" sz="2000" dirty="0"/>
          </a:p>
        </p:txBody>
      </p:sp>
      <p:sp>
        <p:nvSpPr>
          <p:cNvPr id="13" name="Text 7"/>
          <p:cNvSpPr txBox="1"/>
          <p:nvPr/>
        </p:nvSpPr>
        <p:spPr>
          <a:xfrm>
            <a:off x="8001000" y="461772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Yu Gothic" pitchFamily="34" charset="0"/>
                <a:ea typeface="Yu Gothic" pitchFamily="34" charset="-122"/>
                <a:cs typeface="Yu Gothic" pitchFamily="34" charset="-120"/>
              </a:rPr>
              <a:t>年数とともに評価が下がるのが一般的。点検・修繕・リフォームで差がつく。</a:t>
            </a:r>
            <a:endParaRPr lang="en-US" sz="1400" dirty="0"/>
          </a:p>
        </p:txBody>
      </p:sp>
      <p:sp>
        <p:nvSpPr>
          <p:cNvPr id="14" name="Text 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概念図です。将来価格を示すものではありません。試算では新築3,500万円を土地1,500万円・建物2,000万円と仮定し、建物は10年で50%・下限10%とした一例です。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賃貸では得にくい、空間の自由。</a:t>
            </a:r>
            <a:endParaRPr lang="en-US" sz="3000" dirty="0"/>
          </a:p>
        </p:txBody>
      </p:sp>
      <p:pic>
        <p:nvPicPr>
          <p:cNvPr id="5" name="Image 0" descr="イメージ写真">    </p:cNvPr>
          <p:cNvPicPr>
            <a:picLocks noChangeAspect="1"/>
          </p:cNvPicPr>
          <p:nvPr/>
        </p:nvPicPr>
        <p:blipFill>
          <a:blip r:embed="rId1"/>
          <a:srcRect l="0" r="0" t="0" b="0"/>
          <a:stretch/>
        </p:blipFill>
        <p:spPr>
          <a:xfrm>
            <a:off x="640080" y="1600200"/>
            <a:ext cx="3454298" cy="2514600"/>
          </a:xfrm>
          <a:prstGeom prst="rect">
            <a:avLst/>
          </a:prstGeom>
        </p:spPr>
      </p:pic>
      <p:sp>
        <p:nvSpPr>
          <p:cNvPr id="6" name="Text 2"/>
          <p:cNvSpPr txBox="1"/>
          <p:nvPr/>
        </p:nvSpPr>
        <p:spPr>
          <a:xfrm>
            <a:off x="2631338"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7" name="Text 3"/>
          <p:cNvSpPr txBox="1"/>
          <p:nvPr/>
        </p:nvSpPr>
        <p:spPr>
          <a:xfrm>
            <a:off x="640080"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在宅勤務</a:t>
            </a:r>
            <a:endParaRPr lang="en-US" sz="1800" dirty="0"/>
          </a:p>
        </p:txBody>
      </p:sp>
      <p:sp>
        <p:nvSpPr>
          <p:cNvPr id="8" name="Text 4"/>
          <p:cNvSpPr txBox="1"/>
          <p:nvPr/>
        </p:nvSpPr>
        <p:spPr>
          <a:xfrm>
            <a:off x="640080"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個室を書斎に。生活音と仕事を分けられる。</a:t>
            </a:r>
            <a:endParaRPr lang="en-US" sz="1400" dirty="0"/>
          </a:p>
        </p:txBody>
      </p:sp>
      <p:sp>
        <p:nvSpPr>
          <p:cNvPr id="9" name="Shape 5"/>
          <p:cNvSpPr/>
          <p:nvPr/>
        </p:nvSpPr>
        <p:spPr>
          <a:xfrm>
            <a:off x="640080" y="5303520"/>
            <a:ext cx="3454298" cy="384048"/>
          </a:xfrm>
          <a:prstGeom prst="roundRect">
            <a:avLst>
              <a:gd name="adj" fmla="val 14286"/>
            </a:avLst>
          </a:prstGeom>
          <a:solidFill>
            <a:srgbClr val="EADFCB"/>
          </a:solidFill>
          <a:ln w="9525">
            <a:solidFill>
              <a:srgbClr val="EADFCB"/>
            </a:solidFill>
            <a:prstDash val="solid"/>
          </a:ln>
        </p:spPr>
      </p:sp>
      <p:sp>
        <p:nvSpPr>
          <p:cNvPr id="10" name="Text 6"/>
          <p:cNvSpPr txBox="1"/>
          <p:nvPr/>
        </p:nvSpPr>
        <p:spPr>
          <a:xfrm>
            <a:off x="777240"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条件：間取り・通信環境</a:t>
            </a:r>
            <a:endParaRPr lang="en-US" sz="1200" dirty="0"/>
          </a:p>
        </p:txBody>
      </p:sp>
      <p:pic>
        <p:nvPicPr>
          <p:cNvPr id="11" name="Image 1" descr="イメージ写真">    </p:cNvPr>
          <p:cNvPicPr>
            <a:picLocks noChangeAspect="1"/>
          </p:cNvPicPr>
          <p:nvPr/>
        </p:nvPicPr>
        <p:blipFill>
          <a:blip r:embed="rId2"/>
          <a:srcRect l="0" r="0" t="0" b="0"/>
          <a:stretch/>
        </p:blipFill>
        <p:spPr>
          <a:xfrm>
            <a:off x="4368698" y="1600200"/>
            <a:ext cx="3454298" cy="2514600"/>
          </a:xfrm>
          <a:prstGeom prst="rect">
            <a:avLst/>
          </a:prstGeom>
        </p:spPr>
      </p:pic>
      <p:sp>
        <p:nvSpPr>
          <p:cNvPr id="12" name="Text 7"/>
          <p:cNvSpPr txBox="1"/>
          <p:nvPr/>
        </p:nvSpPr>
        <p:spPr>
          <a:xfrm>
            <a:off x="6359957"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3" name="Text 8"/>
          <p:cNvSpPr txBox="1"/>
          <p:nvPr/>
        </p:nvSpPr>
        <p:spPr>
          <a:xfrm>
            <a:off x="4368698"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車・バイク・趣味</a:t>
            </a:r>
            <a:endParaRPr lang="en-US" sz="1800" dirty="0"/>
          </a:p>
        </p:txBody>
      </p:sp>
      <p:sp>
        <p:nvSpPr>
          <p:cNvPr id="14" name="Text 9"/>
          <p:cNvSpPr txBox="1"/>
          <p:nvPr/>
        </p:nvSpPr>
        <p:spPr>
          <a:xfrm>
            <a:off x="4368698"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敷地内で、出し入れも手入れも自分のペースで。</a:t>
            </a:r>
            <a:endParaRPr lang="en-US" sz="1400" dirty="0"/>
          </a:p>
        </p:txBody>
      </p:sp>
      <p:sp>
        <p:nvSpPr>
          <p:cNvPr id="15" name="Shape 10"/>
          <p:cNvSpPr/>
          <p:nvPr/>
        </p:nvSpPr>
        <p:spPr>
          <a:xfrm>
            <a:off x="4368698" y="5303520"/>
            <a:ext cx="3454298" cy="384048"/>
          </a:xfrm>
          <a:prstGeom prst="roundRect">
            <a:avLst>
              <a:gd name="adj" fmla="val 14286"/>
            </a:avLst>
          </a:prstGeom>
          <a:solidFill>
            <a:srgbClr val="EADFCB"/>
          </a:solidFill>
          <a:ln w="9525">
            <a:solidFill>
              <a:srgbClr val="EADFCB"/>
            </a:solidFill>
            <a:prstDash val="solid"/>
          </a:ln>
        </p:spPr>
      </p:sp>
      <p:sp>
        <p:nvSpPr>
          <p:cNvPr id="16" name="Text 11"/>
          <p:cNvSpPr txBox="1"/>
          <p:nvPr/>
        </p:nvSpPr>
        <p:spPr>
          <a:xfrm>
            <a:off x="4505858"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条件：駐車スペース・前面道路の幅</a:t>
            </a:r>
            <a:endParaRPr lang="en-US" sz="1200" dirty="0"/>
          </a:p>
        </p:txBody>
      </p:sp>
      <p:pic>
        <p:nvPicPr>
          <p:cNvPr id="17" name="Image 2" descr="イメージ写真">    </p:cNvPr>
          <p:cNvPicPr>
            <a:picLocks noChangeAspect="1"/>
          </p:cNvPicPr>
          <p:nvPr/>
        </p:nvPicPr>
        <p:blipFill>
          <a:blip r:embed="rId3"/>
          <a:srcRect l="0" r="0" t="0" b="0"/>
          <a:stretch/>
        </p:blipFill>
        <p:spPr>
          <a:xfrm>
            <a:off x="8097317" y="1600200"/>
            <a:ext cx="3454298" cy="2514600"/>
          </a:xfrm>
          <a:prstGeom prst="rect">
            <a:avLst/>
          </a:prstGeom>
        </p:spPr>
      </p:pic>
      <p:sp>
        <p:nvSpPr>
          <p:cNvPr id="18" name="Text 12"/>
          <p:cNvSpPr txBox="1"/>
          <p:nvPr/>
        </p:nvSpPr>
        <p:spPr>
          <a:xfrm>
            <a:off x="10088575"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イメージ写真</a:t>
            </a:r>
            <a:endParaRPr lang="en-US" sz="900" dirty="0"/>
          </a:p>
        </p:txBody>
      </p:sp>
      <p:sp>
        <p:nvSpPr>
          <p:cNvPr id="19" name="Text 13"/>
          <p:cNvSpPr txBox="1"/>
          <p:nvPr/>
        </p:nvSpPr>
        <p:spPr>
          <a:xfrm>
            <a:off x="8097317"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ペットと庭</a:t>
            </a:r>
            <a:endParaRPr lang="en-US" sz="1800" dirty="0"/>
          </a:p>
        </p:txBody>
      </p:sp>
      <p:sp>
        <p:nvSpPr>
          <p:cNvPr id="20" name="Text 14"/>
          <p:cNvSpPr txBox="1"/>
          <p:nvPr/>
        </p:nvSpPr>
        <p:spPr>
          <a:xfrm>
            <a:off x="8097317"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飼育規約に縛られにくく、外の空間も使える。</a:t>
            </a:r>
            <a:endParaRPr lang="en-US" sz="1400" dirty="0"/>
          </a:p>
        </p:txBody>
      </p:sp>
      <p:sp>
        <p:nvSpPr>
          <p:cNvPr id="21" name="Shape 15"/>
          <p:cNvSpPr/>
          <p:nvPr/>
        </p:nvSpPr>
        <p:spPr>
          <a:xfrm>
            <a:off x="8097317" y="5303520"/>
            <a:ext cx="3454298" cy="384048"/>
          </a:xfrm>
          <a:prstGeom prst="roundRect">
            <a:avLst>
              <a:gd name="adj" fmla="val 14286"/>
            </a:avLst>
          </a:prstGeom>
          <a:solidFill>
            <a:srgbClr val="EADFCB"/>
          </a:solidFill>
          <a:ln w="9525">
            <a:solidFill>
              <a:srgbClr val="EADFCB"/>
            </a:solidFill>
            <a:prstDash val="solid"/>
          </a:ln>
        </p:spPr>
      </p:sp>
      <p:sp>
        <p:nvSpPr>
          <p:cNvPr id="22" name="Text 16"/>
          <p:cNvSpPr txBox="1"/>
          <p:nvPr/>
        </p:nvSpPr>
        <p:spPr>
          <a:xfrm>
            <a:off x="8234477"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条件：近隣への配慮・自治体のルール</a:t>
            </a:r>
            <a:endParaRPr lang="en-US" sz="1200" dirty="0"/>
          </a:p>
        </p:txBody>
      </p:sp>
      <p:sp>
        <p:nvSpPr>
          <p:cNvPr id="23" name="Text 1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写真はイメージです。実現できるかは物件の間取り・敷地条件・法令・近隣環境によって異なります。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マンションと戸建て、何が違う？</a:t>
            </a:r>
            <a:endParaRPr lang="en-US" sz="3000" dirty="0"/>
          </a:p>
        </p:txBody>
      </p:sp>
      <p:sp>
        <p:nvSpPr>
          <p:cNvPr id="5" name="Shape 2"/>
          <p:cNvSpPr/>
          <p:nvPr/>
        </p:nvSpPr>
        <p:spPr>
          <a:xfrm>
            <a:off x="640080" y="1600200"/>
            <a:ext cx="5272888" cy="4160520"/>
          </a:xfrm>
          <a:prstGeom prst="roundRect">
            <a:avLst>
              <a:gd name="adj" fmla="val 1319"/>
            </a:avLst>
          </a:prstGeom>
          <a:solidFill>
            <a:srgbClr val="EEF0F3"/>
          </a:solidFill>
          <a:ln w="9525">
            <a:solidFill>
              <a:srgbClr val="EEF0F3"/>
            </a:solidFill>
            <a:prstDash val="solid"/>
          </a:ln>
        </p:spPr>
      </p:sp>
      <p:sp>
        <p:nvSpPr>
          <p:cNvPr id="6" name="Shape 3"/>
          <p:cNvSpPr/>
          <p:nvPr/>
        </p:nvSpPr>
        <p:spPr>
          <a:xfrm>
            <a:off x="960120" y="1810512"/>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97280" y="1947672"/>
            <a:ext cx="274320" cy="274320"/>
          </a:xfrm>
          <a:prstGeom prst="rect">
            <a:avLst/>
          </a:prstGeom>
        </p:spPr>
      </p:pic>
      <p:sp>
        <p:nvSpPr>
          <p:cNvPr id="8" name="Text 4"/>
          <p:cNvSpPr txBox="1"/>
          <p:nvPr/>
        </p:nvSpPr>
        <p:spPr>
          <a:xfrm>
            <a:off x="1645920" y="1810512"/>
            <a:ext cx="3992728" cy="54864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分譲マンション</a:t>
            </a:r>
            <a:endParaRPr lang="en-US" sz="2000" dirty="0"/>
          </a:p>
        </p:txBody>
      </p:sp>
      <p:sp>
        <p:nvSpPr>
          <p:cNvPr id="9" name="Text 5"/>
          <p:cNvSpPr txBox="1"/>
          <p:nvPr/>
        </p:nvSpPr>
        <p:spPr>
          <a:xfrm>
            <a:off x="960120" y="2560320"/>
            <a:ext cx="1828800" cy="27432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良いところ</a:t>
            </a:r>
            <a:endParaRPr lang="en-US" sz="1200" dirty="0"/>
          </a:p>
        </p:txBody>
      </p:sp>
      <p:sp>
        <p:nvSpPr>
          <p:cNvPr id="10" name="Text 6"/>
          <p:cNvSpPr txBox="1"/>
          <p:nvPr/>
        </p:nvSpPr>
        <p:spPr>
          <a:xfrm>
            <a:off x="960120" y="2852928"/>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駅近・都市部に多く、通勤に便利</a:t>
            </a:r>
            <a:endParaRPr lang="en-US" sz="1400" dirty="0"/>
          </a:p>
        </p:txBody>
      </p:sp>
      <p:sp>
        <p:nvSpPr>
          <p:cNvPr id="11" name="Text 7"/>
          <p:cNvSpPr txBox="1"/>
          <p:nvPr/>
        </p:nvSpPr>
        <p:spPr>
          <a:xfrm>
            <a:off x="960120" y="3236976"/>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共用部の管理を管理会社に任せられる</a:t>
            </a:r>
            <a:endParaRPr lang="en-US" sz="1400" dirty="0"/>
          </a:p>
        </p:txBody>
      </p:sp>
      <p:sp>
        <p:nvSpPr>
          <p:cNvPr id="12" name="Text 8"/>
          <p:cNvSpPr txBox="1"/>
          <p:nvPr/>
        </p:nvSpPr>
        <p:spPr>
          <a:xfrm>
            <a:off x="960120" y="3621024"/>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オートロックなど防犯設備が整いやすい</a:t>
            </a:r>
            <a:endParaRPr lang="en-US" sz="1400" dirty="0"/>
          </a:p>
        </p:txBody>
      </p:sp>
      <p:sp>
        <p:nvSpPr>
          <p:cNvPr id="13" name="Text 9"/>
          <p:cNvSpPr txBox="1"/>
          <p:nvPr/>
        </p:nvSpPr>
        <p:spPr>
          <a:xfrm>
            <a:off x="960120" y="4096512"/>
            <a:ext cx="2743200"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気をつけたいところ</a:t>
            </a:r>
            <a:endParaRPr lang="en-US" sz="1200" dirty="0"/>
          </a:p>
        </p:txBody>
      </p:sp>
      <p:sp>
        <p:nvSpPr>
          <p:cNvPr id="14" name="Text 10"/>
          <p:cNvSpPr txBox="1"/>
          <p:nvPr/>
        </p:nvSpPr>
        <p:spPr>
          <a:xfrm>
            <a:off x="960120" y="4389120"/>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管理費・修繕積立金が毎月かかる（月2〜4万円ほどが目安）</a:t>
            </a:r>
            <a:endParaRPr lang="en-US" sz="1400" dirty="0"/>
          </a:p>
        </p:txBody>
      </p:sp>
      <p:sp>
        <p:nvSpPr>
          <p:cNvPr id="15" name="Text 11"/>
          <p:cNvSpPr txBox="1"/>
          <p:nvPr/>
        </p:nvSpPr>
        <p:spPr>
          <a:xfrm>
            <a:off x="960120" y="4773168"/>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改修できるのは専有部分のみ（管理規約の範囲）</a:t>
            </a:r>
            <a:endParaRPr lang="en-US" sz="1400" dirty="0"/>
          </a:p>
        </p:txBody>
      </p:sp>
      <p:sp>
        <p:nvSpPr>
          <p:cNvPr id="16" name="Text 12"/>
          <p:cNvSpPr txBox="1"/>
          <p:nvPr/>
        </p:nvSpPr>
        <p:spPr>
          <a:xfrm>
            <a:off x="960120" y="5157216"/>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駐車場は別契約・空き待ちのことも</a:t>
            </a:r>
            <a:endParaRPr lang="en-US" sz="1400" dirty="0"/>
          </a:p>
        </p:txBody>
      </p:sp>
      <p:sp>
        <p:nvSpPr>
          <p:cNvPr id="17" name="Shape 13"/>
          <p:cNvSpPr/>
          <p:nvPr/>
        </p:nvSpPr>
        <p:spPr>
          <a:xfrm>
            <a:off x="6278728" y="1600200"/>
            <a:ext cx="5272888" cy="4160520"/>
          </a:xfrm>
          <a:prstGeom prst="roundRect">
            <a:avLst>
              <a:gd name="adj" fmla="val 1319"/>
            </a:avLst>
          </a:prstGeom>
          <a:solidFill>
            <a:srgbClr val="17233B"/>
          </a:solidFill>
          <a:ln w="9525">
            <a:solidFill>
              <a:srgbClr val="17233B"/>
            </a:solidFill>
            <a:prstDash val="solid"/>
          </a:ln>
        </p:spPr>
      </p:sp>
      <p:sp>
        <p:nvSpPr>
          <p:cNvPr id="18" name="Shape 14"/>
          <p:cNvSpPr/>
          <p:nvPr/>
        </p:nvSpPr>
        <p:spPr>
          <a:xfrm>
            <a:off x="6598768" y="1810512"/>
            <a:ext cx="548640" cy="548640"/>
          </a:xfrm>
          <a:prstGeom prst="ellipse">
            <a:avLst/>
          </a:prstGeom>
          <a:solidFill>
            <a:srgbClr val="B89B6A"/>
          </a:solidFill>
          <a:ln w="12700">
            <a:solidFill>
              <a:srgbClr val="B89B6A"/>
            </a:solidFill>
            <a:prstDash val="solid"/>
          </a:ln>
        </p:spPr>
      </p:sp>
      <p:pic>
        <p:nvPicPr>
          <p:cNvPr id="19" name="Image 1" descr="preencoded.png">    </p:cNvPr>
          <p:cNvPicPr>
            <a:picLocks noChangeAspect="1"/>
          </p:cNvPicPr>
          <p:nvPr/>
        </p:nvPicPr>
        <p:blipFill>
          <a:blip r:embed="rId2"/>
          <a:stretch>
            <a:fillRect/>
          </a:stretch>
        </p:blipFill>
        <p:spPr>
          <a:xfrm>
            <a:off x="6735928" y="1947672"/>
            <a:ext cx="274320" cy="274320"/>
          </a:xfrm>
          <a:prstGeom prst="rect">
            <a:avLst/>
          </a:prstGeom>
        </p:spPr>
      </p:pic>
      <p:sp>
        <p:nvSpPr>
          <p:cNvPr id="20" name="Text 15"/>
          <p:cNvSpPr txBox="1"/>
          <p:nvPr/>
        </p:nvSpPr>
        <p:spPr>
          <a:xfrm>
            <a:off x="7284568" y="1810512"/>
            <a:ext cx="3992728" cy="54864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土地付き戸建て</a:t>
            </a:r>
            <a:endParaRPr lang="en-US" sz="2000" dirty="0"/>
          </a:p>
        </p:txBody>
      </p:sp>
      <p:sp>
        <p:nvSpPr>
          <p:cNvPr id="21" name="Text 16"/>
          <p:cNvSpPr txBox="1"/>
          <p:nvPr/>
        </p:nvSpPr>
        <p:spPr>
          <a:xfrm>
            <a:off x="6598768" y="2560320"/>
            <a:ext cx="1828800"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良いところ</a:t>
            </a:r>
            <a:endParaRPr lang="en-US" sz="1200" dirty="0"/>
          </a:p>
        </p:txBody>
      </p:sp>
      <p:sp>
        <p:nvSpPr>
          <p:cNvPr id="22" name="Text 17"/>
          <p:cNvSpPr txBox="1"/>
          <p:nvPr/>
        </p:nvSpPr>
        <p:spPr>
          <a:xfrm>
            <a:off x="6598768" y="2852928"/>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土地を単独で所有。建物は独立した1棟</a:t>
            </a:r>
            <a:endParaRPr lang="en-US" sz="1400" dirty="0"/>
          </a:p>
        </p:txBody>
      </p:sp>
      <p:sp>
        <p:nvSpPr>
          <p:cNvPr id="23" name="Text 18"/>
          <p:cNvSpPr txBox="1"/>
          <p:nvPr/>
        </p:nvSpPr>
        <p:spPr>
          <a:xfrm>
            <a:off x="6598768" y="3236976"/>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管理費・修繕積立金がない（自分で積立）</a:t>
            </a:r>
            <a:endParaRPr lang="en-US" sz="1400" dirty="0"/>
          </a:p>
        </p:txBody>
      </p:sp>
      <p:sp>
        <p:nvSpPr>
          <p:cNvPr id="24" name="Text 19"/>
          <p:cNvSpPr txBox="1"/>
          <p:nvPr/>
        </p:nvSpPr>
        <p:spPr>
          <a:xfrm>
            <a:off x="6598768" y="3621024"/>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音・駐車場・庭・改修の自由度が高い</a:t>
            </a:r>
            <a:endParaRPr lang="en-US" sz="1400" dirty="0"/>
          </a:p>
        </p:txBody>
      </p:sp>
      <p:sp>
        <p:nvSpPr>
          <p:cNvPr id="25" name="Text 20"/>
          <p:cNvSpPr txBox="1"/>
          <p:nvPr/>
        </p:nvSpPr>
        <p:spPr>
          <a:xfrm>
            <a:off x="6598768" y="4096512"/>
            <a:ext cx="2743200" cy="274320"/>
          </a:xfrm>
          <a:prstGeom prst="rect">
            <a:avLst/>
          </a:prstGeom>
          <a:noFill/>
          <a:ln/>
        </p:spPr>
        <p:txBody>
          <a:bodyPr wrap="square" lIns="0" tIns="0" rIns="0" bIns="0" rtlCol="0" anchor="t"/>
          <a:lstStyle/>
          <a:p>
            <a:pPr indent="0" marL="0">
              <a:buNone/>
            </a:pPr>
            <a:r>
              <a:rPr lang="en-US" sz="1200" b="1" dirty="0">
                <a:solidFill>
                  <a:srgbClr val="C9D0DA"/>
                </a:solidFill>
                <a:latin typeface="Yu Gothic" pitchFamily="34" charset="0"/>
                <a:ea typeface="Yu Gothic" pitchFamily="34" charset="-122"/>
                <a:cs typeface="Yu Gothic" pitchFamily="34" charset="-120"/>
              </a:rPr>
              <a:t>気をつけたいところ</a:t>
            </a:r>
            <a:endParaRPr lang="en-US" sz="1200" dirty="0"/>
          </a:p>
        </p:txBody>
      </p:sp>
      <p:sp>
        <p:nvSpPr>
          <p:cNvPr id="26" name="Text 21"/>
          <p:cNvSpPr txBox="1"/>
          <p:nvPr/>
        </p:nvSpPr>
        <p:spPr>
          <a:xfrm>
            <a:off x="6598768" y="4389120"/>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修繕の時期と費用を自分で計画・負担する</a:t>
            </a:r>
            <a:endParaRPr lang="en-US" sz="1400" dirty="0"/>
          </a:p>
        </p:txBody>
      </p:sp>
      <p:sp>
        <p:nvSpPr>
          <p:cNvPr id="27" name="Text 22"/>
          <p:cNvSpPr txBox="1"/>
          <p:nvPr/>
        </p:nvSpPr>
        <p:spPr>
          <a:xfrm>
            <a:off x="6598768" y="4773168"/>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郊外・駅から離れた立地が多い傾向</a:t>
            </a:r>
            <a:endParaRPr lang="en-US" sz="1400" dirty="0"/>
          </a:p>
        </p:txBody>
      </p:sp>
      <p:sp>
        <p:nvSpPr>
          <p:cNvPr id="28" name="Text 23"/>
          <p:cNvSpPr txBox="1"/>
          <p:nvPr/>
        </p:nvSpPr>
        <p:spPr>
          <a:xfrm>
            <a:off x="6598768" y="5157216"/>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防犯・草取りなど、手入れを自分で行う</a:t>
            </a:r>
            <a:endParaRPr lang="en-US" sz="1400" dirty="0"/>
          </a:p>
        </p:txBody>
      </p:sp>
      <p:sp>
        <p:nvSpPr>
          <p:cNvPr id="29" name="Text 2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分譲マンションも敷地を区分所有者で共有しています（敷地利用権）。一般的な傾向の比較で、管理費等の金額・駐車場の有無などは物件ごとに異なります。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P10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あなたの暮らしに合う戸建てとは。</a:t>
            </a:r>
            <a:endParaRPr lang="en-US" sz="3000" dirty="0"/>
          </a:p>
        </p:txBody>
      </p:sp>
      <p:sp>
        <p:nvSpPr>
          <p:cNvPr id="5" name="Shape 2"/>
          <p:cNvSpPr/>
          <p:nvPr/>
        </p:nvSpPr>
        <p:spPr>
          <a:xfrm>
            <a:off x="640080" y="1600200"/>
            <a:ext cx="3454298" cy="3566160"/>
          </a:xfrm>
          <a:prstGeom prst="roundRect">
            <a:avLst>
              <a:gd name="adj" fmla="val 1588"/>
            </a:avLst>
          </a:prstGeom>
          <a:solidFill>
            <a:srgbClr val="FFFFFF"/>
          </a:solidFill>
          <a:ln w="9525">
            <a:solidFill>
              <a:srgbClr val="DDE0E5"/>
            </a:solidFill>
            <a:prstDash val="solid"/>
          </a:ln>
        </p:spPr>
      </p:sp>
      <p:sp>
        <p:nvSpPr>
          <p:cNvPr id="6" name="Shape 3"/>
          <p:cNvSpPr/>
          <p:nvPr/>
        </p:nvSpPr>
        <p:spPr>
          <a:xfrm>
            <a:off x="914400" y="182880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1970532"/>
            <a:ext cx="283464" cy="283464"/>
          </a:xfrm>
          <a:prstGeom prst="rect">
            <a:avLst/>
          </a:prstGeom>
        </p:spPr>
      </p:pic>
      <p:sp>
        <p:nvSpPr>
          <p:cNvPr id="8" name="Text 4"/>
          <p:cNvSpPr txBox="1"/>
          <p:nvPr/>
        </p:nvSpPr>
        <p:spPr>
          <a:xfrm>
            <a:off x="1600200"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在宅ワーク派</a:t>
            </a:r>
            <a:endParaRPr lang="en-US" sz="1700" dirty="0"/>
          </a:p>
        </p:txBody>
      </p:sp>
      <p:sp>
        <p:nvSpPr>
          <p:cNvPr id="9" name="Text 5"/>
          <p:cNvSpPr txBox="1"/>
          <p:nvPr/>
        </p:nvSpPr>
        <p:spPr>
          <a:xfrm>
            <a:off x="1600200"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仕事と生活を分けたい</a:t>
            </a:r>
            <a:endParaRPr lang="en-US" sz="1200" dirty="0"/>
          </a:p>
        </p:txBody>
      </p:sp>
      <p:sp>
        <p:nvSpPr>
          <p:cNvPr id="10" name="Text 6"/>
          <p:cNvSpPr txBox="1"/>
          <p:nvPr/>
        </p:nvSpPr>
        <p:spPr>
          <a:xfrm>
            <a:off x="914400"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11" name="Shape 7"/>
          <p:cNvSpPr/>
          <p:nvPr/>
        </p:nvSpPr>
        <p:spPr>
          <a:xfrm>
            <a:off x="914400" y="3017520"/>
            <a:ext cx="2905658" cy="0"/>
          </a:xfrm>
          <a:prstGeom prst="line">
            <a:avLst/>
          </a:prstGeom>
          <a:noFill/>
          <a:ln w="9525">
            <a:solidFill>
              <a:srgbClr val="DDE0E5"/>
            </a:solidFill>
            <a:prstDash val="solid"/>
          </a:ln>
        </p:spPr>
      </p:sp>
      <p:sp>
        <p:nvSpPr>
          <p:cNvPr id="12" name="Text 8"/>
          <p:cNvSpPr txBox="1"/>
          <p:nvPr/>
        </p:nvSpPr>
        <p:spPr>
          <a:xfrm>
            <a:off x="914400"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書斎にできる独立した個室</a:t>
            </a:r>
            <a:endParaRPr lang="en-US" sz="1400" dirty="0"/>
          </a:p>
        </p:txBody>
      </p:sp>
      <p:sp>
        <p:nvSpPr>
          <p:cNvPr id="13" name="Shape 9"/>
          <p:cNvSpPr/>
          <p:nvPr/>
        </p:nvSpPr>
        <p:spPr>
          <a:xfrm>
            <a:off x="914400" y="3675888"/>
            <a:ext cx="2905658" cy="0"/>
          </a:xfrm>
          <a:prstGeom prst="line">
            <a:avLst/>
          </a:prstGeom>
          <a:noFill/>
          <a:ln w="9525">
            <a:solidFill>
              <a:srgbClr val="DDE0E5"/>
            </a:solidFill>
            <a:prstDash val="solid"/>
          </a:ln>
        </p:spPr>
      </p:sp>
      <p:sp>
        <p:nvSpPr>
          <p:cNvPr id="14" name="Text 10"/>
          <p:cNvSpPr txBox="1"/>
          <p:nvPr/>
        </p:nvSpPr>
        <p:spPr>
          <a:xfrm>
            <a:off x="914400"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通信回線（光回線の引き込み）</a:t>
            </a:r>
            <a:endParaRPr lang="en-US" sz="1400" dirty="0"/>
          </a:p>
        </p:txBody>
      </p:sp>
      <p:sp>
        <p:nvSpPr>
          <p:cNvPr id="15" name="Shape 11"/>
          <p:cNvSpPr/>
          <p:nvPr/>
        </p:nvSpPr>
        <p:spPr>
          <a:xfrm>
            <a:off x="914400" y="4334256"/>
            <a:ext cx="2905658" cy="0"/>
          </a:xfrm>
          <a:prstGeom prst="line">
            <a:avLst/>
          </a:prstGeom>
          <a:noFill/>
          <a:ln w="9525">
            <a:solidFill>
              <a:srgbClr val="DDE0E5"/>
            </a:solidFill>
            <a:prstDash val="solid"/>
          </a:ln>
        </p:spPr>
      </p:sp>
      <p:sp>
        <p:nvSpPr>
          <p:cNvPr id="16" name="Text 12"/>
          <p:cNvSpPr txBox="1"/>
          <p:nvPr/>
        </p:nvSpPr>
        <p:spPr>
          <a:xfrm>
            <a:off x="914400"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日当たり・静かさ（前面道路の交通量）</a:t>
            </a:r>
            <a:endParaRPr lang="en-US" sz="1400" dirty="0"/>
          </a:p>
        </p:txBody>
      </p:sp>
      <p:sp>
        <p:nvSpPr>
          <p:cNvPr id="17" name="Shape 13"/>
          <p:cNvSpPr/>
          <p:nvPr/>
        </p:nvSpPr>
        <p:spPr>
          <a:xfrm>
            <a:off x="4368698" y="1600200"/>
            <a:ext cx="3454298" cy="3566160"/>
          </a:xfrm>
          <a:prstGeom prst="roundRect">
            <a:avLst>
              <a:gd name="adj" fmla="val 1588"/>
            </a:avLst>
          </a:prstGeom>
          <a:solidFill>
            <a:srgbClr val="FFFFFF"/>
          </a:solidFill>
          <a:ln w="9525">
            <a:solidFill>
              <a:srgbClr val="DDE0E5"/>
            </a:solidFill>
            <a:prstDash val="solid"/>
          </a:ln>
        </p:spPr>
      </p:sp>
      <p:sp>
        <p:nvSpPr>
          <p:cNvPr id="18" name="Shape 14"/>
          <p:cNvSpPr/>
          <p:nvPr/>
        </p:nvSpPr>
        <p:spPr>
          <a:xfrm>
            <a:off x="4643018" y="1828800"/>
            <a:ext cx="566928" cy="566928"/>
          </a:xfrm>
          <a:prstGeom prst="ellipse">
            <a:avLst/>
          </a:prstGeom>
          <a:solidFill>
            <a:srgbClr val="17233B"/>
          </a:solidFill>
          <a:ln w="12700">
            <a:solidFill>
              <a:srgbClr val="17233B"/>
            </a:solidFill>
            <a:prstDash val="solid"/>
          </a:ln>
        </p:spPr>
      </p:sp>
      <p:pic>
        <p:nvPicPr>
          <p:cNvPr id="19" name="Image 1" descr="preencoded.png">    </p:cNvPr>
          <p:cNvPicPr>
            <a:picLocks noChangeAspect="1"/>
          </p:cNvPicPr>
          <p:nvPr/>
        </p:nvPicPr>
        <p:blipFill>
          <a:blip r:embed="rId2"/>
          <a:stretch>
            <a:fillRect/>
          </a:stretch>
        </p:blipFill>
        <p:spPr>
          <a:xfrm>
            <a:off x="4784750" y="1970532"/>
            <a:ext cx="283464" cy="283464"/>
          </a:xfrm>
          <a:prstGeom prst="rect">
            <a:avLst/>
          </a:prstGeom>
        </p:spPr>
      </p:pic>
      <p:sp>
        <p:nvSpPr>
          <p:cNvPr id="20" name="Text 15"/>
          <p:cNvSpPr txBox="1"/>
          <p:nvPr/>
        </p:nvSpPr>
        <p:spPr>
          <a:xfrm>
            <a:off x="5328818"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車・バイク派</a:t>
            </a:r>
            <a:endParaRPr lang="en-US" sz="1700" dirty="0"/>
          </a:p>
        </p:txBody>
      </p:sp>
      <p:sp>
        <p:nvSpPr>
          <p:cNvPr id="21" name="Text 16"/>
          <p:cNvSpPr txBox="1"/>
          <p:nvPr/>
        </p:nvSpPr>
        <p:spPr>
          <a:xfrm>
            <a:off x="5328818"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道具も遊びも、自由に動きたい</a:t>
            </a:r>
            <a:endParaRPr lang="en-US" sz="1200" dirty="0"/>
          </a:p>
        </p:txBody>
      </p:sp>
      <p:sp>
        <p:nvSpPr>
          <p:cNvPr id="22" name="Text 17"/>
          <p:cNvSpPr txBox="1"/>
          <p:nvPr/>
        </p:nvSpPr>
        <p:spPr>
          <a:xfrm>
            <a:off x="4643018"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23" name="Shape 18"/>
          <p:cNvSpPr/>
          <p:nvPr/>
        </p:nvSpPr>
        <p:spPr>
          <a:xfrm>
            <a:off x="4643018" y="3017520"/>
            <a:ext cx="2905658" cy="0"/>
          </a:xfrm>
          <a:prstGeom prst="line">
            <a:avLst/>
          </a:prstGeom>
          <a:noFill/>
          <a:ln w="9525">
            <a:solidFill>
              <a:srgbClr val="DDE0E5"/>
            </a:solidFill>
            <a:prstDash val="solid"/>
          </a:ln>
        </p:spPr>
      </p:sp>
      <p:sp>
        <p:nvSpPr>
          <p:cNvPr id="24" name="Text 19"/>
          <p:cNvSpPr txBox="1"/>
          <p:nvPr/>
        </p:nvSpPr>
        <p:spPr>
          <a:xfrm>
            <a:off x="4643018"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敷地内の駐車スペース（台数・形）</a:t>
            </a:r>
            <a:endParaRPr lang="en-US" sz="1400" dirty="0"/>
          </a:p>
        </p:txBody>
      </p:sp>
      <p:sp>
        <p:nvSpPr>
          <p:cNvPr id="25" name="Shape 20"/>
          <p:cNvSpPr/>
          <p:nvPr/>
        </p:nvSpPr>
        <p:spPr>
          <a:xfrm>
            <a:off x="4643018" y="3675888"/>
            <a:ext cx="2905658" cy="0"/>
          </a:xfrm>
          <a:prstGeom prst="line">
            <a:avLst/>
          </a:prstGeom>
          <a:noFill/>
          <a:ln w="9525">
            <a:solidFill>
              <a:srgbClr val="DDE0E5"/>
            </a:solidFill>
            <a:prstDash val="solid"/>
          </a:ln>
        </p:spPr>
      </p:sp>
      <p:sp>
        <p:nvSpPr>
          <p:cNvPr id="26" name="Text 21"/>
          <p:cNvSpPr txBox="1"/>
          <p:nvPr/>
        </p:nvSpPr>
        <p:spPr>
          <a:xfrm>
            <a:off x="4643018"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前面道路の幅と出し入れのしやすさ</a:t>
            </a:r>
            <a:endParaRPr lang="en-US" sz="1400" dirty="0"/>
          </a:p>
        </p:txBody>
      </p:sp>
      <p:sp>
        <p:nvSpPr>
          <p:cNvPr id="27" name="Shape 22"/>
          <p:cNvSpPr/>
          <p:nvPr/>
        </p:nvSpPr>
        <p:spPr>
          <a:xfrm>
            <a:off x="4643018" y="4334256"/>
            <a:ext cx="2905658" cy="0"/>
          </a:xfrm>
          <a:prstGeom prst="line">
            <a:avLst/>
          </a:prstGeom>
          <a:noFill/>
          <a:ln w="9525">
            <a:solidFill>
              <a:srgbClr val="DDE0E5"/>
            </a:solidFill>
            <a:prstDash val="solid"/>
          </a:ln>
        </p:spPr>
      </p:sp>
      <p:sp>
        <p:nvSpPr>
          <p:cNvPr id="28" name="Text 23"/>
          <p:cNvSpPr txBox="1"/>
          <p:nvPr/>
        </p:nvSpPr>
        <p:spPr>
          <a:xfrm>
            <a:off x="4643018"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外の水栓・収納・作業スペース</a:t>
            </a:r>
            <a:endParaRPr lang="en-US" sz="1400" dirty="0"/>
          </a:p>
        </p:txBody>
      </p:sp>
      <p:sp>
        <p:nvSpPr>
          <p:cNvPr id="29" name="Shape 24"/>
          <p:cNvSpPr/>
          <p:nvPr/>
        </p:nvSpPr>
        <p:spPr>
          <a:xfrm>
            <a:off x="8097317" y="1600200"/>
            <a:ext cx="3454298" cy="3566160"/>
          </a:xfrm>
          <a:prstGeom prst="roundRect">
            <a:avLst>
              <a:gd name="adj" fmla="val 1588"/>
            </a:avLst>
          </a:prstGeom>
          <a:solidFill>
            <a:srgbClr val="FFFFFF"/>
          </a:solidFill>
          <a:ln w="9525">
            <a:solidFill>
              <a:srgbClr val="DDE0E5"/>
            </a:solidFill>
            <a:prstDash val="solid"/>
          </a:ln>
        </p:spPr>
      </p:sp>
      <p:sp>
        <p:nvSpPr>
          <p:cNvPr id="30" name="Shape 25"/>
          <p:cNvSpPr/>
          <p:nvPr/>
        </p:nvSpPr>
        <p:spPr>
          <a:xfrm>
            <a:off x="8371637" y="1828800"/>
            <a:ext cx="566928" cy="566928"/>
          </a:xfrm>
          <a:prstGeom prst="ellipse">
            <a:avLst/>
          </a:prstGeom>
          <a:solidFill>
            <a:srgbClr val="17233B"/>
          </a:solidFill>
          <a:ln w="12700">
            <a:solidFill>
              <a:srgbClr val="17233B"/>
            </a:solidFill>
            <a:prstDash val="solid"/>
          </a:ln>
        </p:spPr>
      </p:sp>
      <p:pic>
        <p:nvPicPr>
          <p:cNvPr id="31" name="Image 2" descr="preencoded.png">    </p:cNvPr>
          <p:cNvPicPr>
            <a:picLocks noChangeAspect="1"/>
          </p:cNvPicPr>
          <p:nvPr/>
        </p:nvPicPr>
        <p:blipFill>
          <a:blip r:embed="rId3"/>
          <a:stretch>
            <a:fillRect/>
          </a:stretch>
        </p:blipFill>
        <p:spPr>
          <a:xfrm>
            <a:off x="8513369" y="1970532"/>
            <a:ext cx="283464" cy="283464"/>
          </a:xfrm>
          <a:prstGeom prst="rect">
            <a:avLst/>
          </a:prstGeom>
        </p:spPr>
      </p:pic>
      <p:sp>
        <p:nvSpPr>
          <p:cNvPr id="32" name="Text 26"/>
          <p:cNvSpPr txBox="1"/>
          <p:nvPr/>
        </p:nvSpPr>
        <p:spPr>
          <a:xfrm>
            <a:off x="9057437"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ペットと暮らす派</a:t>
            </a:r>
            <a:endParaRPr lang="en-US" sz="1700" dirty="0"/>
          </a:p>
        </p:txBody>
      </p:sp>
      <p:sp>
        <p:nvSpPr>
          <p:cNvPr id="33" name="Text 27"/>
          <p:cNvSpPr txBox="1"/>
          <p:nvPr/>
        </p:nvSpPr>
        <p:spPr>
          <a:xfrm>
            <a:off x="9057437"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家族のように一緒に過ごしたい</a:t>
            </a:r>
            <a:endParaRPr lang="en-US" sz="1200" dirty="0"/>
          </a:p>
        </p:txBody>
      </p:sp>
      <p:sp>
        <p:nvSpPr>
          <p:cNvPr id="34" name="Text 28"/>
          <p:cNvSpPr txBox="1"/>
          <p:nvPr/>
        </p:nvSpPr>
        <p:spPr>
          <a:xfrm>
            <a:off x="8371637"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35" name="Shape 29"/>
          <p:cNvSpPr/>
          <p:nvPr/>
        </p:nvSpPr>
        <p:spPr>
          <a:xfrm>
            <a:off x="8371637" y="3017520"/>
            <a:ext cx="2905658" cy="0"/>
          </a:xfrm>
          <a:prstGeom prst="line">
            <a:avLst/>
          </a:prstGeom>
          <a:noFill/>
          <a:ln w="9525">
            <a:solidFill>
              <a:srgbClr val="DDE0E5"/>
            </a:solidFill>
            <a:prstDash val="solid"/>
          </a:ln>
        </p:spPr>
      </p:sp>
      <p:sp>
        <p:nvSpPr>
          <p:cNvPr id="36" name="Text 30"/>
          <p:cNvSpPr txBox="1"/>
          <p:nvPr/>
        </p:nvSpPr>
        <p:spPr>
          <a:xfrm>
            <a:off x="8371637"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庭・外の空間と周囲の環境</a:t>
            </a:r>
            <a:endParaRPr lang="en-US" sz="1400" dirty="0"/>
          </a:p>
        </p:txBody>
      </p:sp>
      <p:sp>
        <p:nvSpPr>
          <p:cNvPr id="37" name="Shape 31"/>
          <p:cNvSpPr/>
          <p:nvPr/>
        </p:nvSpPr>
        <p:spPr>
          <a:xfrm>
            <a:off x="8371637" y="3675888"/>
            <a:ext cx="2905658" cy="0"/>
          </a:xfrm>
          <a:prstGeom prst="line">
            <a:avLst/>
          </a:prstGeom>
          <a:noFill/>
          <a:ln w="9525">
            <a:solidFill>
              <a:srgbClr val="DDE0E5"/>
            </a:solidFill>
            <a:prstDash val="solid"/>
          </a:ln>
        </p:spPr>
      </p:sp>
      <p:sp>
        <p:nvSpPr>
          <p:cNvPr id="38" name="Text 32"/>
          <p:cNvSpPr txBox="1"/>
          <p:nvPr/>
        </p:nvSpPr>
        <p:spPr>
          <a:xfrm>
            <a:off x="8371637"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床・壁の素材（傷・におい対策）</a:t>
            </a:r>
            <a:endParaRPr lang="en-US" sz="1400" dirty="0"/>
          </a:p>
        </p:txBody>
      </p:sp>
      <p:sp>
        <p:nvSpPr>
          <p:cNvPr id="39" name="Shape 33"/>
          <p:cNvSpPr/>
          <p:nvPr/>
        </p:nvSpPr>
        <p:spPr>
          <a:xfrm>
            <a:off x="8371637" y="4334256"/>
            <a:ext cx="2905658" cy="0"/>
          </a:xfrm>
          <a:prstGeom prst="line">
            <a:avLst/>
          </a:prstGeom>
          <a:noFill/>
          <a:ln w="9525">
            <a:solidFill>
              <a:srgbClr val="DDE0E5"/>
            </a:solidFill>
            <a:prstDash val="solid"/>
          </a:ln>
        </p:spPr>
      </p:sp>
      <p:sp>
        <p:nvSpPr>
          <p:cNvPr id="40" name="Text 34"/>
          <p:cNvSpPr txBox="1"/>
          <p:nvPr/>
        </p:nvSpPr>
        <p:spPr>
          <a:xfrm>
            <a:off x="8371637"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動物病院・散歩道までの距離</a:t>
            </a:r>
            <a:endParaRPr lang="en-US" sz="1400" dirty="0"/>
          </a:p>
        </p:txBody>
      </p:sp>
      <p:sp>
        <p:nvSpPr>
          <p:cNvPr id="41" name="Shape 35"/>
          <p:cNvSpPr/>
          <p:nvPr/>
        </p:nvSpPr>
        <p:spPr>
          <a:xfrm>
            <a:off x="640080" y="5349240"/>
            <a:ext cx="10911535" cy="457200"/>
          </a:xfrm>
          <a:prstGeom prst="roundRect">
            <a:avLst>
              <a:gd name="adj" fmla="val 12000"/>
            </a:avLst>
          </a:prstGeom>
          <a:solidFill>
            <a:srgbClr val="17233B"/>
          </a:solidFill>
          <a:ln w="9525">
            <a:solidFill>
              <a:srgbClr val="17233B"/>
            </a:solidFill>
            <a:prstDash val="solid"/>
          </a:ln>
        </p:spPr>
      </p:sp>
      <p:sp>
        <p:nvSpPr>
          <p:cNvPr id="42" name="Text 36"/>
          <p:cNvSpPr txBox="1"/>
          <p:nvPr/>
        </p:nvSpPr>
        <p:spPr>
          <a:xfrm>
            <a:off x="914400" y="5349240"/>
            <a:ext cx="10362895" cy="45720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希望（P04）　→　物件の条件（このページ）　→　物件ごとの適合チェック（P23・シミュレーター）</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購入は、月々の返済だけで考えない。</a:t>
            </a:r>
            <a:endParaRPr lang="en-US" sz="3000" dirty="0"/>
          </a:p>
        </p:txBody>
      </p:sp>
      <p:sp>
        <p:nvSpPr>
          <p:cNvPr id="5" name="Shape 2"/>
          <p:cNvSpPr/>
          <p:nvPr/>
        </p:nvSpPr>
        <p:spPr>
          <a:xfrm>
            <a:off x="640080" y="1600200"/>
            <a:ext cx="3454298" cy="2971800"/>
          </a:xfrm>
          <a:prstGeom prst="roundRect">
            <a:avLst>
              <a:gd name="adj" fmla="val 1846"/>
            </a:avLst>
          </a:prstGeom>
          <a:solidFill>
            <a:srgbClr val="EEF0F3"/>
          </a:solidFill>
          <a:ln w="9525">
            <a:solidFill>
              <a:srgbClr val="EEF0F3"/>
            </a:solidFill>
            <a:prstDash val="solid"/>
          </a:ln>
        </p:spPr>
      </p:sp>
      <p:sp>
        <p:nvSpPr>
          <p:cNvPr id="6" name="Text 3"/>
          <p:cNvSpPr txBox="1"/>
          <p:nvPr/>
        </p:nvSpPr>
        <p:spPr>
          <a:xfrm>
            <a:off x="960120"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7" name="Text 4"/>
          <p:cNvSpPr txBox="1"/>
          <p:nvPr/>
        </p:nvSpPr>
        <p:spPr>
          <a:xfrm>
            <a:off x="1463040"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初期費用</a:t>
            </a:r>
            <a:endParaRPr lang="en-US" sz="1500" dirty="0"/>
          </a:p>
        </p:txBody>
      </p:sp>
      <p:sp>
        <p:nvSpPr>
          <p:cNvPr id="8" name="Text 5"/>
          <p:cNvSpPr txBox="1"/>
          <p:nvPr/>
        </p:nvSpPr>
        <p:spPr>
          <a:xfrm>
            <a:off x="960120"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545万円</a:t>
            </a:r>
            <a:endParaRPr lang="en-US" sz="4000" dirty="0"/>
          </a:p>
        </p:txBody>
      </p:sp>
      <p:sp>
        <p:nvSpPr>
          <p:cNvPr id="9" name="Shape 6"/>
          <p:cNvSpPr/>
          <p:nvPr/>
        </p:nvSpPr>
        <p:spPr>
          <a:xfrm>
            <a:off x="960120" y="3246120"/>
            <a:ext cx="2814218" cy="0"/>
          </a:xfrm>
          <a:prstGeom prst="line">
            <a:avLst/>
          </a:prstGeom>
          <a:noFill/>
          <a:ln w="9525">
            <a:solidFill>
              <a:srgbClr val="DDE0E5"/>
            </a:solidFill>
            <a:prstDash val="solid"/>
          </a:ln>
        </p:spPr>
      </p:sp>
      <p:sp>
        <p:nvSpPr>
          <p:cNvPr id="10" name="Text 7"/>
          <p:cNvSpPr txBox="1"/>
          <p:nvPr/>
        </p:nvSpPr>
        <p:spPr>
          <a:xfrm>
            <a:off x="960120"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頭金</a:t>
            </a:r>
            <a:endParaRPr lang="en-US" sz="1200" dirty="0"/>
          </a:p>
        </p:txBody>
      </p:sp>
      <p:sp>
        <p:nvSpPr>
          <p:cNvPr id="11" name="Text 8"/>
          <p:cNvSpPr txBox="1"/>
          <p:nvPr/>
        </p:nvSpPr>
        <p:spPr>
          <a:xfrm>
            <a:off x="2585618"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300万円</a:t>
            </a:r>
            <a:endParaRPr lang="en-US" sz="1400" dirty="0"/>
          </a:p>
        </p:txBody>
      </p:sp>
      <p:sp>
        <p:nvSpPr>
          <p:cNvPr id="12" name="Shape 9"/>
          <p:cNvSpPr/>
          <p:nvPr/>
        </p:nvSpPr>
        <p:spPr>
          <a:xfrm>
            <a:off x="960120" y="3813048"/>
            <a:ext cx="2814218" cy="0"/>
          </a:xfrm>
          <a:prstGeom prst="line">
            <a:avLst/>
          </a:prstGeom>
          <a:noFill/>
          <a:ln w="9525">
            <a:solidFill>
              <a:srgbClr val="DDE0E5"/>
            </a:solidFill>
            <a:prstDash val="solid"/>
          </a:ln>
        </p:spPr>
      </p:sp>
      <p:sp>
        <p:nvSpPr>
          <p:cNvPr id="13" name="Text 10"/>
          <p:cNvSpPr txBox="1"/>
          <p:nvPr/>
        </p:nvSpPr>
        <p:spPr>
          <a:xfrm>
            <a:off x="960120"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購入諸費用（物件価格の7%と仮定）</a:t>
            </a:r>
            <a:endParaRPr lang="en-US" sz="1200" dirty="0"/>
          </a:p>
        </p:txBody>
      </p:sp>
      <p:sp>
        <p:nvSpPr>
          <p:cNvPr id="14" name="Text 11"/>
          <p:cNvSpPr txBox="1"/>
          <p:nvPr/>
        </p:nvSpPr>
        <p:spPr>
          <a:xfrm>
            <a:off x="2585618"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245万円</a:t>
            </a:r>
            <a:endParaRPr lang="en-US" sz="1400" dirty="0"/>
          </a:p>
        </p:txBody>
      </p:sp>
      <p:sp>
        <p:nvSpPr>
          <p:cNvPr id="15" name="Shape 12"/>
          <p:cNvSpPr/>
          <p:nvPr/>
        </p:nvSpPr>
        <p:spPr>
          <a:xfrm>
            <a:off x="4368698" y="1600200"/>
            <a:ext cx="3454298" cy="2971800"/>
          </a:xfrm>
          <a:prstGeom prst="roundRect">
            <a:avLst>
              <a:gd name="adj" fmla="val 1846"/>
            </a:avLst>
          </a:prstGeom>
          <a:solidFill>
            <a:srgbClr val="EEF0F3"/>
          </a:solidFill>
          <a:ln w="9525">
            <a:solidFill>
              <a:srgbClr val="EEF0F3"/>
            </a:solidFill>
            <a:prstDash val="solid"/>
          </a:ln>
        </p:spPr>
      </p:sp>
      <p:sp>
        <p:nvSpPr>
          <p:cNvPr id="16" name="Text 13"/>
          <p:cNvSpPr txBox="1"/>
          <p:nvPr/>
        </p:nvSpPr>
        <p:spPr>
          <a:xfrm>
            <a:off x="4688738"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7" name="Text 14"/>
          <p:cNvSpPr txBox="1"/>
          <p:nvPr/>
        </p:nvSpPr>
        <p:spPr>
          <a:xfrm>
            <a:off x="5191658"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毎月の住居費</a:t>
            </a:r>
            <a:endParaRPr lang="en-US" sz="1500" dirty="0"/>
          </a:p>
        </p:txBody>
      </p:sp>
      <p:sp>
        <p:nvSpPr>
          <p:cNvPr id="18" name="Text 15"/>
          <p:cNvSpPr txBox="1"/>
          <p:nvPr/>
        </p:nvSpPr>
        <p:spPr>
          <a:xfrm>
            <a:off x="4688738"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12.5万円</a:t>
            </a:r>
            <a:endParaRPr lang="en-US" sz="4000" dirty="0"/>
          </a:p>
        </p:txBody>
      </p:sp>
      <p:sp>
        <p:nvSpPr>
          <p:cNvPr id="19" name="Shape 16"/>
          <p:cNvSpPr/>
          <p:nvPr/>
        </p:nvSpPr>
        <p:spPr>
          <a:xfrm>
            <a:off x="4688738" y="3246120"/>
            <a:ext cx="2814218" cy="0"/>
          </a:xfrm>
          <a:prstGeom prst="line">
            <a:avLst/>
          </a:prstGeom>
          <a:noFill/>
          <a:ln w="9525">
            <a:solidFill>
              <a:srgbClr val="DDE0E5"/>
            </a:solidFill>
            <a:prstDash val="solid"/>
          </a:ln>
        </p:spPr>
      </p:sp>
      <p:sp>
        <p:nvSpPr>
          <p:cNvPr id="20" name="Text 17"/>
          <p:cNvSpPr txBox="1"/>
          <p:nvPr/>
        </p:nvSpPr>
        <p:spPr>
          <a:xfrm>
            <a:off x="4688738"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ローン返済</a:t>
            </a:r>
            <a:endParaRPr lang="en-US" sz="1200" dirty="0"/>
          </a:p>
        </p:txBody>
      </p:sp>
      <p:sp>
        <p:nvSpPr>
          <p:cNvPr id="21" name="Text 18"/>
          <p:cNvSpPr txBox="1"/>
          <p:nvPr/>
        </p:nvSpPr>
        <p:spPr>
          <a:xfrm>
            <a:off x="6314237"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97,979円</a:t>
            </a:r>
            <a:endParaRPr lang="en-US" sz="1400" dirty="0"/>
          </a:p>
        </p:txBody>
      </p:sp>
      <p:sp>
        <p:nvSpPr>
          <p:cNvPr id="22" name="Shape 19"/>
          <p:cNvSpPr/>
          <p:nvPr/>
        </p:nvSpPr>
        <p:spPr>
          <a:xfrm>
            <a:off x="4688738" y="3813048"/>
            <a:ext cx="2814218" cy="0"/>
          </a:xfrm>
          <a:prstGeom prst="line">
            <a:avLst/>
          </a:prstGeom>
          <a:noFill/>
          <a:ln w="9525">
            <a:solidFill>
              <a:srgbClr val="DDE0E5"/>
            </a:solidFill>
            <a:prstDash val="solid"/>
          </a:ln>
        </p:spPr>
      </p:sp>
      <p:sp>
        <p:nvSpPr>
          <p:cNvPr id="23" name="Text 20"/>
          <p:cNvSpPr txBox="1"/>
          <p:nvPr/>
        </p:nvSpPr>
        <p:spPr>
          <a:xfrm>
            <a:off x="4688738"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固定資産税等・保険・修繕積立</a:t>
            </a:r>
            <a:endParaRPr lang="en-US" sz="1200" dirty="0"/>
          </a:p>
        </p:txBody>
      </p:sp>
      <p:sp>
        <p:nvSpPr>
          <p:cNvPr id="24" name="Text 21"/>
          <p:cNvSpPr txBox="1"/>
          <p:nvPr/>
        </p:nvSpPr>
        <p:spPr>
          <a:xfrm>
            <a:off x="6314237"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27,500円</a:t>
            </a:r>
            <a:endParaRPr lang="en-US" sz="1400" dirty="0"/>
          </a:p>
        </p:txBody>
      </p:sp>
      <p:sp>
        <p:nvSpPr>
          <p:cNvPr id="25" name="Shape 22"/>
          <p:cNvSpPr/>
          <p:nvPr/>
        </p:nvSpPr>
        <p:spPr>
          <a:xfrm>
            <a:off x="8097317" y="1600200"/>
            <a:ext cx="3454298" cy="2971800"/>
          </a:xfrm>
          <a:prstGeom prst="roundRect">
            <a:avLst>
              <a:gd name="adj" fmla="val 1846"/>
            </a:avLst>
          </a:prstGeom>
          <a:solidFill>
            <a:srgbClr val="F7F4EE"/>
          </a:solidFill>
          <a:ln w="9525">
            <a:solidFill>
              <a:srgbClr val="F7F4EE"/>
            </a:solidFill>
            <a:prstDash val="solid"/>
          </a:ln>
        </p:spPr>
      </p:sp>
      <p:sp>
        <p:nvSpPr>
          <p:cNvPr id="26" name="Text 23"/>
          <p:cNvSpPr txBox="1"/>
          <p:nvPr/>
        </p:nvSpPr>
        <p:spPr>
          <a:xfrm>
            <a:off x="8417357"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7" name="Text 24"/>
          <p:cNvSpPr txBox="1"/>
          <p:nvPr/>
        </p:nvSpPr>
        <p:spPr>
          <a:xfrm>
            <a:off x="8920277"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購入後の手元資金</a:t>
            </a:r>
            <a:endParaRPr lang="en-US" sz="1500" dirty="0"/>
          </a:p>
        </p:txBody>
      </p:sp>
      <p:sp>
        <p:nvSpPr>
          <p:cNvPr id="28" name="Text 25"/>
          <p:cNvSpPr txBox="1"/>
          <p:nvPr/>
        </p:nvSpPr>
        <p:spPr>
          <a:xfrm>
            <a:off x="8417357" y="2240280"/>
            <a:ext cx="2814218" cy="822960"/>
          </a:xfrm>
          <a:prstGeom prst="rect">
            <a:avLst/>
          </a:prstGeom>
          <a:noFill/>
          <a:ln/>
        </p:spPr>
        <p:txBody>
          <a:bodyPr wrap="square" lIns="0" tIns="0" rIns="0" bIns="0" rtlCol="0" anchor="t"/>
          <a:lstStyle/>
          <a:p>
            <a:pPr indent="0" marL="0">
              <a:buNone/>
            </a:pPr>
            <a:r>
              <a:rPr lang="en-US" sz="4000" b="1" dirty="0">
                <a:solidFill>
                  <a:srgbClr val="9E4B3B"/>
                </a:solidFill>
                <a:latin typeface="Yu Gothic" pitchFamily="34" charset="0"/>
                <a:ea typeface="Yu Gothic" pitchFamily="34" charset="-122"/>
                <a:cs typeface="Yu Gothic" pitchFamily="34" charset="-120"/>
              </a:rPr>
              <a:t>55万円</a:t>
            </a:r>
            <a:endParaRPr lang="en-US" sz="4000" dirty="0"/>
          </a:p>
        </p:txBody>
      </p:sp>
      <p:sp>
        <p:nvSpPr>
          <p:cNvPr id="29" name="Shape 26"/>
          <p:cNvSpPr/>
          <p:nvPr/>
        </p:nvSpPr>
        <p:spPr>
          <a:xfrm>
            <a:off x="8417357" y="3246120"/>
            <a:ext cx="2814218" cy="0"/>
          </a:xfrm>
          <a:prstGeom prst="line">
            <a:avLst/>
          </a:prstGeom>
          <a:noFill/>
          <a:ln w="9525">
            <a:solidFill>
              <a:srgbClr val="DDE0E5"/>
            </a:solidFill>
            <a:prstDash val="solid"/>
          </a:ln>
        </p:spPr>
      </p:sp>
      <p:sp>
        <p:nvSpPr>
          <p:cNvPr id="30" name="Text 27"/>
          <p:cNvSpPr txBox="1"/>
          <p:nvPr/>
        </p:nvSpPr>
        <p:spPr>
          <a:xfrm>
            <a:off x="8417357"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預貯金</a:t>
            </a:r>
            <a:endParaRPr lang="en-US" sz="1200" dirty="0"/>
          </a:p>
        </p:txBody>
      </p:sp>
      <p:sp>
        <p:nvSpPr>
          <p:cNvPr id="31" name="Text 28"/>
          <p:cNvSpPr txBox="1"/>
          <p:nvPr/>
        </p:nvSpPr>
        <p:spPr>
          <a:xfrm>
            <a:off x="10042855"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600万円</a:t>
            </a:r>
            <a:endParaRPr lang="en-US" sz="1400" dirty="0"/>
          </a:p>
        </p:txBody>
      </p:sp>
      <p:sp>
        <p:nvSpPr>
          <p:cNvPr id="32" name="Shape 29"/>
          <p:cNvSpPr/>
          <p:nvPr/>
        </p:nvSpPr>
        <p:spPr>
          <a:xfrm>
            <a:off x="8417357" y="3813048"/>
            <a:ext cx="2814218" cy="0"/>
          </a:xfrm>
          <a:prstGeom prst="line">
            <a:avLst/>
          </a:prstGeom>
          <a:noFill/>
          <a:ln w="9525">
            <a:solidFill>
              <a:srgbClr val="DDE0E5"/>
            </a:solidFill>
            <a:prstDash val="solid"/>
          </a:ln>
        </p:spPr>
      </p:sp>
      <p:sp>
        <p:nvSpPr>
          <p:cNvPr id="33" name="Text 30"/>
          <p:cNvSpPr txBox="1"/>
          <p:nvPr/>
        </p:nvSpPr>
        <p:spPr>
          <a:xfrm>
            <a:off x="8417357"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予備資金の目安（生活費6か月）</a:t>
            </a:r>
            <a:endParaRPr lang="en-US" sz="1200" dirty="0"/>
          </a:p>
        </p:txBody>
      </p:sp>
      <p:sp>
        <p:nvSpPr>
          <p:cNvPr id="34" name="Text 31"/>
          <p:cNvSpPr txBox="1"/>
          <p:nvPr/>
        </p:nvSpPr>
        <p:spPr>
          <a:xfrm>
            <a:off x="10042855"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147万円</a:t>
            </a:r>
            <a:endParaRPr lang="en-US" sz="1400" dirty="0"/>
          </a:p>
        </p:txBody>
      </p:sp>
      <p:sp>
        <p:nvSpPr>
          <p:cNvPr id="35" name="Shape 32"/>
          <p:cNvSpPr/>
          <p:nvPr/>
        </p:nvSpPr>
        <p:spPr>
          <a:xfrm>
            <a:off x="640080" y="4800600"/>
            <a:ext cx="10911535" cy="960120"/>
          </a:xfrm>
          <a:prstGeom prst="roundRect">
            <a:avLst>
              <a:gd name="adj" fmla="val 5714"/>
            </a:avLst>
          </a:prstGeom>
          <a:solidFill>
            <a:srgbClr val="17233B"/>
          </a:solidFill>
          <a:ln w="9525">
            <a:solidFill>
              <a:srgbClr val="17233B"/>
            </a:solidFill>
            <a:prstDash val="solid"/>
          </a:ln>
        </p:spPr>
      </p:sp>
      <p:pic>
        <p:nvPicPr>
          <p:cNvPr id="36" name="Image 0" descr="preencoded.png">    </p:cNvPr>
          <p:cNvPicPr>
            <a:picLocks noChangeAspect="1"/>
          </p:cNvPicPr>
          <p:nvPr/>
        </p:nvPicPr>
        <p:blipFill>
          <a:blip r:embed="rId1"/>
          <a:stretch>
            <a:fillRect/>
          </a:stretch>
        </p:blipFill>
        <p:spPr>
          <a:xfrm>
            <a:off x="960120" y="5001768"/>
            <a:ext cx="548640" cy="548640"/>
          </a:xfrm>
          <a:prstGeom prst="rect">
            <a:avLst/>
          </a:prstGeom>
        </p:spPr>
      </p:pic>
      <p:sp>
        <p:nvSpPr>
          <p:cNvPr id="37" name="Text 33"/>
          <p:cNvSpPr txBox="1"/>
          <p:nvPr/>
        </p:nvSpPr>
        <p:spPr>
          <a:xfrm>
            <a:off x="1737360" y="4864608"/>
            <a:ext cx="3840480" cy="36576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見直し案：頭金を100万円にすると</a:t>
            </a:r>
            <a:endParaRPr lang="en-US" sz="1300" dirty="0"/>
          </a:p>
        </p:txBody>
      </p:sp>
      <p:sp>
        <p:nvSpPr>
          <p:cNvPr id="38" name="Text 34"/>
          <p:cNvSpPr txBox="1"/>
          <p:nvPr/>
        </p:nvSpPr>
        <p:spPr>
          <a:xfrm>
            <a:off x="1737360" y="5212080"/>
            <a:ext cx="9539935" cy="411480"/>
          </a:xfrm>
          <a:prstGeom prst="rect">
            <a:avLst/>
          </a:prstGeom>
          <a:noFill/>
          <a:ln/>
        </p:spPr>
        <p:txBody>
          <a:bodyPr wrap="square" lIns="0" tIns="0" rIns="0" bIns="0" rtlCol="0" anchor="t"/>
          <a:lstStyle/>
          <a:p>
            <a:pPr indent="0" marL="0">
              <a:buNone/>
            </a:pPr>
            <a:r>
              <a:rPr lang="en-US" sz="1600" b="1" dirty="0">
                <a:solidFill>
                  <a:srgbClr val="FFFFFF"/>
                </a:solidFill>
                <a:latin typeface="Yu Gothic" pitchFamily="34" charset="0"/>
                <a:ea typeface="Yu Gothic" pitchFamily="34" charset="-122"/>
                <a:cs typeface="Yu Gothic" pitchFamily="34" charset="-120"/>
              </a:rPr>
              <a:t>手元資金 255万円（予備資金の目安をおおむね確保）／毎月の返済 104,103円（＋6,124円）</a:t>
            </a:r>
            <a:endParaRPr lang="en-US" sz="1600" dirty="0"/>
          </a:p>
        </p:txBody>
      </p:sp>
      <p:sp>
        <p:nvSpPr>
          <p:cNvPr id="39"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サンプル条件（架空）：新築3,500万円・頭金300万円・借入3,200万円・年利1.5%（試算用の仮定）・35年・元利均等。固定資産税等 年12万円・保険 年3万円・修繕積立 月1.5万円・生活費（住居費以外）月12万円は仮定値。</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賃貸と戸建て、支出はどう変わる？</a:t>
            </a:r>
            <a:endParaRPr lang="en-US" sz="3000" dirty="0"/>
          </a:p>
        </p:txBody>
      </p:sp>
      <p:sp>
        <p:nvSpPr>
          <p:cNvPr id="5" name="Text 2"/>
          <p:cNvSpPr txBox="1"/>
          <p:nvPr/>
        </p:nvSpPr>
        <p:spPr>
          <a:xfrm>
            <a:off x="640080" y="178308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今の賃貸（約40㎡と仮定）</a:t>
            </a:r>
            <a:endParaRPr lang="en-US" sz="1400" dirty="0"/>
          </a:p>
        </p:txBody>
      </p:sp>
      <p:sp>
        <p:nvSpPr>
          <p:cNvPr id="6" name="Shape 3"/>
          <p:cNvSpPr/>
          <p:nvPr/>
        </p:nvSpPr>
        <p:spPr>
          <a:xfrm>
            <a:off x="4023360" y="1828800"/>
            <a:ext cx="4180114" cy="411480"/>
          </a:xfrm>
          <a:prstGeom prst="rect">
            <a:avLst/>
          </a:prstGeom>
          <a:solidFill>
            <a:srgbClr val="17233B"/>
          </a:solidFill>
          <a:ln w="12700">
            <a:solidFill>
              <a:srgbClr val="17233B"/>
            </a:solidFill>
            <a:prstDash val="solid"/>
          </a:ln>
        </p:spPr>
      </p:sp>
      <p:sp>
        <p:nvSpPr>
          <p:cNvPr id="7" name="Shape 4"/>
          <p:cNvSpPr/>
          <p:nvPr/>
        </p:nvSpPr>
        <p:spPr>
          <a:xfrm>
            <a:off x="8203474" y="1828800"/>
            <a:ext cx="69669" cy="411480"/>
          </a:xfrm>
          <a:prstGeom prst="rect">
            <a:avLst/>
          </a:prstGeom>
          <a:solidFill>
            <a:srgbClr val="8C99AD"/>
          </a:solidFill>
          <a:ln w="12700">
            <a:solidFill>
              <a:srgbClr val="8C99AD"/>
            </a:solidFill>
            <a:prstDash val="solid"/>
          </a:ln>
        </p:spPr>
      </p:sp>
      <p:sp>
        <p:nvSpPr>
          <p:cNvPr id="8" name="Shape 5"/>
          <p:cNvSpPr/>
          <p:nvPr/>
        </p:nvSpPr>
        <p:spPr>
          <a:xfrm>
            <a:off x="8273143" y="1828800"/>
            <a:ext cx="174171" cy="411480"/>
          </a:xfrm>
          <a:prstGeom prst="rect">
            <a:avLst/>
          </a:prstGeom>
          <a:solidFill>
            <a:srgbClr val="B89B6A"/>
          </a:solidFill>
          <a:ln w="12700">
            <a:solidFill>
              <a:srgbClr val="B89B6A"/>
            </a:solidFill>
            <a:prstDash val="solid"/>
          </a:ln>
        </p:spPr>
      </p:sp>
      <p:sp>
        <p:nvSpPr>
          <p:cNvPr id="9" name="Text 6"/>
          <p:cNvSpPr txBox="1"/>
          <p:nvPr/>
        </p:nvSpPr>
        <p:spPr>
          <a:xfrm>
            <a:off x="8584474" y="178308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10.6万円</a:t>
            </a:r>
            <a:endParaRPr lang="en-US" sz="1800" dirty="0"/>
          </a:p>
        </p:txBody>
      </p:sp>
      <p:sp>
        <p:nvSpPr>
          <p:cNvPr id="10" name="Text 7"/>
          <p:cNvSpPr txBox="1"/>
          <p:nvPr/>
        </p:nvSpPr>
        <p:spPr>
          <a:xfrm>
            <a:off x="640080" y="269748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分譲マンション（3,000万円と仮定）</a:t>
            </a:r>
            <a:endParaRPr lang="en-US" sz="1400" dirty="0"/>
          </a:p>
        </p:txBody>
      </p:sp>
      <p:sp>
        <p:nvSpPr>
          <p:cNvPr id="11" name="Shape 8"/>
          <p:cNvSpPr/>
          <p:nvPr/>
        </p:nvSpPr>
        <p:spPr>
          <a:xfrm>
            <a:off x="4023360" y="2743200"/>
            <a:ext cx="3455692" cy="411480"/>
          </a:xfrm>
          <a:prstGeom prst="rect">
            <a:avLst/>
          </a:prstGeom>
          <a:solidFill>
            <a:srgbClr val="17233B"/>
          </a:solidFill>
          <a:ln w="12700">
            <a:solidFill>
              <a:srgbClr val="17233B"/>
            </a:solidFill>
            <a:prstDash val="solid"/>
          </a:ln>
        </p:spPr>
      </p:sp>
      <p:sp>
        <p:nvSpPr>
          <p:cNvPr id="12" name="Shape 9"/>
          <p:cNvSpPr/>
          <p:nvPr/>
        </p:nvSpPr>
        <p:spPr>
          <a:xfrm>
            <a:off x="7479052" y="2743200"/>
            <a:ext cx="400594" cy="411480"/>
          </a:xfrm>
          <a:prstGeom prst="rect">
            <a:avLst/>
          </a:prstGeom>
          <a:solidFill>
            <a:srgbClr val="8C99AD"/>
          </a:solidFill>
          <a:ln w="12700">
            <a:solidFill>
              <a:srgbClr val="8C99AD"/>
            </a:solidFill>
            <a:prstDash val="solid"/>
          </a:ln>
        </p:spPr>
      </p:sp>
      <p:sp>
        <p:nvSpPr>
          <p:cNvPr id="13" name="Shape 10"/>
          <p:cNvSpPr/>
          <p:nvPr/>
        </p:nvSpPr>
        <p:spPr>
          <a:xfrm>
            <a:off x="7879646" y="2743200"/>
            <a:ext cx="1463040" cy="411480"/>
          </a:xfrm>
          <a:prstGeom prst="rect">
            <a:avLst/>
          </a:prstGeom>
          <a:solidFill>
            <a:srgbClr val="C9CED6"/>
          </a:solidFill>
          <a:ln w="12700">
            <a:solidFill>
              <a:srgbClr val="C9CED6"/>
            </a:solidFill>
            <a:prstDash val="solid"/>
          </a:ln>
        </p:spPr>
      </p:sp>
      <p:sp>
        <p:nvSpPr>
          <p:cNvPr id="14" name="Text 11"/>
          <p:cNvSpPr txBox="1"/>
          <p:nvPr/>
        </p:nvSpPr>
        <p:spPr>
          <a:xfrm>
            <a:off x="9479846" y="269748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12.7万円</a:t>
            </a:r>
            <a:endParaRPr lang="en-US" sz="1800" dirty="0"/>
          </a:p>
        </p:txBody>
      </p:sp>
      <p:sp>
        <p:nvSpPr>
          <p:cNvPr id="15" name="Text 12"/>
          <p:cNvSpPr txBox="1"/>
          <p:nvPr/>
        </p:nvSpPr>
        <p:spPr>
          <a:xfrm>
            <a:off x="640080" y="361188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新築戸建て（本件サンプル）</a:t>
            </a:r>
            <a:endParaRPr lang="en-US" sz="1400" dirty="0"/>
          </a:p>
        </p:txBody>
      </p:sp>
      <p:sp>
        <p:nvSpPr>
          <p:cNvPr id="16" name="Shape 13"/>
          <p:cNvSpPr/>
          <p:nvPr/>
        </p:nvSpPr>
        <p:spPr>
          <a:xfrm>
            <a:off x="4023360" y="3657600"/>
            <a:ext cx="4095635" cy="411480"/>
          </a:xfrm>
          <a:prstGeom prst="rect">
            <a:avLst/>
          </a:prstGeom>
          <a:solidFill>
            <a:srgbClr val="17233B"/>
          </a:solidFill>
          <a:ln w="12700">
            <a:solidFill>
              <a:srgbClr val="17233B"/>
            </a:solidFill>
            <a:prstDash val="solid"/>
          </a:ln>
        </p:spPr>
      </p:sp>
      <p:sp>
        <p:nvSpPr>
          <p:cNvPr id="17" name="Shape 14"/>
          <p:cNvSpPr/>
          <p:nvPr/>
        </p:nvSpPr>
        <p:spPr>
          <a:xfrm>
            <a:off x="8118995" y="3657600"/>
            <a:ext cx="522514" cy="411480"/>
          </a:xfrm>
          <a:prstGeom prst="rect">
            <a:avLst/>
          </a:prstGeom>
          <a:solidFill>
            <a:srgbClr val="8C99AD"/>
          </a:solidFill>
          <a:ln w="12700">
            <a:solidFill>
              <a:srgbClr val="8C99AD"/>
            </a:solidFill>
            <a:prstDash val="solid"/>
          </a:ln>
        </p:spPr>
      </p:sp>
      <p:sp>
        <p:nvSpPr>
          <p:cNvPr id="18" name="Shape 15"/>
          <p:cNvSpPr/>
          <p:nvPr/>
        </p:nvSpPr>
        <p:spPr>
          <a:xfrm>
            <a:off x="8641509" y="3657600"/>
            <a:ext cx="627017" cy="411480"/>
          </a:xfrm>
          <a:prstGeom prst="rect">
            <a:avLst/>
          </a:prstGeom>
          <a:solidFill>
            <a:srgbClr val="B89B6A"/>
          </a:solidFill>
          <a:ln w="12700">
            <a:solidFill>
              <a:srgbClr val="B89B6A"/>
            </a:solidFill>
            <a:prstDash val="solid"/>
          </a:ln>
        </p:spPr>
      </p:sp>
      <p:sp>
        <p:nvSpPr>
          <p:cNvPr id="19" name="Text 16"/>
          <p:cNvSpPr txBox="1"/>
          <p:nvPr/>
        </p:nvSpPr>
        <p:spPr>
          <a:xfrm>
            <a:off x="9405686" y="361188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12.5万円</a:t>
            </a:r>
            <a:endParaRPr lang="en-US" sz="1800" dirty="0"/>
          </a:p>
        </p:txBody>
      </p:sp>
      <p:sp>
        <p:nvSpPr>
          <p:cNvPr id="20" name="Text 17"/>
          <p:cNvSpPr txBox="1"/>
          <p:nvPr/>
        </p:nvSpPr>
        <p:spPr>
          <a:xfrm>
            <a:off x="640080" y="452628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中古戸建て（本件サンプル）</a:t>
            </a:r>
            <a:endParaRPr lang="en-US" sz="1400" dirty="0"/>
          </a:p>
        </p:txBody>
      </p:sp>
      <p:sp>
        <p:nvSpPr>
          <p:cNvPr id="21" name="Shape 18"/>
          <p:cNvSpPr/>
          <p:nvPr/>
        </p:nvSpPr>
        <p:spPr>
          <a:xfrm>
            <a:off x="4023360" y="4572000"/>
            <a:ext cx="2815749" cy="411480"/>
          </a:xfrm>
          <a:prstGeom prst="rect">
            <a:avLst/>
          </a:prstGeom>
          <a:solidFill>
            <a:srgbClr val="17233B"/>
          </a:solidFill>
          <a:ln w="12700">
            <a:solidFill>
              <a:srgbClr val="17233B"/>
            </a:solidFill>
            <a:prstDash val="solid"/>
          </a:ln>
        </p:spPr>
      </p:sp>
      <p:sp>
        <p:nvSpPr>
          <p:cNvPr id="22" name="Shape 19"/>
          <p:cNvSpPr/>
          <p:nvPr/>
        </p:nvSpPr>
        <p:spPr>
          <a:xfrm>
            <a:off x="6839109" y="4572000"/>
            <a:ext cx="418011" cy="411480"/>
          </a:xfrm>
          <a:prstGeom prst="rect">
            <a:avLst/>
          </a:prstGeom>
          <a:solidFill>
            <a:srgbClr val="8C99AD"/>
          </a:solidFill>
          <a:ln w="12700">
            <a:solidFill>
              <a:srgbClr val="8C99AD"/>
            </a:solidFill>
            <a:prstDash val="solid"/>
          </a:ln>
        </p:spPr>
      </p:sp>
      <p:sp>
        <p:nvSpPr>
          <p:cNvPr id="23" name="Shape 20"/>
          <p:cNvSpPr/>
          <p:nvPr/>
        </p:nvSpPr>
        <p:spPr>
          <a:xfrm>
            <a:off x="7257121" y="4572000"/>
            <a:ext cx="1045029" cy="411480"/>
          </a:xfrm>
          <a:prstGeom prst="rect">
            <a:avLst/>
          </a:prstGeom>
          <a:solidFill>
            <a:srgbClr val="B89B6A"/>
          </a:solidFill>
          <a:ln w="12700">
            <a:solidFill>
              <a:srgbClr val="B89B6A"/>
            </a:solidFill>
            <a:prstDash val="solid"/>
          </a:ln>
        </p:spPr>
      </p:sp>
      <p:sp>
        <p:nvSpPr>
          <p:cNvPr id="24" name="Text 21"/>
          <p:cNvSpPr txBox="1"/>
          <p:nvPr/>
        </p:nvSpPr>
        <p:spPr>
          <a:xfrm>
            <a:off x="8439309" y="452628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10.2万円</a:t>
            </a:r>
            <a:endParaRPr lang="en-US" sz="1800" dirty="0"/>
          </a:p>
        </p:txBody>
      </p:sp>
      <p:sp>
        <p:nvSpPr>
          <p:cNvPr id="25" name="Shape 22"/>
          <p:cNvSpPr/>
          <p:nvPr/>
        </p:nvSpPr>
        <p:spPr>
          <a:xfrm>
            <a:off x="4023360" y="5486400"/>
            <a:ext cx="182880" cy="182880"/>
          </a:xfrm>
          <a:prstGeom prst="rect">
            <a:avLst/>
          </a:prstGeom>
          <a:solidFill>
            <a:srgbClr val="17233B"/>
          </a:solidFill>
          <a:ln w="12700">
            <a:solidFill>
              <a:srgbClr val="17233B"/>
            </a:solidFill>
            <a:prstDash val="solid"/>
          </a:ln>
        </p:spPr>
      </p:sp>
      <p:sp>
        <p:nvSpPr>
          <p:cNvPr id="26" name="Text 23"/>
          <p:cNvSpPr txBox="1"/>
          <p:nvPr/>
        </p:nvSpPr>
        <p:spPr>
          <a:xfrm>
            <a:off x="4279392" y="5440680"/>
            <a:ext cx="123444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家賃・ローン返済</a:t>
            </a:r>
            <a:endParaRPr lang="en-US" sz="1000" dirty="0"/>
          </a:p>
        </p:txBody>
      </p:sp>
      <p:sp>
        <p:nvSpPr>
          <p:cNvPr id="27" name="Shape 24"/>
          <p:cNvSpPr/>
          <p:nvPr/>
        </p:nvSpPr>
        <p:spPr>
          <a:xfrm>
            <a:off x="5532120" y="5486400"/>
            <a:ext cx="182880" cy="182880"/>
          </a:xfrm>
          <a:prstGeom prst="rect">
            <a:avLst/>
          </a:prstGeom>
          <a:solidFill>
            <a:srgbClr val="8C99AD"/>
          </a:solidFill>
          <a:ln w="12700">
            <a:solidFill>
              <a:srgbClr val="8C99AD"/>
            </a:solidFill>
            <a:prstDash val="solid"/>
          </a:ln>
        </p:spPr>
      </p:sp>
      <p:sp>
        <p:nvSpPr>
          <p:cNvPr id="28" name="Text 25"/>
          <p:cNvSpPr txBox="1"/>
          <p:nvPr/>
        </p:nvSpPr>
        <p:spPr>
          <a:xfrm>
            <a:off x="5788152" y="5440680"/>
            <a:ext cx="123444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税金・保険</a:t>
            </a:r>
            <a:endParaRPr lang="en-US" sz="1000" dirty="0"/>
          </a:p>
        </p:txBody>
      </p:sp>
      <p:sp>
        <p:nvSpPr>
          <p:cNvPr id="29" name="Shape 26"/>
          <p:cNvSpPr/>
          <p:nvPr/>
        </p:nvSpPr>
        <p:spPr>
          <a:xfrm>
            <a:off x="7040880" y="5486400"/>
            <a:ext cx="182880" cy="182880"/>
          </a:xfrm>
          <a:prstGeom prst="rect">
            <a:avLst/>
          </a:prstGeom>
          <a:solidFill>
            <a:srgbClr val="B89B6A"/>
          </a:solidFill>
          <a:ln w="12700">
            <a:solidFill>
              <a:srgbClr val="B89B6A"/>
            </a:solidFill>
            <a:prstDash val="solid"/>
          </a:ln>
        </p:spPr>
      </p:sp>
      <p:sp>
        <p:nvSpPr>
          <p:cNvPr id="30" name="Text 27"/>
          <p:cNvSpPr txBox="1"/>
          <p:nvPr/>
        </p:nvSpPr>
        <p:spPr>
          <a:xfrm>
            <a:off x="7296912" y="5440680"/>
            <a:ext cx="123444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修繕積立・更新料</a:t>
            </a:r>
            <a:endParaRPr lang="en-US" sz="1000" dirty="0"/>
          </a:p>
        </p:txBody>
      </p:sp>
      <p:sp>
        <p:nvSpPr>
          <p:cNvPr id="31" name="Shape 28"/>
          <p:cNvSpPr/>
          <p:nvPr/>
        </p:nvSpPr>
        <p:spPr>
          <a:xfrm>
            <a:off x="8549640" y="5486400"/>
            <a:ext cx="182880" cy="182880"/>
          </a:xfrm>
          <a:prstGeom prst="rect">
            <a:avLst/>
          </a:prstGeom>
          <a:solidFill>
            <a:srgbClr val="C9CED6"/>
          </a:solidFill>
          <a:ln w="12700">
            <a:solidFill>
              <a:srgbClr val="C9CED6"/>
            </a:solidFill>
            <a:prstDash val="solid"/>
          </a:ln>
        </p:spPr>
      </p:sp>
      <p:sp>
        <p:nvSpPr>
          <p:cNvPr id="32" name="Text 29"/>
          <p:cNvSpPr txBox="1"/>
          <p:nvPr/>
        </p:nvSpPr>
        <p:spPr>
          <a:xfrm>
            <a:off x="8805672" y="5440680"/>
            <a:ext cx="123444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管理費等・駐車場</a:t>
            </a:r>
            <a:endParaRPr lang="en-US" sz="1000" dirty="0"/>
          </a:p>
        </p:txBody>
      </p:sp>
      <p:sp>
        <p:nvSpPr>
          <p:cNvPr id="33" name="Text 30"/>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仮定値：賃貸は更新料2年ごとに1か月分・家財保険 年2万円。マンションは頭金300万円・管理費＋修繕積立金 月2.5万円・駐車場 月1万円・固定資産税等 年10万円。戸建ての税・保険・修繕はP11と同じ。住宅ローン控除・初期費用は含みません。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新築・中古で住宅ローン控除はどう違う？</a:t>
            </a:r>
            <a:endParaRPr lang="en-US" sz="3000" dirty="0"/>
          </a:p>
        </p:txBody>
      </p:sp>
      <p:sp>
        <p:nvSpPr>
          <p:cNvPr id="5" name="Shape 2"/>
          <p:cNvSpPr/>
          <p:nvPr/>
        </p:nvSpPr>
        <p:spPr>
          <a:xfrm>
            <a:off x="640080" y="1600200"/>
            <a:ext cx="5318608" cy="3291840"/>
          </a:xfrm>
          <a:prstGeom prst="roundRect">
            <a:avLst>
              <a:gd name="adj" fmla="val 1667"/>
            </a:avLst>
          </a:prstGeom>
          <a:solidFill>
            <a:srgbClr val="EEF0F3"/>
          </a:solidFill>
          <a:ln w="9525">
            <a:solidFill>
              <a:srgbClr val="EEF0F3"/>
            </a:solidFill>
            <a:prstDash val="solid"/>
          </a:ln>
        </p:spPr>
      </p:sp>
      <p:sp>
        <p:nvSpPr>
          <p:cNvPr id="6" name="Text 3"/>
          <p:cNvSpPr txBox="1"/>
          <p:nvPr/>
        </p:nvSpPr>
        <p:spPr>
          <a:xfrm>
            <a:off x="914400" y="1691640"/>
            <a:ext cx="4769968" cy="384048"/>
          </a:xfrm>
          <a:prstGeom prst="rect">
            <a:avLst/>
          </a:prstGeom>
          <a:noFill/>
          <a:ln/>
        </p:spPr>
        <p:txBody>
          <a:bodyPr wrap="square" lIns="0" tIns="0" rIns="0" bIns="0" rtlCol="0" anchor="ctr"/>
          <a:lstStyle/>
          <a:p>
            <a:pPr indent="0" marL="0">
              <a:buNone/>
            </a:pPr>
            <a:r>
              <a:rPr lang="en-US" sz="1700" b="1" dirty="0">
                <a:solidFill>
                  <a:srgbClr val="17233B"/>
                </a:solidFill>
                <a:latin typeface="Yu Mincho" pitchFamily="34" charset="0"/>
                <a:ea typeface="Yu Mincho" pitchFamily="34" charset="-122"/>
                <a:cs typeface="Yu Mincho" pitchFamily="34" charset="-120"/>
              </a:rPr>
              <a:t>新築（買取再販は新築に準じる）</a:t>
            </a:r>
            <a:endParaRPr lang="en-US" sz="1700" dirty="0"/>
          </a:p>
        </p:txBody>
      </p:sp>
      <p:sp>
        <p:nvSpPr>
          <p:cNvPr id="7" name="Text 4"/>
          <p:cNvSpPr txBox="1"/>
          <p:nvPr/>
        </p:nvSpPr>
        <p:spPr>
          <a:xfrm>
            <a:off x="2651760" y="2121408"/>
            <a:ext cx="1188720"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借入限度額</a:t>
            </a:r>
            <a:endParaRPr lang="en-US" sz="1000" dirty="0"/>
          </a:p>
        </p:txBody>
      </p:sp>
      <p:sp>
        <p:nvSpPr>
          <p:cNvPr id="8" name="Text 5"/>
          <p:cNvSpPr txBox="1"/>
          <p:nvPr/>
        </p:nvSpPr>
        <p:spPr>
          <a:xfrm>
            <a:off x="4139032" y="2121408"/>
            <a:ext cx="1545336"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控除期間（最長13年）</a:t>
            </a:r>
            <a:endParaRPr lang="en-US" sz="1000" dirty="0"/>
          </a:p>
        </p:txBody>
      </p:sp>
      <p:sp>
        <p:nvSpPr>
          <p:cNvPr id="9" name="Text 6"/>
          <p:cNvSpPr txBox="1"/>
          <p:nvPr/>
        </p:nvSpPr>
        <p:spPr>
          <a:xfrm>
            <a:off x="914400" y="2423160"/>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認定長期優良・低炭素</a:t>
            </a:r>
            <a:endParaRPr lang="en-US" sz="1300" dirty="0"/>
          </a:p>
        </p:txBody>
      </p:sp>
      <p:sp>
        <p:nvSpPr>
          <p:cNvPr id="10" name="Text 7"/>
          <p:cNvSpPr txBox="1"/>
          <p:nvPr/>
        </p:nvSpPr>
        <p:spPr>
          <a:xfrm>
            <a:off x="2651760" y="2423160"/>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4,500万円</a:t>
            </a:r>
            <a:endParaRPr lang="en-US" sz="1600" dirty="0"/>
          </a:p>
        </p:txBody>
      </p:sp>
      <p:sp>
        <p:nvSpPr>
          <p:cNvPr id="11" name="Shape 8"/>
          <p:cNvSpPr/>
          <p:nvPr/>
        </p:nvSpPr>
        <p:spPr>
          <a:xfrm>
            <a:off x="4139032" y="2505456"/>
            <a:ext cx="91440" cy="182880"/>
          </a:xfrm>
          <a:prstGeom prst="rect">
            <a:avLst/>
          </a:prstGeom>
          <a:solidFill>
            <a:srgbClr val="17233B"/>
          </a:solidFill>
          <a:ln w="12700">
            <a:solidFill>
              <a:srgbClr val="17233B"/>
            </a:solidFill>
            <a:prstDash val="solid"/>
          </a:ln>
        </p:spPr>
      </p:sp>
      <p:sp>
        <p:nvSpPr>
          <p:cNvPr id="12" name="Shape 9"/>
          <p:cNvSpPr/>
          <p:nvPr/>
        </p:nvSpPr>
        <p:spPr>
          <a:xfrm>
            <a:off x="4257904" y="2505456"/>
            <a:ext cx="91440" cy="182880"/>
          </a:xfrm>
          <a:prstGeom prst="rect">
            <a:avLst/>
          </a:prstGeom>
          <a:solidFill>
            <a:srgbClr val="17233B"/>
          </a:solidFill>
          <a:ln w="12700">
            <a:solidFill>
              <a:srgbClr val="17233B"/>
            </a:solidFill>
            <a:prstDash val="solid"/>
          </a:ln>
        </p:spPr>
      </p:sp>
      <p:sp>
        <p:nvSpPr>
          <p:cNvPr id="13" name="Shape 10"/>
          <p:cNvSpPr/>
          <p:nvPr/>
        </p:nvSpPr>
        <p:spPr>
          <a:xfrm>
            <a:off x="4376776" y="2505456"/>
            <a:ext cx="91440" cy="182880"/>
          </a:xfrm>
          <a:prstGeom prst="rect">
            <a:avLst/>
          </a:prstGeom>
          <a:solidFill>
            <a:srgbClr val="17233B"/>
          </a:solidFill>
          <a:ln w="12700">
            <a:solidFill>
              <a:srgbClr val="17233B"/>
            </a:solidFill>
            <a:prstDash val="solid"/>
          </a:ln>
        </p:spPr>
      </p:sp>
      <p:sp>
        <p:nvSpPr>
          <p:cNvPr id="14" name="Shape 11"/>
          <p:cNvSpPr/>
          <p:nvPr/>
        </p:nvSpPr>
        <p:spPr>
          <a:xfrm>
            <a:off x="4495648" y="2505456"/>
            <a:ext cx="91440" cy="182880"/>
          </a:xfrm>
          <a:prstGeom prst="rect">
            <a:avLst/>
          </a:prstGeom>
          <a:solidFill>
            <a:srgbClr val="17233B"/>
          </a:solidFill>
          <a:ln w="12700">
            <a:solidFill>
              <a:srgbClr val="17233B"/>
            </a:solidFill>
            <a:prstDash val="solid"/>
          </a:ln>
        </p:spPr>
      </p:sp>
      <p:sp>
        <p:nvSpPr>
          <p:cNvPr id="15" name="Shape 12"/>
          <p:cNvSpPr/>
          <p:nvPr/>
        </p:nvSpPr>
        <p:spPr>
          <a:xfrm>
            <a:off x="4614520" y="2505456"/>
            <a:ext cx="91440" cy="182880"/>
          </a:xfrm>
          <a:prstGeom prst="rect">
            <a:avLst/>
          </a:prstGeom>
          <a:solidFill>
            <a:srgbClr val="17233B"/>
          </a:solidFill>
          <a:ln w="12700">
            <a:solidFill>
              <a:srgbClr val="17233B"/>
            </a:solidFill>
            <a:prstDash val="solid"/>
          </a:ln>
        </p:spPr>
      </p:sp>
      <p:sp>
        <p:nvSpPr>
          <p:cNvPr id="16" name="Shape 13"/>
          <p:cNvSpPr/>
          <p:nvPr/>
        </p:nvSpPr>
        <p:spPr>
          <a:xfrm>
            <a:off x="4733392" y="2505456"/>
            <a:ext cx="91440" cy="182880"/>
          </a:xfrm>
          <a:prstGeom prst="rect">
            <a:avLst/>
          </a:prstGeom>
          <a:solidFill>
            <a:srgbClr val="17233B"/>
          </a:solidFill>
          <a:ln w="12700">
            <a:solidFill>
              <a:srgbClr val="17233B"/>
            </a:solidFill>
            <a:prstDash val="solid"/>
          </a:ln>
        </p:spPr>
      </p:sp>
      <p:sp>
        <p:nvSpPr>
          <p:cNvPr id="17" name="Shape 14"/>
          <p:cNvSpPr/>
          <p:nvPr/>
        </p:nvSpPr>
        <p:spPr>
          <a:xfrm>
            <a:off x="4852264" y="2505456"/>
            <a:ext cx="91440" cy="182880"/>
          </a:xfrm>
          <a:prstGeom prst="rect">
            <a:avLst/>
          </a:prstGeom>
          <a:solidFill>
            <a:srgbClr val="17233B"/>
          </a:solidFill>
          <a:ln w="12700">
            <a:solidFill>
              <a:srgbClr val="17233B"/>
            </a:solidFill>
            <a:prstDash val="solid"/>
          </a:ln>
        </p:spPr>
      </p:sp>
      <p:sp>
        <p:nvSpPr>
          <p:cNvPr id="18" name="Shape 15"/>
          <p:cNvSpPr/>
          <p:nvPr/>
        </p:nvSpPr>
        <p:spPr>
          <a:xfrm>
            <a:off x="4971136" y="2505456"/>
            <a:ext cx="91440" cy="182880"/>
          </a:xfrm>
          <a:prstGeom prst="rect">
            <a:avLst/>
          </a:prstGeom>
          <a:solidFill>
            <a:srgbClr val="17233B"/>
          </a:solidFill>
          <a:ln w="12700">
            <a:solidFill>
              <a:srgbClr val="17233B"/>
            </a:solidFill>
            <a:prstDash val="solid"/>
          </a:ln>
        </p:spPr>
      </p:sp>
      <p:sp>
        <p:nvSpPr>
          <p:cNvPr id="19" name="Shape 16"/>
          <p:cNvSpPr/>
          <p:nvPr/>
        </p:nvSpPr>
        <p:spPr>
          <a:xfrm>
            <a:off x="5090008" y="2505456"/>
            <a:ext cx="91440" cy="182880"/>
          </a:xfrm>
          <a:prstGeom prst="rect">
            <a:avLst/>
          </a:prstGeom>
          <a:solidFill>
            <a:srgbClr val="17233B"/>
          </a:solidFill>
          <a:ln w="12700">
            <a:solidFill>
              <a:srgbClr val="17233B"/>
            </a:solidFill>
            <a:prstDash val="solid"/>
          </a:ln>
        </p:spPr>
      </p:sp>
      <p:sp>
        <p:nvSpPr>
          <p:cNvPr id="20" name="Shape 17"/>
          <p:cNvSpPr/>
          <p:nvPr/>
        </p:nvSpPr>
        <p:spPr>
          <a:xfrm>
            <a:off x="5208880" y="2505456"/>
            <a:ext cx="91440" cy="182880"/>
          </a:xfrm>
          <a:prstGeom prst="rect">
            <a:avLst/>
          </a:prstGeom>
          <a:solidFill>
            <a:srgbClr val="17233B"/>
          </a:solidFill>
          <a:ln w="12700">
            <a:solidFill>
              <a:srgbClr val="17233B"/>
            </a:solidFill>
            <a:prstDash val="solid"/>
          </a:ln>
        </p:spPr>
      </p:sp>
      <p:sp>
        <p:nvSpPr>
          <p:cNvPr id="21" name="Shape 18"/>
          <p:cNvSpPr/>
          <p:nvPr/>
        </p:nvSpPr>
        <p:spPr>
          <a:xfrm>
            <a:off x="5327752" y="2505456"/>
            <a:ext cx="91440" cy="182880"/>
          </a:xfrm>
          <a:prstGeom prst="rect">
            <a:avLst/>
          </a:prstGeom>
          <a:solidFill>
            <a:srgbClr val="17233B"/>
          </a:solidFill>
          <a:ln w="12700">
            <a:solidFill>
              <a:srgbClr val="17233B"/>
            </a:solidFill>
            <a:prstDash val="solid"/>
          </a:ln>
        </p:spPr>
      </p:sp>
      <p:sp>
        <p:nvSpPr>
          <p:cNvPr id="22" name="Shape 19"/>
          <p:cNvSpPr/>
          <p:nvPr/>
        </p:nvSpPr>
        <p:spPr>
          <a:xfrm>
            <a:off x="5446624" y="2505456"/>
            <a:ext cx="91440" cy="182880"/>
          </a:xfrm>
          <a:prstGeom prst="rect">
            <a:avLst/>
          </a:prstGeom>
          <a:solidFill>
            <a:srgbClr val="17233B"/>
          </a:solidFill>
          <a:ln w="12700">
            <a:solidFill>
              <a:srgbClr val="17233B"/>
            </a:solidFill>
            <a:prstDash val="solid"/>
          </a:ln>
        </p:spPr>
      </p:sp>
      <p:sp>
        <p:nvSpPr>
          <p:cNvPr id="23" name="Shape 20"/>
          <p:cNvSpPr/>
          <p:nvPr/>
        </p:nvSpPr>
        <p:spPr>
          <a:xfrm>
            <a:off x="5565496" y="2505456"/>
            <a:ext cx="91440" cy="182880"/>
          </a:xfrm>
          <a:prstGeom prst="rect">
            <a:avLst/>
          </a:prstGeom>
          <a:solidFill>
            <a:srgbClr val="17233B"/>
          </a:solidFill>
          <a:ln w="12700">
            <a:solidFill>
              <a:srgbClr val="17233B"/>
            </a:solidFill>
            <a:prstDash val="solid"/>
          </a:ln>
        </p:spPr>
      </p:sp>
      <p:sp>
        <p:nvSpPr>
          <p:cNvPr id="24" name="Text 21"/>
          <p:cNvSpPr txBox="1"/>
          <p:nvPr/>
        </p:nvSpPr>
        <p:spPr>
          <a:xfrm>
            <a:off x="914400" y="3044952"/>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ZEH水準省エネ</a:t>
            </a:r>
            <a:endParaRPr lang="en-US" sz="1300" dirty="0"/>
          </a:p>
        </p:txBody>
      </p:sp>
      <p:sp>
        <p:nvSpPr>
          <p:cNvPr id="25" name="Text 22"/>
          <p:cNvSpPr txBox="1"/>
          <p:nvPr/>
        </p:nvSpPr>
        <p:spPr>
          <a:xfrm>
            <a:off x="2651760" y="3044952"/>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3,500万円</a:t>
            </a:r>
            <a:endParaRPr lang="en-US" sz="1600" dirty="0"/>
          </a:p>
        </p:txBody>
      </p:sp>
      <p:sp>
        <p:nvSpPr>
          <p:cNvPr id="26" name="Shape 23"/>
          <p:cNvSpPr/>
          <p:nvPr/>
        </p:nvSpPr>
        <p:spPr>
          <a:xfrm>
            <a:off x="4139032" y="3127248"/>
            <a:ext cx="91440" cy="182880"/>
          </a:xfrm>
          <a:prstGeom prst="rect">
            <a:avLst/>
          </a:prstGeom>
          <a:solidFill>
            <a:srgbClr val="17233B"/>
          </a:solidFill>
          <a:ln w="12700">
            <a:solidFill>
              <a:srgbClr val="17233B"/>
            </a:solidFill>
            <a:prstDash val="solid"/>
          </a:ln>
        </p:spPr>
      </p:sp>
      <p:sp>
        <p:nvSpPr>
          <p:cNvPr id="27" name="Shape 24"/>
          <p:cNvSpPr/>
          <p:nvPr/>
        </p:nvSpPr>
        <p:spPr>
          <a:xfrm>
            <a:off x="4257904" y="3127248"/>
            <a:ext cx="91440" cy="182880"/>
          </a:xfrm>
          <a:prstGeom prst="rect">
            <a:avLst/>
          </a:prstGeom>
          <a:solidFill>
            <a:srgbClr val="17233B"/>
          </a:solidFill>
          <a:ln w="12700">
            <a:solidFill>
              <a:srgbClr val="17233B"/>
            </a:solidFill>
            <a:prstDash val="solid"/>
          </a:ln>
        </p:spPr>
      </p:sp>
      <p:sp>
        <p:nvSpPr>
          <p:cNvPr id="28" name="Shape 25"/>
          <p:cNvSpPr/>
          <p:nvPr/>
        </p:nvSpPr>
        <p:spPr>
          <a:xfrm>
            <a:off x="4376776" y="3127248"/>
            <a:ext cx="91440" cy="182880"/>
          </a:xfrm>
          <a:prstGeom prst="rect">
            <a:avLst/>
          </a:prstGeom>
          <a:solidFill>
            <a:srgbClr val="17233B"/>
          </a:solidFill>
          <a:ln w="12700">
            <a:solidFill>
              <a:srgbClr val="17233B"/>
            </a:solidFill>
            <a:prstDash val="solid"/>
          </a:ln>
        </p:spPr>
      </p:sp>
      <p:sp>
        <p:nvSpPr>
          <p:cNvPr id="29" name="Shape 26"/>
          <p:cNvSpPr/>
          <p:nvPr/>
        </p:nvSpPr>
        <p:spPr>
          <a:xfrm>
            <a:off x="4495648" y="3127248"/>
            <a:ext cx="91440" cy="182880"/>
          </a:xfrm>
          <a:prstGeom prst="rect">
            <a:avLst/>
          </a:prstGeom>
          <a:solidFill>
            <a:srgbClr val="17233B"/>
          </a:solidFill>
          <a:ln w="12700">
            <a:solidFill>
              <a:srgbClr val="17233B"/>
            </a:solidFill>
            <a:prstDash val="solid"/>
          </a:ln>
        </p:spPr>
      </p:sp>
      <p:sp>
        <p:nvSpPr>
          <p:cNvPr id="30" name="Shape 27"/>
          <p:cNvSpPr/>
          <p:nvPr/>
        </p:nvSpPr>
        <p:spPr>
          <a:xfrm>
            <a:off x="4614520" y="3127248"/>
            <a:ext cx="91440" cy="182880"/>
          </a:xfrm>
          <a:prstGeom prst="rect">
            <a:avLst/>
          </a:prstGeom>
          <a:solidFill>
            <a:srgbClr val="17233B"/>
          </a:solidFill>
          <a:ln w="12700">
            <a:solidFill>
              <a:srgbClr val="17233B"/>
            </a:solidFill>
            <a:prstDash val="solid"/>
          </a:ln>
        </p:spPr>
      </p:sp>
      <p:sp>
        <p:nvSpPr>
          <p:cNvPr id="31" name="Shape 28"/>
          <p:cNvSpPr/>
          <p:nvPr/>
        </p:nvSpPr>
        <p:spPr>
          <a:xfrm>
            <a:off x="4733392" y="3127248"/>
            <a:ext cx="91440" cy="182880"/>
          </a:xfrm>
          <a:prstGeom prst="rect">
            <a:avLst/>
          </a:prstGeom>
          <a:solidFill>
            <a:srgbClr val="17233B"/>
          </a:solidFill>
          <a:ln w="12700">
            <a:solidFill>
              <a:srgbClr val="17233B"/>
            </a:solidFill>
            <a:prstDash val="solid"/>
          </a:ln>
        </p:spPr>
      </p:sp>
      <p:sp>
        <p:nvSpPr>
          <p:cNvPr id="32" name="Shape 29"/>
          <p:cNvSpPr/>
          <p:nvPr/>
        </p:nvSpPr>
        <p:spPr>
          <a:xfrm>
            <a:off x="4852264" y="3127248"/>
            <a:ext cx="91440" cy="182880"/>
          </a:xfrm>
          <a:prstGeom prst="rect">
            <a:avLst/>
          </a:prstGeom>
          <a:solidFill>
            <a:srgbClr val="17233B"/>
          </a:solidFill>
          <a:ln w="12700">
            <a:solidFill>
              <a:srgbClr val="17233B"/>
            </a:solidFill>
            <a:prstDash val="solid"/>
          </a:ln>
        </p:spPr>
      </p:sp>
      <p:sp>
        <p:nvSpPr>
          <p:cNvPr id="33" name="Shape 30"/>
          <p:cNvSpPr/>
          <p:nvPr/>
        </p:nvSpPr>
        <p:spPr>
          <a:xfrm>
            <a:off x="4971136" y="3127248"/>
            <a:ext cx="91440" cy="182880"/>
          </a:xfrm>
          <a:prstGeom prst="rect">
            <a:avLst/>
          </a:prstGeom>
          <a:solidFill>
            <a:srgbClr val="17233B"/>
          </a:solidFill>
          <a:ln w="12700">
            <a:solidFill>
              <a:srgbClr val="17233B"/>
            </a:solidFill>
            <a:prstDash val="solid"/>
          </a:ln>
        </p:spPr>
      </p:sp>
      <p:sp>
        <p:nvSpPr>
          <p:cNvPr id="34" name="Shape 31"/>
          <p:cNvSpPr/>
          <p:nvPr/>
        </p:nvSpPr>
        <p:spPr>
          <a:xfrm>
            <a:off x="5090008" y="3127248"/>
            <a:ext cx="91440" cy="182880"/>
          </a:xfrm>
          <a:prstGeom prst="rect">
            <a:avLst/>
          </a:prstGeom>
          <a:solidFill>
            <a:srgbClr val="17233B"/>
          </a:solidFill>
          <a:ln w="12700">
            <a:solidFill>
              <a:srgbClr val="17233B"/>
            </a:solidFill>
            <a:prstDash val="solid"/>
          </a:ln>
        </p:spPr>
      </p:sp>
      <p:sp>
        <p:nvSpPr>
          <p:cNvPr id="35" name="Shape 32"/>
          <p:cNvSpPr/>
          <p:nvPr/>
        </p:nvSpPr>
        <p:spPr>
          <a:xfrm>
            <a:off x="5208880" y="3127248"/>
            <a:ext cx="91440" cy="182880"/>
          </a:xfrm>
          <a:prstGeom prst="rect">
            <a:avLst/>
          </a:prstGeom>
          <a:solidFill>
            <a:srgbClr val="17233B"/>
          </a:solidFill>
          <a:ln w="12700">
            <a:solidFill>
              <a:srgbClr val="17233B"/>
            </a:solidFill>
            <a:prstDash val="solid"/>
          </a:ln>
        </p:spPr>
      </p:sp>
      <p:sp>
        <p:nvSpPr>
          <p:cNvPr id="36" name="Shape 33"/>
          <p:cNvSpPr/>
          <p:nvPr/>
        </p:nvSpPr>
        <p:spPr>
          <a:xfrm>
            <a:off x="5327752" y="3127248"/>
            <a:ext cx="91440" cy="182880"/>
          </a:xfrm>
          <a:prstGeom prst="rect">
            <a:avLst/>
          </a:prstGeom>
          <a:solidFill>
            <a:srgbClr val="17233B"/>
          </a:solidFill>
          <a:ln w="12700">
            <a:solidFill>
              <a:srgbClr val="17233B"/>
            </a:solidFill>
            <a:prstDash val="solid"/>
          </a:ln>
        </p:spPr>
      </p:sp>
      <p:sp>
        <p:nvSpPr>
          <p:cNvPr id="37" name="Shape 34"/>
          <p:cNvSpPr/>
          <p:nvPr/>
        </p:nvSpPr>
        <p:spPr>
          <a:xfrm>
            <a:off x="5446624" y="3127248"/>
            <a:ext cx="91440" cy="182880"/>
          </a:xfrm>
          <a:prstGeom prst="rect">
            <a:avLst/>
          </a:prstGeom>
          <a:solidFill>
            <a:srgbClr val="17233B"/>
          </a:solidFill>
          <a:ln w="12700">
            <a:solidFill>
              <a:srgbClr val="17233B"/>
            </a:solidFill>
            <a:prstDash val="solid"/>
          </a:ln>
        </p:spPr>
      </p:sp>
      <p:sp>
        <p:nvSpPr>
          <p:cNvPr id="38" name="Shape 35"/>
          <p:cNvSpPr/>
          <p:nvPr/>
        </p:nvSpPr>
        <p:spPr>
          <a:xfrm>
            <a:off x="5565496" y="3127248"/>
            <a:ext cx="91440" cy="182880"/>
          </a:xfrm>
          <a:prstGeom prst="rect">
            <a:avLst/>
          </a:prstGeom>
          <a:solidFill>
            <a:srgbClr val="17233B"/>
          </a:solidFill>
          <a:ln w="12700">
            <a:solidFill>
              <a:srgbClr val="17233B"/>
            </a:solidFill>
            <a:prstDash val="solid"/>
          </a:ln>
        </p:spPr>
      </p:sp>
      <p:sp>
        <p:nvSpPr>
          <p:cNvPr id="39" name="Text 36"/>
          <p:cNvSpPr txBox="1"/>
          <p:nvPr/>
        </p:nvSpPr>
        <p:spPr>
          <a:xfrm>
            <a:off x="914400" y="3666744"/>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省エネ基準適合</a:t>
            </a:r>
            <a:endParaRPr lang="en-US" sz="1300" dirty="0"/>
          </a:p>
        </p:txBody>
      </p:sp>
      <p:sp>
        <p:nvSpPr>
          <p:cNvPr id="40" name="Text 37"/>
          <p:cNvSpPr txBox="1"/>
          <p:nvPr/>
        </p:nvSpPr>
        <p:spPr>
          <a:xfrm>
            <a:off x="2651760" y="3666744"/>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2,000万円</a:t>
            </a:r>
            <a:endParaRPr lang="en-US" sz="1600" dirty="0"/>
          </a:p>
        </p:txBody>
      </p:sp>
      <p:sp>
        <p:nvSpPr>
          <p:cNvPr id="41" name="Shape 38"/>
          <p:cNvSpPr/>
          <p:nvPr/>
        </p:nvSpPr>
        <p:spPr>
          <a:xfrm>
            <a:off x="4139032" y="3749040"/>
            <a:ext cx="91440" cy="182880"/>
          </a:xfrm>
          <a:prstGeom prst="rect">
            <a:avLst/>
          </a:prstGeom>
          <a:solidFill>
            <a:srgbClr val="17233B"/>
          </a:solidFill>
          <a:ln w="12700">
            <a:solidFill>
              <a:srgbClr val="17233B"/>
            </a:solidFill>
            <a:prstDash val="solid"/>
          </a:ln>
        </p:spPr>
      </p:sp>
      <p:sp>
        <p:nvSpPr>
          <p:cNvPr id="42" name="Shape 39"/>
          <p:cNvSpPr/>
          <p:nvPr/>
        </p:nvSpPr>
        <p:spPr>
          <a:xfrm>
            <a:off x="4257904" y="3749040"/>
            <a:ext cx="91440" cy="182880"/>
          </a:xfrm>
          <a:prstGeom prst="rect">
            <a:avLst/>
          </a:prstGeom>
          <a:solidFill>
            <a:srgbClr val="17233B"/>
          </a:solidFill>
          <a:ln w="12700">
            <a:solidFill>
              <a:srgbClr val="17233B"/>
            </a:solidFill>
            <a:prstDash val="solid"/>
          </a:ln>
        </p:spPr>
      </p:sp>
      <p:sp>
        <p:nvSpPr>
          <p:cNvPr id="43" name="Shape 40"/>
          <p:cNvSpPr/>
          <p:nvPr/>
        </p:nvSpPr>
        <p:spPr>
          <a:xfrm>
            <a:off x="4376776" y="3749040"/>
            <a:ext cx="91440" cy="182880"/>
          </a:xfrm>
          <a:prstGeom prst="rect">
            <a:avLst/>
          </a:prstGeom>
          <a:solidFill>
            <a:srgbClr val="17233B"/>
          </a:solidFill>
          <a:ln w="12700">
            <a:solidFill>
              <a:srgbClr val="17233B"/>
            </a:solidFill>
            <a:prstDash val="solid"/>
          </a:ln>
        </p:spPr>
      </p:sp>
      <p:sp>
        <p:nvSpPr>
          <p:cNvPr id="44" name="Shape 41"/>
          <p:cNvSpPr/>
          <p:nvPr/>
        </p:nvSpPr>
        <p:spPr>
          <a:xfrm>
            <a:off x="4495648" y="3749040"/>
            <a:ext cx="91440" cy="182880"/>
          </a:xfrm>
          <a:prstGeom prst="rect">
            <a:avLst/>
          </a:prstGeom>
          <a:solidFill>
            <a:srgbClr val="17233B"/>
          </a:solidFill>
          <a:ln w="12700">
            <a:solidFill>
              <a:srgbClr val="17233B"/>
            </a:solidFill>
            <a:prstDash val="solid"/>
          </a:ln>
        </p:spPr>
      </p:sp>
      <p:sp>
        <p:nvSpPr>
          <p:cNvPr id="45" name="Shape 42"/>
          <p:cNvSpPr/>
          <p:nvPr/>
        </p:nvSpPr>
        <p:spPr>
          <a:xfrm>
            <a:off x="4614520" y="3749040"/>
            <a:ext cx="91440" cy="182880"/>
          </a:xfrm>
          <a:prstGeom prst="rect">
            <a:avLst/>
          </a:prstGeom>
          <a:solidFill>
            <a:srgbClr val="17233B"/>
          </a:solidFill>
          <a:ln w="12700">
            <a:solidFill>
              <a:srgbClr val="17233B"/>
            </a:solidFill>
            <a:prstDash val="solid"/>
          </a:ln>
        </p:spPr>
      </p:sp>
      <p:sp>
        <p:nvSpPr>
          <p:cNvPr id="46" name="Shape 43"/>
          <p:cNvSpPr/>
          <p:nvPr/>
        </p:nvSpPr>
        <p:spPr>
          <a:xfrm>
            <a:off x="4733392" y="3749040"/>
            <a:ext cx="91440" cy="182880"/>
          </a:xfrm>
          <a:prstGeom prst="rect">
            <a:avLst/>
          </a:prstGeom>
          <a:solidFill>
            <a:srgbClr val="17233B"/>
          </a:solidFill>
          <a:ln w="12700">
            <a:solidFill>
              <a:srgbClr val="17233B"/>
            </a:solidFill>
            <a:prstDash val="solid"/>
          </a:ln>
        </p:spPr>
      </p:sp>
      <p:sp>
        <p:nvSpPr>
          <p:cNvPr id="47" name="Shape 44"/>
          <p:cNvSpPr/>
          <p:nvPr/>
        </p:nvSpPr>
        <p:spPr>
          <a:xfrm>
            <a:off x="4852264" y="3749040"/>
            <a:ext cx="91440" cy="182880"/>
          </a:xfrm>
          <a:prstGeom prst="rect">
            <a:avLst/>
          </a:prstGeom>
          <a:solidFill>
            <a:srgbClr val="17233B"/>
          </a:solidFill>
          <a:ln w="12700">
            <a:solidFill>
              <a:srgbClr val="17233B"/>
            </a:solidFill>
            <a:prstDash val="solid"/>
          </a:ln>
        </p:spPr>
      </p:sp>
      <p:sp>
        <p:nvSpPr>
          <p:cNvPr id="48" name="Shape 45"/>
          <p:cNvSpPr/>
          <p:nvPr/>
        </p:nvSpPr>
        <p:spPr>
          <a:xfrm>
            <a:off x="4971136" y="3749040"/>
            <a:ext cx="91440" cy="182880"/>
          </a:xfrm>
          <a:prstGeom prst="rect">
            <a:avLst/>
          </a:prstGeom>
          <a:solidFill>
            <a:srgbClr val="17233B"/>
          </a:solidFill>
          <a:ln w="12700">
            <a:solidFill>
              <a:srgbClr val="17233B"/>
            </a:solidFill>
            <a:prstDash val="solid"/>
          </a:ln>
        </p:spPr>
      </p:sp>
      <p:sp>
        <p:nvSpPr>
          <p:cNvPr id="49" name="Shape 46"/>
          <p:cNvSpPr/>
          <p:nvPr/>
        </p:nvSpPr>
        <p:spPr>
          <a:xfrm>
            <a:off x="5090008" y="3749040"/>
            <a:ext cx="91440" cy="182880"/>
          </a:xfrm>
          <a:prstGeom prst="rect">
            <a:avLst/>
          </a:prstGeom>
          <a:solidFill>
            <a:srgbClr val="17233B"/>
          </a:solidFill>
          <a:ln w="12700">
            <a:solidFill>
              <a:srgbClr val="17233B"/>
            </a:solidFill>
            <a:prstDash val="solid"/>
          </a:ln>
        </p:spPr>
      </p:sp>
      <p:sp>
        <p:nvSpPr>
          <p:cNvPr id="50" name="Shape 47"/>
          <p:cNvSpPr/>
          <p:nvPr/>
        </p:nvSpPr>
        <p:spPr>
          <a:xfrm>
            <a:off x="5208880" y="3749040"/>
            <a:ext cx="91440" cy="182880"/>
          </a:xfrm>
          <a:prstGeom prst="rect">
            <a:avLst/>
          </a:prstGeom>
          <a:solidFill>
            <a:srgbClr val="17233B"/>
          </a:solidFill>
          <a:ln w="12700">
            <a:solidFill>
              <a:srgbClr val="17233B"/>
            </a:solidFill>
            <a:prstDash val="solid"/>
          </a:ln>
        </p:spPr>
      </p:sp>
      <p:sp>
        <p:nvSpPr>
          <p:cNvPr id="51" name="Shape 48"/>
          <p:cNvSpPr/>
          <p:nvPr/>
        </p:nvSpPr>
        <p:spPr>
          <a:xfrm>
            <a:off x="5327752" y="3749040"/>
            <a:ext cx="91440" cy="182880"/>
          </a:xfrm>
          <a:prstGeom prst="rect">
            <a:avLst/>
          </a:prstGeom>
          <a:solidFill>
            <a:srgbClr val="17233B"/>
          </a:solidFill>
          <a:ln w="12700">
            <a:solidFill>
              <a:srgbClr val="17233B"/>
            </a:solidFill>
            <a:prstDash val="solid"/>
          </a:ln>
        </p:spPr>
      </p:sp>
      <p:sp>
        <p:nvSpPr>
          <p:cNvPr id="52" name="Shape 49"/>
          <p:cNvSpPr/>
          <p:nvPr/>
        </p:nvSpPr>
        <p:spPr>
          <a:xfrm>
            <a:off x="5446624" y="3749040"/>
            <a:ext cx="91440" cy="182880"/>
          </a:xfrm>
          <a:prstGeom prst="rect">
            <a:avLst/>
          </a:prstGeom>
          <a:solidFill>
            <a:srgbClr val="17233B"/>
          </a:solidFill>
          <a:ln w="12700">
            <a:solidFill>
              <a:srgbClr val="17233B"/>
            </a:solidFill>
            <a:prstDash val="solid"/>
          </a:ln>
        </p:spPr>
      </p:sp>
      <p:sp>
        <p:nvSpPr>
          <p:cNvPr id="53" name="Shape 50"/>
          <p:cNvSpPr/>
          <p:nvPr/>
        </p:nvSpPr>
        <p:spPr>
          <a:xfrm>
            <a:off x="5565496" y="3749040"/>
            <a:ext cx="91440" cy="182880"/>
          </a:xfrm>
          <a:prstGeom prst="rect">
            <a:avLst/>
          </a:prstGeom>
          <a:solidFill>
            <a:srgbClr val="17233B"/>
          </a:solidFill>
          <a:ln w="12700">
            <a:solidFill>
              <a:srgbClr val="17233B"/>
            </a:solidFill>
            <a:prstDash val="solid"/>
          </a:ln>
        </p:spPr>
      </p:sp>
      <p:sp>
        <p:nvSpPr>
          <p:cNvPr id="54" name="Text 51"/>
          <p:cNvSpPr txBox="1"/>
          <p:nvPr/>
        </p:nvSpPr>
        <p:spPr>
          <a:xfrm>
            <a:off x="914400" y="4005072"/>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2028年以降入居は経過措置のみ（2,000万円・10年）</a:t>
            </a:r>
            <a:endParaRPr lang="en-US" sz="1000" dirty="0"/>
          </a:p>
        </p:txBody>
      </p:sp>
      <p:sp>
        <p:nvSpPr>
          <p:cNvPr id="55" name="Text 52"/>
          <p:cNvSpPr txBox="1"/>
          <p:nvPr/>
        </p:nvSpPr>
        <p:spPr>
          <a:xfrm>
            <a:off x="914400" y="4288536"/>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その他（基準未満）</a:t>
            </a:r>
            <a:endParaRPr lang="en-US" sz="1300" dirty="0"/>
          </a:p>
        </p:txBody>
      </p:sp>
      <p:sp>
        <p:nvSpPr>
          <p:cNvPr id="56" name="Text 53"/>
          <p:cNvSpPr txBox="1"/>
          <p:nvPr/>
        </p:nvSpPr>
        <p:spPr>
          <a:xfrm>
            <a:off x="2651760" y="4288536"/>
            <a:ext cx="1234440" cy="329184"/>
          </a:xfrm>
          <a:prstGeom prst="rect">
            <a:avLst/>
          </a:prstGeom>
          <a:noFill/>
          <a:ln/>
        </p:spPr>
        <p:txBody>
          <a:bodyPr wrap="square" lIns="0" tIns="0" rIns="0" bIns="0" rtlCol="0" anchor="ctr"/>
          <a:lstStyle/>
          <a:p>
            <a:pPr indent="0" marL="0">
              <a:buNone/>
            </a:pPr>
            <a:r>
              <a:rPr lang="en-US" sz="1600" b="1" dirty="0">
                <a:solidFill>
                  <a:srgbClr val="9E4B3B"/>
                </a:solidFill>
                <a:latin typeface="Yu Gothic" pitchFamily="34" charset="0"/>
                <a:ea typeface="Yu Gothic" pitchFamily="34" charset="-122"/>
                <a:cs typeface="Yu Gothic" pitchFamily="34" charset="-120"/>
              </a:rPr>
              <a:t>対象外</a:t>
            </a:r>
            <a:endParaRPr lang="en-US" sz="1600" dirty="0"/>
          </a:p>
        </p:txBody>
      </p:sp>
      <p:sp>
        <p:nvSpPr>
          <p:cNvPr id="57" name="Shape 54"/>
          <p:cNvSpPr/>
          <p:nvPr/>
        </p:nvSpPr>
        <p:spPr>
          <a:xfrm>
            <a:off x="4139032" y="4370832"/>
            <a:ext cx="91440" cy="182880"/>
          </a:xfrm>
          <a:prstGeom prst="rect">
            <a:avLst/>
          </a:prstGeom>
          <a:solidFill>
            <a:srgbClr val="D3D7DD"/>
          </a:solidFill>
          <a:ln w="12700">
            <a:solidFill>
              <a:srgbClr val="D3D7DD"/>
            </a:solidFill>
            <a:prstDash val="solid"/>
          </a:ln>
        </p:spPr>
      </p:sp>
      <p:sp>
        <p:nvSpPr>
          <p:cNvPr id="58" name="Shape 55"/>
          <p:cNvSpPr/>
          <p:nvPr/>
        </p:nvSpPr>
        <p:spPr>
          <a:xfrm>
            <a:off x="4257904" y="4370832"/>
            <a:ext cx="91440" cy="182880"/>
          </a:xfrm>
          <a:prstGeom prst="rect">
            <a:avLst/>
          </a:prstGeom>
          <a:solidFill>
            <a:srgbClr val="D3D7DD"/>
          </a:solidFill>
          <a:ln w="12700">
            <a:solidFill>
              <a:srgbClr val="D3D7DD"/>
            </a:solidFill>
            <a:prstDash val="solid"/>
          </a:ln>
        </p:spPr>
      </p:sp>
      <p:sp>
        <p:nvSpPr>
          <p:cNvPr id="59" name="Shape 56"/>
          <p:cNvSpPr/>
          <p:nvPr/>
        </p:nvSpPr>
        <p:spPr>
          <a:xfrm>
            <a:off x="4376776" y="4370832"/>
            <a:ext cx="91440" cy="182880"/>
          </a:xfrm>
          <a:prstGeom prst="rect">
            <a:avLst/>
          </a:prstGeom>
          <a:solidFill>
            <a:srgbClr val="D3D7DD"/>
          </a:solidFill>
          <a:ln w="12700">
            <a:solidFill>
              <a:srgbClr val="D3D7DD"/>
            </a:solidFill>
            <a:prstDash val="solid"/>
          </a:ln>
        </p:spPr>
      </p:sp>
      <p:sp>
        <p:nvSpPr>
          <p:cNvPr id="60" name="Shape 57"/>
          <p:cNvSpPr/>
          <p:nvPr/>
        </p:nvSpPr>
        <p:spPr>
          <a:xfrm>
            <a:off x="4495648" y="4370832"/>
            <a:ext cx="91440" cy="182880"/>
          </a:xfrm>
          <a:prstGeom prst="rect">
            <a:avLst/>
          </a:prstGeom>
          <a:solidFill>
            <a:srgbClr val="D3D7DD"/>
          </a:solidFill>
          <a:ln w="12700">
            <a:solidFill>
              <a:srgbClr val="D3D7DD"/>
            </a:solidFill>
            <a:prstDash val="solid"/>
          </a:ln>
        </p:spPr>
      </p:sp>
      <p:sp>
        <p:nvSpPr>
          <p:cNvPr id="61" name="Shape 58"/>
          <p:cNvSpPr/>
          <p:nvPr/>
        </p:nvSpPr>
        <p:spPr>
          <a:xfrm>
            <a:off x="4614520" y="4370832"/>
            <a:ext cx="91440" cy="182880"/>
          </a:xfrm>
          <a:prstGeom prst="rect">
            <a:avLst/>
          </a:prstGeom>
          <a:solidFill>
            <a:srgbClr val="D3D7DD"/>
          </a:solidFill>
          <a:ln w="12700">
            <a:solidFill>
              <a:srgbClr val="D3D7DD"/>
            </a:solidFill>
            <a:prstDash val="solid"/>
          </a:ln>
        </p:spPr>
      </p:sp>
      <p:sp>
        <p:nvSpPr>
          <p:cNvPr id="62" name="Shape 59"/>
          <p:cNvSpPr/>
          <p:nvPr/>
        </p:nvSpPr>
        <p:spPr>
          <a:xfrm>
            <a:off x="4733392" y="4370832"/>
            <a:ext cx="91440" cy="182880"/>
          </a:xfrm>
          <a:prstGeom prst="rect">
            <a:avLst/>
          </a:prstGeom>
          <a:solidFill>
            <a:srgbClr val="D3D7DD"/>
          </a:solidFill>
          <a:ln w="12700">
            <a:solidFill>
              <a:srgbClr val="D3D7DD"/>
            </a:solidFill>
            <a:prstDash val="solid"/>
          </a:ln>
        </p:spPr>
      </p:sp>
      <p:sp>
        <p:nvSpPr>
          <p:cNvPr id="63" name="Shape 60"/>
          <p:cNvSpPr/>
          <p:nvPr/>
        </p:nvSpPr>
        <p:spPr>
          <a:xfrm>
            <a:off x="4852264" y="4370832"/>
            <a:ext cx="91440" cy="182880"/>
          </a:xfrm>
          <a:prstGeom prst="rect">
            <a:avLst/>
          </a:prstGeom>
          <a:solidFill>
            <a:srgbClr val="D3D7DD"/>
          </a:solidFill>
          <a:ln w="12700">
            <a:solidFill>
              <a:srgbClr val="D3D7DD"/>
            </a:solidFill>
            <a:prstDash val="solid"/>
          </a:ln>
        </p:spPr>
      </p:sp>
      <p:sp>
        <p:nvSpPr>
          <p:cNvPr id="64" name="Shape 61"/>
          <p:cNvSpPr/>
          <p:nvPr/>
        </p:nvSpPr>
        <p:spPr>
          <a:xfrm>
            <a:off x="4971136" y="4370832"/>
            <a:ext cx="91440" cy="182880"/>
          </a:xfrm>
          <a:prstGeom prst="rect">
            <a:avLst/>
          </a:prstGeom>
          <a:solidFill>
            <a:srgbClr val="D3D7DD"/>
          </a:solidFill>
          <a:ln w="12700">
            <a:solidFill>
              <a:srgbClr val="D3D7DD"/>
            </a:solidFill>
            <a:prstDash val="solid"/>
          </a:ln>
        </p:spPr>
      </p:sp>
      <p:sp>
        <p:nvSpPr>
          <p:cNvPr id="65" name="Shape 62"/>
          <p:cNvSpPr/>
          <p:nvPr/>
        </p:nvSpPr>
        <p:spPr>
          <a:xfrm>
            <a:off x="5090008" y="4370832"/>
            <a:ext cx="91440" cy="182880"/>
          </a:xfrm>
          <a:prstGeom prst="rect">
            <a:avLst/>
          </a:prstGeom>
          <a:solidFill>
            <a:srgbClr val="D3D7DD"/>
          </a:solidFill>
          <a:ln w="12700">
            <a:solidFill>
              <a:srgbClr val="D3D7DD"/>
            </a:solidFill>
            <a:prstDash val="solid"/>
          </a:ln>
        </p:spPr>
      </p:sp>
      <p:sp>
        <p:nvSpPr>
          <p:cNvPr id="66" name="Shape 63"/>
          <p:cNvSpPr/>
          <p:nvPr/>
        </p:nvSpPr>
        <p:spPr>
          <a:xfrm>
            <a:off x="5208880" y="4370832"/>
            <a:ext cx="91440" cy="182880"/>
          </a:xfrm>
          <a:prstGeom prst="rect">
            <a:avLst/>
          </a:prstGeom>
          <a:solidFill>
            <a:srgbClr val="D3D7DD"/>
          </a:solidFill>
          <a:ln w="12700">
            <a:solidFill>
              <a:srgbClr val="D3D7DD"/>
            </a:solidFill>
            <a:prstDash val="solid"/>
          </a:ln>
        </p:spPr>
      </p:sp>
      <p:sp>
        <p:nvSpPr>
          <p:cNvPr id="67" name="Shape 64"/>
          <p:cNvSpPr/>
          <p:nvPr/>
        </p:nvSpPr>
        <p:spPr>
          <a:xfrm>
            <a:off x="5327752" y="4370832"/>
            <a:ext cx="91440" cy="182880"/>
          </a:xfrm>
          <a:prstGeom prst="rect">
            <a:avLst/>
          </a:prstGeom>
          <a:solidFill>
            <a:srgbClr val="D3D7DD"/>
          </a:solidFill>
          <a:ln w="12700">
            <a:solidFill>
              <a:srgbClr val="D3D7DD"/>
            </a:solidFill>
            <a:prstDash val="solid"/>
          </a:ln>
        </p:spPr>
      </p:sp>
      <p:sp>
        <p:nvSpPr>
          <p:cNvPr id="68" name="Shape 65"/>
          <p:cNvSpPr/>
          <p:nvPr/>
        </p:nvSpPr>
        <p:spPr>
          <a:xfrm>
            <a:off x="5446624" y="4370832"/>
            <a:ext cx="91440" cy="182880"/>
          </a:xfrm>
          <a:prstGeom prst="rect">
            <a:avLst/>
          </a:prstGeom>
          <a:solidFill>
            <a:srgbClr val="D3D7DD"/>
          </a:solidFill>
          <a:ln w="12700">
            <a:solidFill>
              <a:srgbClr val="D3D7DD"/>
            </a:solidFill>
            <a:prstDash val="solid"/>
          </a:ln>
        </p:spPr>
      </p:sp>
      <p:sp>
        <p:nvSpPr>
          <p:cNvPr id="69" name="Shape 66"/>
          <p:cNvSpPr/>
          <p:nvPr/>
        </p:nvSpPr>
        <p:spPr>
          <a:xfrm>
            <a:off x="5565496" y="4370832"/>
            <a:ext cx="91440" cy="182880"/>
          </a:xfrm>
          <a:prstGeom prst="rect">
            <a:avLst/>
          </a:prstGeom>
          <a:solidFill>
            <a:srgbClr val="D3D7DD"/>
          </a:solidFill>
          <a:ln w="12700">
            <a:solidFill>
              <a:srgbClr val="D3D7DD"/>
            </a:solidFill>
            <a:prstDash val="solid"/>
          </a:ln>
        </p:spPr>
      </p:sp>
      <p:sp>
        <p:nvSpPr>
          <p:cNvPr id="70" name="Text 67"/>
          <p:cNvSpPr txBox="1"/>
          <p:nvPr/>
        </p:nvSpPr>
        <p:spPr>
          <a:xfrm>
            <a:off x="914400" y="4626864"/>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2023年末までの建築確認等なら2,000万円・10年</a:t>
            </a:r>
            <a:endParaRPr lang="en-US" sz="1000" dirty="0"/>
          </a:p>
        </p:txBody>
      </p:sp>
      <p:sp>
        <p:nvSpPr>
          <p:cNvPr id="71" name="Shape 68"/>
          <p:cNvSpPr/>
          <p:nvPr/>
        </p:nvSpPr>
        <p:spPr>
          <a:xfrm>
            <a:off x="6233008" y="1600200"/>
            <a:ext cx="5318608" cy="3291840"/>
          </a:xfrm>
          <a:prstGeom prst="roundRect">
            <a:avLst>
              <a:gd name="adj" fmla="val 1667"/>
            </a:avLst>
          </a:prstGeom>
          <a:solidFill>
            <a:srgbClr val="17233B"/>
          </a:solidFill>
          <a:ln w="9525">
            <a:solidFill>
              <a:srgbClr val="17233B"/>
            </a:solidFill>
            <a:prstDash val="solid"/>
          </a:ln>
        </p:spPr>
      </p:sp>
      <p:sp>
        <p:nvSpPr>
          <p:cNvPr id="72" name="Text 69"/>
          <p:cNvSpPr txBox="1"/>
          <p:nvPr/>
        </p:nvSpPr>
        <p:spPr>
          <a:xfrm>
            <a:off x="6507328" y="1691640"/>
            <a:ext cx="4769968" cy="384048"/>
          </a:xfrm>
          <a:prstGeom prst="rect">
            <a:avLst/>
          </a:prstGeom>
          <a:noFill/>
          <a:ln/>
        </p:spPr>
        <p:txBody>
          <a:bodyPr wrap="square" lIns="0" tIns="0" rIns="0" bIns="0" rtlCol="0" anchor="ctr"/>
          <a:lstStyle/>
          <a:p>
            <a:pPr indent="0" marL="0">
              <a:buNone/>
            </a:pPr>
            <a:r>
              <a:rPr lang="en-US" sz="1700" b="1" dirty="0">
                <a:solidFill>
                  <a:srgbClr val="FFFFFF"/>
                </a:solidFill>
                <a:latin typeface="Yu Mincho" pitchFamily="34" charset="0"/>
                <a:ea typeface="Yu Mincho" pitchFamily="34" charset="-122"/>
                <a:cs typeface="Yu Mincho" pitchFamily="34" charset="-120"/>
              </a:rPr>
              <a:t>中古（既存住宅）</a:t>
            </a:r>
            <a:endParaRPr lang="en-US" sz="1700" dirty="0"/>
          </a:p>
        </p:txBody>
      </p:sp>
      <p:sp>
        <p:nvSpPr>
          <p:cNvPr id="73" name="Text 70"/>
          <p:cNvSpPr txBox="1"/>
          <p:nvPr/>
        </p:nvSpPr>
        <p:spPr>
          <a:xfrm>
            <a:off x="8244688" y="2121408"/>
            <a:ext cx="1188720"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借入限度額</a:t>
            </a:r>
            <a:endParaRPr lang="en-US" sz="1000" dirty="0"/>
          </a:p>
        </p:txBody>
      </p:sp>
      <p:sp>
        <p:nvSpPr>
          <p:cNvPr id="74" name="Text 71"/>
          <p:cNvSpPr txBox="1"/>
          <p:nvPr/>
        </p:nvSpPr>
        <p:spPr>
          <a:xfrm>
            <a:off x="9731959" y="2121408"/>
            <a:ext cx="1545336"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控除期間（最長13年）</a:t>
            </a:r>
            <a:endParaRPr lang="en-US" sz="1000" dirty="0"/>
          </a:p>
        </p:txBody>
      </p:sp>
      <p:sp>
        <p:nvSpPr>
          <p:cNvPr id="75" name="Text 72"/>
          <p:cNvSpPr txBox="1"/>
          <p:nvPr/>
        </p:nvSpPr>
        <p:spPr>
          <a:xfrm>
            <a:off x="6507328" y="2423160"/>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認定長期優良・低炭素</a:t>
            </a:r>
            <a:endParaRPr lang="en-US" sz="1300" dirty="0"/>
          </a:p>
        </p:txBody>
      </p:sp>
      <p:sp>
        <p:nvSpPr>
          <p:cNvPr id="76" name="Text 73"/>
          <p:cNvSpPr txBox="1"/>
          <p:nvPr/>
        </p:nvSpPr>
        <p:spPr>
          <a:xfrm>
            <a:off x="8244688" y="2423160"/>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77" name="Shape 74"/>
          <p:cNvSpPr/>
          <p:nvPr/>
        </p:nvSpPr>
        <p:spPr>
          <a:xfrm>
            <a:off x="9731959" y="2505456"/>
            <a:ext cx="91440" cy="182880"/>
          </a:xfrm>
          <a:prstGeom prst="rect">
            <a:avLst/>
          </a:prstGeom>
          <a:solidFill>
            <a:srgbClr val="B89B6A"/>
          </a:solidFill>
          <a:ln w="12700">
            <a:solidFill>
              <a:srgbClr val="B89B6A"/>
            </a:solidFill>
            <a:prstDash val="solid"/>
          </a:ln>
        </p:spPr>
      </p:sp>
      <p:sp>
        <p:nvSpPr>
          <p:cNvPr id="78" name="Shape 75"/>
          <p:cNvSpPr/>
          <p:nvPr/>
        </p:nvSpPr>
        <p:spPr>
          <a:xfrm>
            <a:off x="9850831" y="2505456"/>
            <a:ext cx="91440" cy="182880"/>
          </a:xfrm>
          <a:prstGeom prst="rect">
            <a:avLst/>
          </a:prstGeom>
          <a:solidFill>
            <a:srgbClr val="B89B6A"/>
          </a:solidFill>
          <a:ln w="12700">
            <a:solidFill>
              <a:srgbClr val="B89B6A"/>
            </a:solidFill>
            <a:prstDash val="solid"/>
          </a:ln>
        </p:spPr>
      </p:sp>
      <p:sp>
        <p:nvSpPr>
          <p:cNvPr id="79" name="Shape 76"/>
          <p:cNvSpPr/>
          <p:nvPr/>
        </p:nvSpPr>
        <p:spPr>
          <a:xfrm>
            <a:off x="9969703" y="2505456"/>
            <a:ext cx="91440" cy="182880"/>
          </a:xfrm>
          <a:prstGeom prst="rect">
            <a:avLst/>
          </a:prstGeom>
          <a:solidFill>
            <a:srgbClr val="B89B6A"/>
          </a:solidFill>
          <a:ln w="12700">
            <a:solidFill>
              <a:srgbClr val="B89B6A"/>
            </a:solidFill>
            <a:prstDash val="solid"/>
          </a:ln>
        </p:spPr>
      </p:sp>
      <p:sp>
        <p:nvSpPr>
          <p:cNvPr id="80" name="Shape 77"/>
          <p:cNvSpPr/>
          <p:nvPr/>
        </p:nvSpPr>
        <p:spPr>
          <a:xfrm>
            <a:off x="10088575" y="2505456"/>
            <a:ext cx="91440" cy="182880"/>
          </a:xfrm>
          <a:prstGeom prst="rect">
            <a:avLst/>
          </a:prstGeom>
          <a:solidFill>
            <a:srgbClr val="B89B6A"/>
          </a:solidFill>
          <a:ln w="12700">
            <a:solidFill>
              <a:srgbClr val="B89B6A"/>
            </a:solidFill>
            <a:prstDash val="solid"/>
          </a:ln>
        </p:spPr>
      </p:sp>
      <p:sp>
        <p:nvSpPr>
          <p:cNvPr id="81" name="Shape 78"/>
          <p:cNvSpPr/>
          <p:nvPr/>
        </p:nvSpPr>
        <p:spPr>
          <a:xfrm>
            <a:off x="10207447" y="2505456"/>
            <a:ext cx="91440" cy="182880"/>
          </a:xfrm>
          <a:prstGeom prst="rect">
            <a:avLst/>
          </a:prstGeom>
          <a:solidFill>
            <a:srgbClr val="B89B6A"/>
          </a:solidFill>
          <a:ln w="12700">
            <a:solidFill>
              <a:srgbClr val="B89B6A"/>
            </a:solidFill>
            <a:prstDash val="solid"/>
          </a:ln>
        </p:spPr>
      </p:sp>
      <p:sp>
        <p:nvSpPr>
          <p:cNvPr id="82" name="Shape 79"/>
          <p:cNvSpPr/>
          <p:nvPr/>
        </p:nvSpPr>
        <p:spPr>
          <a:xfrm>
            <a:off x="10326319" y="2505456"/>
            <a:ext cx="91440" cy="182880"/>
          </a:xfrm>
          <a:prstGeom prst="rect">
            <a:avLst/>
          </a:prstGeom>
          <a:solidFill>
            <a:srgbClr val="B89B6A"/>
          </a:solidFill>
          <a:ln w="12700">
            <a:solidFill>
              <a:srgbClr val="B89B6A"/>
            </a:solidFill>
            <a:prstDash val="solid"/>
          </a:ln>
        </p:spPr>
      </p:sp>
      <p:sp>
        <p:nvSpPr>
          <p:cNvPr id="83" name="Shape 80"/>
          <p:cNvSpPr/>
          <p:nvPr/>
        </p:nvSpPr>
        <p:spPr>
          <a:xfrm>
            <a:off x="10445191" y="2505456"/>
            <a:ext cx="91440" cy="182880"/>
          </a:xfrm>
          <a:prstGeom prst="rect">
            <a:avLst/>
          </a:prstGeom>
          <a:solidFill>
            <a:srgbClr val="B89B6A"/>
          </a:solidFill>
          <a:ln w="12700">
            <a:solidFill>
              <a:srgbClr val="B89B6A"/>
            </a:solidFill>
            <a:prstDash val="solid"/>
          </a:ln>
        </p:spPr>
      </p:sp>
      <p:sp>
        <p:nvSpPr>
          <p:cNvPr id="84" name="Shape 81"/>
          <p:cNvSpPr/>
          <p:nvPr/>
        </p:nvSpPr>
        <p:spPr>
          <a:xfrm>
            <a:off x="10564063" y="2505456"/>
            <a:ext cx="91440" cy="182880"/>
          </a:xfrm>
          <a:prstGeom prst="rect">
            <a:avLst/>
          </a:prstGeom>
          <a:solidFill>
            <a:srgbClr val="B89B6A"/>
          </a:solidFill>
          <a:ln w="12700">
            <a:solidFill>
              <a:srgbClr val="B89B6A"/>
            </a:solidFill>
            <a:prstDash val="solid"/>
          </a:ln>
        </p:spPr>
      </p:sp>
      <p:sp>
        <p:nvSpPr>
          <p:cNvPr id="85" name="Shape 82"/>
          <p:cNvSpPr/>
          <p:nvPr/>
        </p:nvSpPr>
        <p:spPr>
          <a:xfrm>
            <a:off x="10682935" y="2505456"/>
            <a:ext cx="91440" cy="182880"/>
          </a:xfrm>
          <a:prstGeom prst="rect">
            <a:avLst/>
          </a:prstGeom>
          <a:solidFill>
            <a:srgbClr val="B89B6A"/>
          </a:solidFill>
          <a:ln w="12700">
            <a:solidFill>
              <a:srgbClr val="B89B6A"/>
            </a:solidFill>
            <a:prstDash val="solid"/>
          </a:ln>
        </p:spPr>
      </p:sp>
      <p:sp>
        <p:nvSpPr>
          <p:cNvPr id="86" name="Shape 83"/>
          <p:cNvSpPr/>
          <p:nvPr/>
        </p:nvSpPr>
        <p:spPr>
          <a:xfrm>
            <a:off x="10801807" y="2505456"/>
            <a:ext cx="91440" cy="182880"/>
          </a:xfrm>
          <a:prstGeom prst="rect">
            <a:avLst/>
          </a:prstGeom>
          <a:solidFill>
            <a:srgbClr val="B89B6A"/>
          </a:solidFill>
          <a:ln w="12700">
            <a:solidFill>
              <a:srgbClr val="B89B6A"/>
            </a:solidFill>
            <a:prstDash val="solid"/>
          </a:ln>
        </p:spPr>
      </p:sp>
      <p:sp>
        <p:nvSpPr>
          <p:cNvPr id="87" name="Shape 84"/>
          <p:cNvSpPr/>
          <p:nvPr/>
        </p:nvSpPr>
        <p:spPr>
          <a:xfrm>
            <a:off x="10920679" y="2505456"/>
            <a:ext cx="91440" cy="182880"/>
          </a:xfrm>
          <a:prstGeom prst="rect">
            <a:avLst/>
          </a:prstGeom>
          <a:solidFill>
            <a:srgbClr val="B89B6A"/>
          </a:solidFill>
          <a:ln w="12700">
            <a:solidFill>
              <a:srgbClr val="B89B6A"/>
            </a:solidFill>
            <a:prstDash val="solid"/>
          </a:ln>
        </p:spPr>
      </p:sp>
      <p:sp>
        <p:nvSpPr>
          <p:cNvPr id="88" name="Shape 85"/>
          <p:cNvSpPr/>
          <p:nvPr/>
        </p:nvSpPr>
        <p:spPr>
          <a:xfrm>
            <a:off x="11039551" y="2505456"/>
            <a:ext cx="91440" cy="182880"/>
          </a:xfrm>
          <a:prstGeom prst="rect">
            <a:avLst/>
          </a:prstGeom>
          <a:solidFill>
            <a:srgbClr val="B89B6A"/>
          </a:solidFill>
          <a:ln w="12700">
            <a:solidFill>
              <a:srgbClr val="B89B6A"/>
            </a:solidFill>
            <a:prstDash val="solid"/>
          </a:ln>
        </p:spPr>
      </p:sp>
      <p:sp>
        <p:nvSpPr>
          <p:cNvPr id="89" name="Shape 86"/>
          <p:cNvSpPr/>
          <p:nvPr/>
        </p:nvSpPr>
        <p:spPr>
          <a:xfrm>
            <a:off x="11158423" y="2505456"/>
            <a:ext cx="91440" cy="182880"/>
          </a:xfrm>
          <a:prstGeom prst="rect">
            <a:avLst/>
          </a:prstGeom>
          <a:solidFill>
            <a:srgbClr val="B89B6A"/>
          </a:solidFill>
          <a:ln w="12700">
            <a:solidFill>
              <a:srgbClr val="B89B6A"/>
            </a:solidFill>
            <a:prstDash val="solid"/>
          </a:ln>
        </p:spPr>
      </p:sp>
      <p:sp>
        <p:nvSpPr>
          <p:cNvPr id="90" name="Text 87"/>
          <p:cNvSpPr txBox="1"/>
          <p:nvPr/>
        </p:nvSpPr>
        <p:spPr>
          <a:xfrm>
            <a:off x="6507328" y="3044952"/>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ZEH水準省エネ</a:t>
            </a:r>
            <a:endParaRPr lang="en-US" sz="1300" dirty="0"/>
          </a:p>
        </p:txBody>
      </p:sp>
      <p:sp>
        <p:nvSpPr>
          <p:cNvPr id="91" name="Text 88"/>
          <p:cNvSpPr txBox="1"/>
          <p:nvPr/>
        </p:nvSpPr>
        <p:spPr>
          <a:xfrm>
            <a:off x="8244688" y="3044952"/>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92" name="Shape 89"/>
          <p:cNvSpPr/>
          <p:nvPr/>
        </p:nvSpPr>
        <p:spPr>
          <a:xfrm>
            <a:off x="9731959" y="3127248"/>
            <a:ext cx="91440" cy="182880"/>
          </a:xfrm>
          <a:prstGeom prst="rect">
            <a:avLst/>
          </a:prstGeom>
          <a:solidFill>
            <a:srgbClr val="B89B6A"/>
          </a:solidFill>
          <a:ln w="12700">
            <a:solidFill>
              <a:srgbClr val="B89B6A"/>
            </a:solidFill>
            <a:prstDash val="solid"/>
          </a:ln>
        </p:spPr>
      </p:sp>
      <p:sp>
        <p:nvSpPr>
          <p:cNvPr id="93" name="Shape 90"/>
          <p:cNvSpPr/>
          <p:nvPr/>
        </p:nvSpPr>
        <p:spPr>
          <a:xfrm>
            <a:off x="9850831" y="3127248"/>
            <a:ext cx="91440" cy="182880"/>
          </a:xfrm>
          <a:prstGeom prst="rect">
            <a:avLst/>
          </a:prstGeom>
          <a:solidFill>
            <a:srgbClr val="B89B6A"/>
          </a:solidFill>
          <a:ln w="12700">
            <a:solidFill>
              <a:srgbClr val="B89B6A"/>
            </a:solidFill>
            <a:prstDash val="solid"/>
          </a:ln>
        </p:spPr>
      </p:sp>
      <p:sp>
        <p:nvSpPr>
          <p:cNvPr id="94" name="Shape 91"/>
          <p:cNvSpPr/>
          <p:nvPr/>
        </p:nvSpPr>
        <p:spPr>
          <a:xfrm>
            <a:off x="9969703" y="3127248"/>
            <a:ext cx="91440" cy="182880"/>
          </a:xfrm>
          <a:prstGeom prst="rect">
            <a:avLst/>
          </a:prstGeom>
          <a:solidFill>
            <a:srgbClr val="B89B6A"/>
          </a:solidFill>
          <a:ln w="12700">
            <a:solidFill>
              <a:srgbClr val="B89B6A"/>
            </a:solidFill>
            <a:prstDash val="solid"/>
          </a:ln>
        </p:spPr>
      </p:sp>
      <p:sp>
        <p:nvSpPr>
          <p:cNvPr id="95" name="Shape 92"/>
          <p:cNvSpPr/>
          <p:nvPr/>
        </p:nvSpPr>
        <p:spPr>
          <a:xfrm>
            <a:off x="10088575" y="3127248"/>
            <a:ext cx="91440" cy="182880"/>
          </a:xfrm>
          <a:prstGeom prst="rect">
            <a:avLst/>
          </a:prstGeom>
          <a:solidFill>
            <a:srgbClr val="B89B6A"/>
          </a:solidFill>
          <a:ln w="12700">
            <a:solidFill>
              <a:srgbClr val="B89B6A"/>
            </a:solidFill>
            <a:prstDash val="solid"/>
          </a:ln>
        </p:spPr>
      </p:sp>
      <p:sp>
        <p:nvSpPr>
          <p:cNvPr id="96" name="Shape 93"/>
          <p:cNvSpPr/>
          <p:nvPr/>
        </p:nvSpPr>
        <p:spPr>
          <a:xfrm>
            <a:off x="10207447" y="3127248"/>
            <a:ext cx="91440" cy="182880"/>
          </a:xfrm>
          <a:prstGeom prst="rect">
            <a:avLst/>
          </a:prstGeom>
          <a:solidFill>
            <a:srgbClr val="B89B6A"/>
          </a:solidFill>
          <a:ln w="12700">
            <a:solidFill>
              <a:srgbClr val="B89B6A"/>
            </a:solidFill>
            <a:prstDash val="solid"/>
          </a:ln>
        </p:spPr>
      </p:sp>
      <p:sp>
        <p:nvSpPr>
          <p:cNvPr id="97" name="Shape 94"/>
          <p:cNvSpPr/>
          <p:nvPr/>
        </p:nvSpPr>
        <p:spPr>
          <a:xfrm>
            <a:off x="10326319" y="3127248"/>
            <a:ext cx="91440" cy="182880"/>
          </a:xfrm>
          <a:prstGeom prst="rect">
            <a:avLst/>
          </a:prstGeom>
          <a:solidFill>
            <a:srgbClr val="B89B6A"/>
          </a:solidFill>
          <a:ln w="12700">
            <a:solidFill>
              <a:srgbClr val="B89B6A"/>
            </a:solidFill>
            <a:prstDash val="solid"/>
          </a:ln>
        </p:spPr>
      </p:sp>
      <p:sp>
        <p:nvSpPr>
          <p:cNvPr id="98" name="Shape 95"/>
          <p:cNvSpPr/>
          <p:nvPr/>
        </p:nvSpPr>
        <p:spPr>
          <a:xfrm>
            <a:off x="10445191" y="3127248"/>
            <a:ext cx="91440" cy="182880"/>
          </a:xfrm>
          <a:prstGeom prst="rect">
            <a:avLst/>
          </a:prstGeom>
          <a:solidFill>
            <a:srgbClr val="B89B6A"/>
          </a:solidFill>
          <a:ln w="12700">
            <a:solidFill>
              <a:srgbClr val="B89B6A"/>
            </a:solidFill>
            <a:prstDash val="solid"/>
          </a:ln>
        </p:spPr>
      </p:sp>
      <p:sp>
        <p:nvSpPr>
          <p:cNvPr id="99" name="Shape 96"/>
          <p:cNvSpPr/>
          <p:nvPr/>
        </p:nvSpPr>
        <p:spPr>
          <a:xfrm>
            <a:off x="10564063" y="3127248"/>
            <a:ext cx="91440" cy="182880"/>
          </a:xfrm>
          <a:prstGeom prst="rect">
            <a:avLst/>
          </a:prstGeom>
          <a:solidFill>
            <a:srgbClr val="B89B6A"/>
          </a:solidFill>
          <a:ln w="12700">
            <a:solidFill>
              <a:srgbClr val="B89B6A"/>
            </a:solidFill>
            <a:prstDash val="solid"/>
          </a:ln>
        </p:spPr>
      </p:sp>
      <p:sp>
        <p:nvSpPr>
          <p:cNvPr id="100" name="Shape 97"/>
          <p:cNvSpPr/>
          <p:nvPr/>
        </p:nvSpPr>
        <p:spPr>
          <a:xfrm>
            <a:off x="10682935" y="3127248"/>
            <a:ext cx="91440" cy="182880"/>
          </a:xfrm>
          <a:prstGeom prst="rect">
            <a:avLst/>
          </a:prstGeom>
          <a:solidFill>
            <a:srgbClr val="B89B6A"/>
          </a:solidFill>
          <a:ln w="12700">
            <a:solidFill>
              <a:srgbClr val="B89B6A"/>
            </a:solidFill>
            <a:prstDash val="solid"/>
          </a:ln>
        </p:spPr>
      </p:sp>
      <p:sp>
        <p:nvSpPr>
          <p:cNvPr id="101" name="Shape 98"/>
          <p:cNvSpPr/>
          <p:nvPr/>
        </p:nvSpPr>
        <p:spPr>
          <a:xfrm>
            <a:off x="10801807" y="3127248"/>
            <a:ext cx="91440" cy="182880"/>
          </a:xfrm>
          <a:prstGeom prst="rect">
            <a:avLst/>
          </a:prstGeom>
          <a:solidFill>
            <a:srgbClr val="B89B6A"/>
          </a:solidFill>
          <a:ln w="12700">
            <a:solidFill>
              <a:srgbClr val="B89B6A"/>
            </a:solidFill>
            <a:prstDash val="solid"/>
          </a:ln>
        </p:spPr>
      </p:sp>
      <p:sp>
        <p:nvSpPr>
          <p:cNvPr id="102" name="Shape 99"/>
          <p:cNvSpPr/>
          <p:nvPr/>
        </p:nvSpPr>
        <p:spPr>
          <a:xfrm>
            <a:off x="10920679" y="3127248"/>
            <a:ext cx="91440" cy="182880"/>
          </a:xfrm>
          <a:prstGeom prst="rect">
            <a:avLst/>
          </a:prstGeom>
          <a:solidFill>
            <a:srgbClr val="B89B6A"/>
          </a:solidFill>
          <a:ln w="12700">
            <a:solidFill>
              <a:srgbClr val="B89B6A"/>
            </a:solidFill>
            <a:prstDash val="solid"/>
          </a:ln>
        </p:spPr>
      </p:sp>
      <p:sp>
        <p:nvSpPr>
          <p:cNvPr id="103" name="Shape 100"/>
          <p:cNvSpPr/>
          <p:nvPr/>
        </p:nvSpPr>
        <p:spPr>
          <a:xfrm>
            <a:off x="11039551" y="3127248"/>
            <a:ext cx="91440" cy="182880"/>
          </a:xfrm>
          <a:prstGeom prst="rect">
            <a:avLst/>
          </a:prstGeom>
          <a:solidFill>
            <a:srgbClr val="B89B6A"/>
          </a:solidFill>
          <a:ln w="12700">
            <a:solidFill>
              <a:srgbClr val="B89B6A"/>
            </a:solidFill>
            <a:prstDash val="solid"/>
          </a:ln>
        </p:spPr>
      </p:sp>
      <p:sp>
        <p:nvSpPr>
          <p:cNvPr id="104" name="Shape 101"/>
          <p:cNvSpPr/>
          <p:nvPr/>
        </p:nvSpPr>
        <p:spPr>
          <a:xfrm>
            <a:off x="11158423" y="3127248"/>
            <a:ext cx="91440" cy="182880"/>
          </a:xfrm>
          <a:prstGeom prst="rect">
            <a:avLst/>
          </a:prstGeom>
          <a:solidFill>
            <a:srgbClr val="B89B6A"/>
          </a:solidFill>
          <a:ln w="12700">
            <a:solidFill>
              <a:srgbClr val="B89B6A"/>
            </a:solidFill>
            <a:prstDash val="solid"/>
          </a:ln>
        </p:spPr>
      </p:sp>
      <p:sp>
        <p:nvSpPr>
          <p:cNvPr id="105" name="Text 102"/>
          <p:cNvSpPr txBox="1"/>
          <p:nvPr/>
        </p:nvSpPr>
        <p:spPr>
          <a:xfrm>
            <a:off x="6507328" y="3666744"/>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省エネ基準適合</a:t>
            </a:r>
            <a:endParaRPr lang="en-US" sz="1300" dirty="0"/>
          </a:p>
        </p:txBody>
      </p:sp>
      <p:sp>
        <p:nvSpPr>
          <p:cNvPr id="106" name="Text 103"/>
          <p:cNvSpPr txBox="1"/>
          <p:nvPr/>
        </p:nvSpPr>
        <p:spPr>
          <a:xfrm>
            <a:off x="8244688" y="3666744"/>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07" name="Shape 104"/>
          <p:cNvSpPr/>
          <p:nvPr/>
        </p:nvSpPr>
        <p:spPr>
          <a:xfrm>
            <a:off x="9731959" y="3749040"/>
            <a:ext cx="91440" cy="182880"/>
          </a:xfrm>
          <a:prstGeom prst="rect">
            <a:avLst/>
          </a:prstGeom>
          <a:solidFill>
            <a:srgbClr val="B89B6A"/>
          </a:solidFill>
          <a:ln w="12700">
            <a:solidFill>
              <a:srgbClr val="B89B6A"/>
            </a:solidFill>
            <a:prstDash val="solid"/>
          </a:ln>
        </p:spPr>
      </p:sp>
      <p:sp>
        <p:nvSpPr>
          <p:cNvPr id="108" name="Shape 105"/>
          <p:cNvSpPr/>
          <p:nvPr/>
        </p:nvSpPr>
        <p:spPr>
          <a:xfrm>
            <a:off x="9850831" y="3749040"/>
            <a:ext cx="91440" cy="182880"/>
          </a:xfrm>
          <a:prstGeom prst="rect">
            <a:avLst/>
          </a:prstGeom>
          <a:solidFill>
            <a:srgbClr val="B89B6A"/>
          </a:solidFill>
          <a:ln w="12700">
            <a:solidFill>
              <a:srgbClr val="B89B6A"/>
            </a:solidFill>
            <a:prstDash val="solid"/>
          </a:ln>
        </p:spPr>
      </p:sp>
      <p:sp>
        <p:nvSpPr>
          <p:cNvPr id="109" name="Shape 106"/>
          <p:cNvSpPr/>
          <p:nvPr/>
        </p:nvSpPr>
        <p:spPr>
          <a:xfrm>
            <a:off x="9969703" y="3749040"/>
            <a:ext cx="91440" cy="182880"/>
          </a:xfrm>
          <a:prstGeom prst="rect">
            <a:avLst/>
          </a:prstGeom>
          <a:solidFill>
            <a:srgbClr val="B89B6A"/>
          </a:solidFill>
          <a:ln w="12700">
            <a:solidFill>
              <a:srgbClr val="B89B6A"/>
            </a:solidFill>
            <a:prstDash val="solid"/>
          </a:ln>
        </p:spPr>
      </p:sp>
      <p:sp>
        <p:nvSpPr>
          <p:cNvPr id="110" name="Shape 107"/>
          <p:cNvSpPr/>
          <p:nvPr/>
        </p:nvSpPr>
        <p:spPr>
          <a:xfrm>
            <a:off x="10088575" y="3749040"/>
            <a:ext cx="91440" cy="182880"/>
          </a:xfrm>
          <a:prstGeom prst="rect">
            <a:avLst/>
          </a:prstGeom>
          <a:solidFill>
            <a:srgbClr val="B89B6A"/>
          </a:solidFill>
          <a:ln w="12700">
            <a:solidFill>
              <a:srgbClr val="B89B6A"/>
            </a:solidFill>
            <a:prstDash val="solid"/>
          </a:ln>
        </p:spPr>
      </p:sp>
      <p:sp>
        <p:nvSpPr>
          <p:cNvPr id="111" name="Shape 108"/>
          <p:cNvSpPr/>
          <p:nvPr/>
        </p:nvSpPr>
        <p:spPr>
          <a:xfrm>
            <a:off x="10207447" y="3749040"/>
            <a:ext cx="91440" cy="182880"/>
          </a:xfrm>
          <a:prstGeom prst="rect">
            <a:avLst/>
          </a:prstGeom>
          <a:solidFill>
            <a:srgbClr val="B89B6A"/>
          </a:solidFill>
          <a:ln w="12700">
            <a:solidFill>
              <a:srgbClr val="B89B6A"/>
            </a:solidFill>
            <a:prstDash val="solid"/>
          </a:ln>
        </p:spPr>
      </p:sp>
      <p:sp>
        <p:nvSpPr>
          <p:cNvPr id="112" name="Shape 109"/>
          <p:cNvSpPr/>
          <p:nvPr/>
        </p:nvSpPr>
        <p:spPr>
          <a:xfrm>
            <a:off x="10326319" y="3749040"/>
            <a:ext cx="91440" cy="182880"/>
          </a:xfrm>
          <a:prstGeom prst="rect">
            <a:avLst/>
          </a:prstGeom>
          <a:solidFill>
            <a:srgbClr val="B89B6A"/>
          </a:solidFill>
          <a:ln w="12700">
            <a:solidFill>
              <a:srgbClr val="B89B6A"/>
            </a:solidFill>
            <a:prstDash val="solid"/>
          </a:ln>
        </p:spPr>
      </p:sp>
      <p:sp>
        <p:nvSpPr>
          <p:cNvPr id="113" name="Shape 110"/>
          <p:cNvSpPr/>
          <p:nvPr/>
        </p:nvSpPr>
        <p:spPr>
          <a:xfrm>
            <a:off x="10445191" y="3749040"/>
            <a:ext cx="91440" cy="182880"/>
          </a:xfrm>
          <a:prstGeom prst="rect">
            <a:avLst/>
          </a:prstGeom>
          <a:solidFill>
            <a:srgbClr val="B89B6A"/>
          </a:solidFill>
          <a:ln w="12700">
            <a:solidFill>
              <a:srgbClr val="B89B6A"/>
            </a:solidFill>
            <a:prstDash val="solid"/>
          </a:ln>
        </p:spPr>
      </p:sp>
      <p:sp>
        <p:nvSpPr>
          <p:cNvPr id="114" name="Shape 111"/>
          <p:cNvSpPr/>
          <p:nvPr/>
        </p:nvSpPr>
        <p:spPr>
          <a:xfrm>
            <a:off x="10564063" y="3749040"/>
            <a:ext cx="91440" cy="182880"/>
          </a:xfrm>
          <a:prstGeom prst="rect">
            <a:avLst/>
          </a:prstGeom>
          <a:solidFill>
            <a:srgbClr val="B89B6A"/>
          </a:solidFill>
          <a:ln w="12700">
            <a:solidFill>
              <a:srgbClr val="B89B6A"/>
            </a:solidFill>
            <a:prstDash val="solid"/>
          </a:ln>
        </p:spPr>
      </p:sp>
      <p:sp>
        <p:nvSpPr>
          <p:cNvPr id="115" name="Shape 112"/>
          <p:cNvSpPr/>
          <p:nvPr/>
        </p:nvSpPr>
        <p:spPr>
          <a:xfrm>
            <a:off x="10682935" y="3749040"/>
            <a:ext cx="91440" cy="182880"/>
          </a:xfrm>
          <a:prstGeom prst="rect">
            <a:avLst/>
          </a:prstGeom>
          <a:solidFill>
            <a:srgbClr val="B89B6A"/>
          </a:solidFill>
          <a:ln w="12700">
            <a:solidFill>
              <a:srgbClr val="B89B6A"/>
            </a:solidFill>
            <a:prstDash val="solid"/>
          </a:ln>
        </p:spPr>
      </p:sp>
      <p:sp>
        <p:nvSpPr>
          <p:cNvPr id="116" name="Shape 113"/>
          <p:cNvSpPr/>
          <p:nvPr/>
        </p:nvSpPr>
        <p:spPr>
          <a:xfrm>
            <a:off x="10801807" y="3749040"/>
            <a:ext cx="91440" cy="182880"/>
          </a:xfrm>
          <a:prstGeom prst="rect">
            <a:avLst/>
          </a:prstGeom>
          <a:solidFill>
            <a:srgbClr val="B89B6A"/>
          </a:solidFill>
          <a:ln w="12700">
            <a:solidFill>
              <a:srgbClr val="B89B6A"/>
            </a:solidFill>
            <a:prstDash val="solid"/>
          </a:ln>
        </p:spPr>
      </p:sp>
      <p:sp>
        <p:nvSpPr>
          <p:cNvPr id="117" name="Shape 114"/>
          <p:cNvSpPr/>
          <p:nvPr/>
        </p:nvSpPr>
        <p:spPr>
          <a:xfrm>
            <a:off x="10920679" y="3749040"/>
            <a:ext cx="91440" cy="182880"/>
          </a:xfrm>
          <a:prstGeom prst="rect">
            <a:avLst/>
          </a:prstGeom>
          <a:solidFill>
            <a:srgbClr val="B89B6A"/>
          </a:solidFill>
          <a:ln w="12700">
            <a:solidFill>
              <a:srgbClr val="B89B6A"/>
            </a:solidFill>
            <a:prstDash val="solid"/>
          </a:ln>
        </p:spPr>
      </p:sp>
      <p:sp>
        <p:nvSpPr>
          <p:cNvPr id="118" name="Shape 115"/>
          <p:cNvSpPr/>
          <p:nvPr/>
        </p:nvSpPr>
        <p:spPr>
          <a:xfrm>
            <a:off x="11039551" y="3749040"/>
            <a:ext cx="91440" cy="182880"/>
          </a:xfrm>
          <a:prstGeom prst="rect">
            <a:avLst/>
          </a:prstGeom>
          <a:solidFill>
            <a:srgbClr val="B89B6A"/>
          </a:solidFill>
          <a:ln w="12700">
            <a:solidFill>
              <a:srgbClr val="B89B6A"/>
            </a:solidFill>
            <a:prstDash val="solid"/>
          </a:ln>
        </p:spPr>
      </p:sp>
      <p:sp>
        <p:nvSpPr>
          <p:cNvPr id="119" name="Shape 116"/>
          <p:cNvSpPr/>
          <p:nvPr/>
        </p:nvSpPr>
        <p:spPr>
          <a:xfrm>
            <a:off x="11158423" y="3749040"/>
            <a:ext cx="91440" cy="182880"/>
          </a:xfrm>
          <a:prstGeom prst="rect">
            <a:avLst/>
          </a:prstGeom>
          <a:solidFill>
            <a:srgbClr val="B89B6A"/>
          </a:solidFill>
          <a:ln w="12700">
            <a:solidFill>
              <a:srgbClr val="B89B6A"/>
            </a:solidFill>
            <a:prstDash val="solid"/>
          </a:ln>
        </p:spPr>
      </p:sp>
      <p:sp>
        <p:nvSpPr>
          <p:cNvPr id="120" name="Text 117"/>
          <p:cNvSpPr txBox="1"/>
          <p:nvPr/>
        </p:nvSpPr>
        <p:spPr>
          <a:xfrm>
            <a:off x="6507328" y="4288536"/>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その他（証明なし）</a:t>
            </a:r>
            <a:endParaRPr lang="en-US" sz="1300" dirty="0"/>
          </a:p>
        </p:txBody>
      </p:sp>
      <p:sp>
        <p:nvSpPr>
          <p:cNvPr id="121" name="Text 118"/>
          <p:cNvSpPr txBox="1"/>
          <p:nvPr/>
        </p:nvSpPr>
        <p:spPr>
          <a:xfrm>
            <a:off x="8244688" y="4288536"/>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22" name="Shape 119"/>
          <p:cNvSpPr/>
          <p:nvPr/>
        </p:nvSpPr>
        <p:spPr>
          <a:xfrm>
            <a:off x="9731959" y="4370832"/>
            <a:ext cx="91440" cy="182880"/>
          </a:xfrm>
          <a:prstGeom prst="rect">
            <a:avLst/>
          </a:prstGeom>
          <a:solidFill>
            <a:srgbClr val="B89B6A"/>
          </a:solidFill>
          <a:ln w="12700">
            <a:solidFill>
              <a:srgbClr val="B89B6A"/>
            </a:solidFill>
            <a:prstDash val="solid"/>
          </a:ln>
        </p:spPr>
      </p:sp>
      <p:sp>
        <p:nvSpPr>
          <p:cNvPr id="123" name="Shape 120"/>
          <p:cNvSpPr/>
          <p:nvPr/>
        </p:nvSpPr>
        <p:spPr>
          <a:xfrm>
            <a:off x="9850831" y="4370832"/>
            <a:ext cx="91440" cy="182880"/>
          </a:xfrm>
          <a:prstGeom prst="rect">
            <a:avLst/>
          </a:prstGeom>
          <a:solidFill>
            <a:srgbClr val="B89B6A"/>
          </a:solidFill>
          <a:ln w="12700">
            <a:solidFill>
              <a:srgbClr val="B89B6A"/>
            </a:solidFill>
            <a:prstDash val="solid"/>
          </a:ln>
        </p:spPr>
      </p:sp>
      <p:sp>
        <p:nvSpPr>
          <p:cNvPr id="124" name="Shape 121"/>
          <p:cNvSpPr/>
          <p:nvPr/>
        </p:nvSpPr>
        <p:spPr>
          <a:xfrm>
            <a:off x="9969703" y="4370832"/>
            <a:ext cx="91440" cy="182880"/>
          </a:xfrm>
          <a:prstGeom prst="rect">
            <a:avLst/>
          </a:prstGeom>
          <a:solidFill>
            <a:srgbClr val="B89B6A"/>
          </a:solidFill>
          <a:ln w="12700">
            <a:solidFill>
              <a:srgbClr val="B89B6A"/>
            </a:solidFill>
            <a:prstDash val="solid"/>
          </a:ln>
        </p:spPr>
      </p:sp>
      <p:sp>
        <p:nvSpPr>
          <p:cNvPr id="125" name="Shape 122"/>
          <p:cNvSpPr/>
          <p:nvPr/>
        </p:nvSpPr>
        <p:spPr>
          <a:xfrm>
            <a:off x="10088575" y="4370832"/>
            <a:ext cx="91440" cy="182880"/>
          </a:xfrm>
          <a:prstGeom prst="rect">
            <a:avLst/>
          </a:prstGeom>
          <a:solidFill>
            <a:srgbClr val="B89B6A"/>
          </a:solidFill>
          <a:ln w="12700">
            <a:solidFill>
              <a:srgbClr val="B89B6A"/>
            </a:solidFill>
            <a:prstDash val="solid"/>
          </a:ln>
        </p:spPr>
      </p:sp>
      <p:sp>
        <p:nvSpPr>
          <p:cNvPr id="126" name="Shape 123"/>
          <p:cNvSpPr/>
          <p:nvPr/>
        </p:nvSpPr>
        <p:spPr>
          <a:xfrm>
            <a:off x="10207447" y="4370832"/>
            <a:ext cx="91440" cy="182880"/>
          </a:xfrm>
          <a:prstGeom prst="rect">
            <a:avLst/>
          </a:prstGeom>
          <a:solidFill>
            <a:srgbClr val="B89B6A"/>
          </a:solidFill>
          <a:ln w="12700">
            <a:solidFill>
              <a:srgbClr val="B89B6A"/>
            </a:solidFill>
            <a:prstDash val="solid"/>
          </a:ln>
        </p:spPr>
      </p:sp>
      <p:sp>
        <p:nvSpPr>
          <p:cNvPr id="127" name="Shape 124"/>
          <p:cNvSpPr/>
          <p:nvPr/>
        </p:nvSpPr>
        <p:spPr>
          <a:xfrm>
            <a:off x="10326319" y="4370832"/>
            <a:ext cx="91440" cy="182880"/>
          </a:xfrm>
          <a:prstGeom prst="rect">
            <a:avLst/>
          </a:prstGeom>
          <a:solidFill>
            <a:srgbClr val="B89B6A"/>
          </a:solidFill>
          <a:ln w="12700">
            <a:solidFill>
              <a:srgbClr val="B89B6A"/>
            </a:solidFill>
            <a:prstDash val="solid"/>
          </a:ln>
        </p:spPr>
      </p:sp>
      <p:sp>
        <p:nvSpPr>
          <p:cNvPr id="128" name="Shape 125"/>
          <p:cNvSpPr/>
          <p:nvPr/>
        </p:nvSpPr>
        <p:spPr>
          <a:xfrm>
            <a:off x="10445191" y="4370832"/>
            <a:ext cx="91440" cy="182880"/>
          </a:xfrm>
          <a:prstGeom prst="rect">
            <a:avLst/>
          </a:prstGeom>
          <a:solidFill>
            <a:srgbClr val="B89B6A"/>
          </a:solidFill>
          <a:ln w="12700">
            <a:solidFill>
              <a:srgbClr val="B89B6A"/>
            </a:solidFill>
            <a:prstDash val="solid"/>
          </a:ln>
        </p:spPr>
      </p:sp>
      <p:sp>
        <p:nvSpPr>
          <p:cNvPr id="129" name="Shape 126"/>
          <p:cNvSpPr/>
          <p:nvPr/>
        </p:nvSpPr>
        <p:spPr>
          <a:xfrm>
            <a:off x="10564063" y="4370832"/>
            <a:ext cx="91440" cy="182880"/>
          </a:xfrm>
          <a:prstGeom prst="rect">
            <a:avLst/>
          </a:prstGeom>
          <a:solidFill>
            <a:srgbClr val="B89B6A"/>
          </a:solidFill>
          <a:ln w="12700">
            <a:solidFill>
              <a:srgbClr val="B89B6A"/>
            </a:solidFill>
            <a:prstDash val="solid"/>
          </a:ln>
        </p:spPr>
      </p:sp>
      <p:sp>
        <p:nvSpPr>
          <p:cNvPr id="130" name="Shape 127"/>
          <p:cNvSpPr/>
          <p:nvPr/>
        </p:nvSpPr>
        <p:spPr>
          <a:xfrm>
            <a:off x="10682935" y="4370832"/>
            <a:ext cx="91440" cy="182880"/>
          </a:xfrm>
          <a:prstGeom prst="rect">
            <a:avLst/>
          </a:prstGeom>
          <a:solidFill>
            <a:srgbClr val="B89B6A"/>
          </a:solidFill>
          <a:ln w="12700">
            <a:solidFill>
              <a:srgbClr val="B89B6A"/>
            </a:solidFill>
            <a:prstDash val="solid"/>
          </a:ln>
        </p:spPr>
      </p:sp>
      <p:sp>
        <p:nvSpPr>
          <p:cNvPr id="131" name="Shape 128"/>
          <p:cNvSpPr/>
          <p:nvPr/>
        </p:nvSpPr>
        <p:spPr>
          <a:xfrm>
            <a:off x="10801807" y="4370832"/>
            <a:ext cx="91440" cy="182880"/>
          </a:xfrm>
          <a:prstGeom prst="rect">
            <a:avLst/>
          </a:prstGeom>
          <a:solidFill>
            <a:srgbClr val="B89B6A"/>
          </a:solidFill>
          <a:ln w="12700">
            <a:solidFill>
              <a:srgbClr val="B89B6A"/>
            </a:solidFill>
            <a:prstDash val="solid"/>
          </a:ln>
        </p:spPr>
      </p:sp>
      <p:sp>
        <p:nvSpPr>
          <p:cNvPr id="132" name="Shape 129"/>
          <p:cNvSpPr/>
          <p:nvPr/>
        </p:nvSpPr>
        <p:spPr>
          <a:xfrm>
            <a:off x="10920679" y="4370832"/>
            <a:ext cx="91440" cy="182880"/>
          </a:xfrm>
          <a:prstGeom prst="rect">
            <a:avLst/>
          </a:prstGeom>
          <a:solidFill>
            <a:srgbClr val="26375A"/>
          </a:solidFill>
          <a:ln w="12700">
            <a:solidFill>
              <a:srgbClr val="26375A"/>
            </a:solidFill>
            <a:prstDash val="solid"/>
          </a:ln>
        </p:spPr>
      </p:sp>
      <p:sp>
        <p:nvSpPr>
          <p:cNvPr id="133" name="Shape 130"/>
          <p:cNvSpPr/>
          <p:nvPr/>
        </p:nvSpPr>
        <p:spPr>
          <a:xfrm>
            <a:off x="11039551" y="4370832"/>
            <a:ext cx="91440" cy="182880"/>
          </a:xfrm>
          <a:prstGeom prst="rect">
            <a:avLst/>
          </a:prstGeom>
          <a:solidFill>
            <a:srgbClr val="26375A"/>
          </a:solidFill>
          <a:ln w="12700">
            <a:solidFill>
              <a:srgbClr val="26375A"/>
            </a:solidFill>
            <a:prstDash val="solid"/>
          </a:ln>
        </p:spPr>
      </p:sp>
      <p:sp>
        <p:nvSpPr>
          <p:cNvPr id="134" name="Shape 131"/>
          <p:cNvSpPr/>
          <p:nvPr/>
        </p:nvSpPr>
        <p:spPr>
          <a:xfrm>
            <a:off x="11158423" y="4370832"/>
            <a:ext cx="91440" cy="182880"/>
          </a:xfrm>
          <a:prstGeom prst="rect">
            <a:avLst/>
          </a:prstGeom>
          <a:solidFill>
            <a:srgbClr val="26375A"/>
          </a:solidFill>
          <a:ln w="12700">
            <a:solidFill>
              <a:srgbClr val="26375A"/>
            </a:solidFill>
            <a:prstDash val="solid"/>
          </a:ln>
        </p:spPr>
      </p:sp>
      <p:sp>
        <p:nvSpPr>
          <p:cNvPr id="135" name="Text 132"/>
          <p:cNvSpPr txBox="1"/>
          <p:nvPr/>
        </p:nvSpPr>
        <p:spPr>
          <a:xfrm>
            <a:off x="6507328" y="4626864"/>
            <a:ext cx="4769968" cy="228600"/>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1981年以前の建築は耐震の証明が必要</a:t>
            </a:r>
            <a:endParaRPr lang="en-US" sz="1000" dirty="0"/>
          </a:p>
        </p:txBody>
      </p:sp>
      <p:sp>
        <p:nvSpPr>
          <p:cNvPr id="136" name="Shape 133"/>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137" name="Text 134"/>
          <p:cNvSpPr txBox="1"/>
          <p:nvPr/>
        </p:nvSpPr>
        <p:spPr>
          <a:xfrm>
            <a:off x="914400" y="5029200"/>
            <a:ext cx="146304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共通の主な要件</a:t>
            </a:r>
            <a:endParaRPr lang="en-US" sz="1300" dirty="0"/>
          </a:p>
        </p:txBody>
      </p:sp>
      <p:sp>
        <p:nvSpPr>
          <p:cNvPr id="138" name="Text 135"/>
          <p:cNvSpPr txBox="1"/>
          <p:nvPr/>
        </p:nvSpPr>
        <p:spPr>
          <a:xfrm>
            <a:off x="2423160" y="5029200"/>
            <a:ext cx="8854135" cy="749808"/>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控除率0.7%／床面積40㎡以上（40〜50㎡は合計所得1,000万円以下の年のみ）／合計所得2,000万円以下／返済期間10年以上／取得から6か月以内に入居／親族等からの取得は対象外</a:t>
            </a:r>
            <a:endParaRPr lang="en-US" sz="1200" dirty="0"/>
          </a:p>
        </p:txBody>
      </p:sp>
      <p:sp>
        <p:nvSpPr>
          <p:cNvPr id="139" name="Text 13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一般世帯の限度額。制度の基準日：2026年10月時点（令和8年度税制改正後・2026〜2030年入居）。2028年以降入居の災害レッドゾーン内の新築は対象外。買取再販住宅の限度額は〔要確認〕。出典：財務省「令和8年度税制改正の大綱」、国土交通省「住宅ローン減税」、国税庁 タックスアンサー No.1211-1／1211-2／1211-3。</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住宅ローン控除は、いくら受けられる？</a:t>
            </a:r>
            <a:endParaRPr lang="en-US" sz="3000" dirty="0"/>
          </a:p>
        </p:txBody>
      </p:sp>
      <p:graphicFrame>
        <p:nvGraphicFramePr>
          <p:cNvPr id="5" name="Chart 0" descr=""/>
          <p:cNvGraphicFramePr/>
          <p:nvPr/>
        </p:nvGraphicFramePr>
        <p:xfrm>
          <a:off x="64008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863840" y="1645920"/>
            <a:ext cx="3687775" cy="2103120"/>
          </a:xfrm>
          <a:prstGeom prst="roundRect">
            <a:avLst>
              <a:gd name="adj" fmla="val 2609"/>
            </a:avLst>
          </a:prstGeom>
          <a:solidFill>
            <a:srgbClr val="17233B"/>
          </a:solidFill>
          <a:ln w="9525">
            <a:solidFill>
              <a:srgbClr val="17233B"/>
            </a:solidFill>
            <a:prstDash val="solid"/>
          </a:ln>
        </p:spPr>
      </p:sp>
      <p:sp>
        <p:nvSpPr>
          <p:cNvPr id="7" name="Text 3"/>
          <p:cNvSpPr txBox="1"/>
          <p:nvPr/>
        </p:nvSpPr>
        <p:spPr>
          <a:xfrm>
            <a:off x="8138160" y="1783080"/>
            <a:ext cx="3139135"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13年間の控除見込額（概算）</a:t>
            </a:r>
            <a:endParaRPr lang="en-US" sz="1200" dirty="0"/>
          </a:p>
        </p:txBody>
      </p:sp>
      <p:sp>
        <p:nvSpPr>
          <p:cNvPr id="8" name="Text 4"/>
          <p:cNvSpPr txBox="1"/>
          <p:nvPr/>
        </p:nvSpPr>
        <p:spPr>
          <a:xfrm>
            <a:off x="8138160" y="2057400"/>
            <a:ext cx="3139135" cy="685800"/>
          </a:xfrm>
          <a:prstGeom prst="rect">
            <a:avLst/>
          </a:prstGeom>
          <a:noFill/>
          <a:ln/>
        </p:spPr>
        <p:txBody>
          <a:bodyPr wrap="square" lIns="0" tIns="0" rIns="0" bIns="0" rtlCol="0" anchor="t"/>
          <a:lstStyle/>
          <a:p>
            <a:pPr indent="0" marL="0">
              <a:buNone/>
            </a:pPr>
            <a:r>
              <a:rPr lang="en-US" sz="3800" b="1" dirty="0">
                <a:solidFill>
                  <a:srgbClr val="FFFFFF"/>
                </a:solidFill>
                <a:latin typeface="Yu Gothic" pitchFamily="34" charset="0"/>
                <a:ea typeface="Yu Gothic" pitchFamily="34" charset="-122"/>
                <a:cs typeface="Yu Gothic" pitchFamily="34" charset="-120"/>
              </a:rPr>
              <a:t>243.7万円</a:t>
            </a:r>
            <a:endParaRPr lang="en-US" sz="3800" dirty="0"/>
          </a:p>
        </p:txBody>
      </p:sp>
      <p:sp>
        <p:nvSpPr>
          <p:cNvPr id="9" name="Text 5"/>
          <p:cNvSpPr txBox="1"/>
          <p:nvPr/>
        </p:nvSpPr>
        <p:spPr>
          <a:xfrm>
            <a:off x="8138160" y="2743200"/>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初年度 209,500円</a:t>
            </a:r>
            <a:endParaRPr lang="en-US" sz="1100" dirty="0"/>
          </a:p>
        </p:txBody>
      </p:sp>
      <p:sp>
        <p:nvSpPr>
          <p:cNvPr id="10" name="Text 6"/>
          <p:cNvSpPr txBox="1"/>
          <p:nvPr/>
        </p:nvSpPr>
        <p:spPr>
          <a:xfrm>
            <a:off x="8138160" y="2980944"/>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2年目以降 平均 185,650円</a:t>
            </a:r>
            <a:endParaRPr lang="en-US" sz="1100" dirty="0"/>
          </a:p>
        </p:txBody>
      </p:sp>
      <p:sp>
        <p:nvSpPr>
          <p:cNvPr id="11" name="Text 7"/>
          <p:cNvSpPr txBox="1"/>
          <p:nvPr/>
        </p:nvSpPr>
        <p:spPr>
          <a:xfrm>
            <a:off x="8138160" y="3246120"/>
            <a:ext cx="3139135" cy="237744"/>
          </a:xfrm>
          <a:prstGeom prst="rect">
            <a:avLst/>
          </a:prstGeom>
          <a:noFill/>
          <a:ln/>
        </p:spPr>
        <p:txBody>
          <a:bodyPr wrap="square" lIns="0" tIns="0" rIns="0" bIns="0" rtlCol="0" anchor="t"/>
          <a:lstStyle/>
          <a:p>
            <a:pPr indent="0" marL="0">
              <a:buNone/>
            </a:pPr>
            <a:r>
              <a:rPr lang="en-US" sz="1100" dirty="0">
                <a:solidFill>
                  <a:srgbClr val="EADFCB"/>
                </a:solidFill>
                <a:latin typeface="Yu Gothic" pitchFamily="34" charset="0"/>
                <a:ea typeface="Yu Gothic" pitchFamily="34" charset="-122"/>
                <a:cs typeface="Yu Gothic" pitchFamily="34" charset="-120"/>
              </a:rPr>
              <a:t>上限 245.5万円・控除しきれない 1.7万円</a:t>
            </a:r>
            <a:endParaRPr lang="en-US" sz="1100" dirty="0"/>
          </a:p>
        </p:txBody>
      </p:sp>
      <p:sp>
        <p:nvSpPr>
          <p:cNvPr id="12" name="Shape 8"/>
          <p:cNvSpPr/>
          <p:nvPr/>
        </p:nvSpPr>
        <p:spPr>
          <a:xfrm>
            <a:off x="7863840" y="3931920"/>
            <a:ext cx="3687775" cy="1828800"/>
          </a:xfrm>
          <a:prstGeom prst="roundRect">
            <a:avLst>
              <a:gd name="adj" fmla="val 3000"/>
            </a:avLst>
          </a:prstGeom>
          <a:solidFill>
            <a:srgbClr val="EEF0F3"/>
          </a:solidFill>
          <a:ln w="9525">
            <a:solidFill>
              <a:srgbClr val="EEF0F3"/>
            </a:solidFill>
            <a:prstDash val="solid"/>
          </a:ln>
        </p:spPr>
      </p:sp>
      <p:sp>
        <p:nvSpPr>
          <p:cNvPr id="13" name="Text 9"/>
          <p:cNvSpPr txBox="1"/>
          <p:nvPr/>
        </p:nvSpPr>
        <p:spPr>
          <a:xfrm>
            <a:off x="8138160" y="4041648"/>
            <a:ext cx="3139135" cy="292608"/>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返済額は変わらない</a:t>
            </a:r>
            <a:endParaRPr lang="en-US" sz="1400" dirty="0"/>
          </a:p>
        </p:txBody>
      </p:sp>
      <p:sp>
        <p:nvSpPr>
          <p:cNvPr id="14" name="Text 10"/>
          <p:cNvSpPr txBox="1"/>
          <p:nvPr/>
        </p:nvSpPr>
        <p:spPr>
          <a:xfrm>
            <a:off x="8138160" y="443484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毎月のローン返済</a:t>
            </a:r>
            <a:endParaRPr lang="en-US" sz="1200" dirty="0"/>
          </a:p>
        </p:txBody>
      </p:sp>
      <p:sp>
        <p:nvSpPr>
          <p:cNvPr id="15" name="Text 11"/>
          <p:cNvSpPr txBox="1"/>
          <p:nvPr/>
        </p:nvSpPr>
        <p:spPr>
          <a:xfrm>
            <a:off x="10332720" y="443484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97,979円</a:t>
            </a:r>
            <a:endParaRPr lang="en-US" sz="1300" dirty="0"/>
          </a:p>
        </p:txBody>
      </p:sp>
      <p:sp>
        <p:nvSpPr>
          <p:cNvPr id="16" name="Text 12"/>
          <p:cNvSpPr txBox="1"/>
          <p:nvPr/>
        </p:nvSpPr>
        <p:spPr>
          <a:xfrm>
            <a:off x="8138160" y="484632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控除の月割り（参考）</a:t>
            </a:r>
            <a:endParaRPr lang="en-US" sz="1200" dirty="0"/>
          </a:p>
        </p:txBody>
      </p:sp>
      <p:sp>
        <p:nvSpPr>
          <p:cNvPr id="17" name="Text 13"/>
          <p:cNvSpPr txBox="1"/>
          <p:nvPr/>
        </p:nvSpPr>
        <p:spPr>
          <a:xfrm>
            <a:off x="10332720" y="484632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約1.6万円</a:t>
            </a:r>
            <a:endParaRPr lang="en-US" sz="1300" dirty="0"/>
          </a:p>
        </p:txBody>
      </p:sp>
      <p:sp>
        <p:nvSpPr>
          <p:cNvPr id="18" name="Text 14"/>
          <p:cNvSpPr txBox="1"/>
          <p:nvPr/>
        </p:nvSpPr>
        <p:spPr>
          <a:xfrm>
            <a:off x="8138160" y="525780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14年目以降</a:t>
            </a:r>
            <a:endParaRPr lang="en-US" sz="1200" dirty="0"/>
          </a:p>
        </p:txBody>
      </p:sp>
      <p:sp>
        <p:nvSpPr>
          <p:cNvPr id="19" name="Text 15"/>
          <p:cNvSpPr txBox="1"/>
          <p:nvPr/>
        </p:nvSpPr>
        <p:spPr>
          <a:xfrm>
            <a:off x="10332720" y="525780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控除なし</a:t>
            </a:r>
            <a:endParaRPr lang="en-US" sz="1300" dirty="0"/>
          </a:p>
        </p:txBody>
      </p:sp>
      <p:sp>
        <p:nvSpPr>
          <p:cNvPr id="20" name="Text 1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年収550万円・単身・給与所得のみ、社会保険料を年収の15%と仮定した概算（所得税112,000円・住民税所得割268,000円）。2028年以降も令和8・9年分の基礎控除等の特例が続くと仮定（税額を低めに見積もる保守的な前提）。住民税からの控除は課税総所得金額等×5%・最高97,500円（継続は〔要確認〕）。確定額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新築と中古、10年間の総コスト。</a:t>
            </a:r>
            <a:endParaRPr lang="en-US" sz="3000" dirty="0"/>
          </a:p>
        </p:txBody>
      </p:sp>
      <p:sp>
        <p:nvSpPr>
          <p:cNvPr id="5" name="Text 2"/>
          <p:cNvSpPr txBox="1"/>
          <p:nvPr/>
        </p:nvSpPr>
        <p:spPr>
          <a:xfrm>
            <a:off x="640080" y="1783080"/>
            <a:ext cx="1828800" cy="548640"/>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新築戸建て</a:t>
            </a:r>
            <a:endParaRPr lang="en-US" sz="1800" dirty="0"/>
          </a:p>
        </p:txBody>
      </p:sp>
      <p:sp>
        <p:nvSpPr>
          <p:cNvPr id="6" name="Text 3"/>
          <p:cNvSpPr txBox="1"/>
          <p:nvPr/>
        </p:nvSpPr>
        <p:spPr>
          <a:xfrm>
            <a:off x="640080" y="2331720"/>
            <a:ext cx="182880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3,500万円・ZEH水準</a:t>
            </a:r>
            <a:endParaRPr lang="en-US" sz="1100" dirty="0"/>
          </a:p>
        </p:txBody>
      </p:sp>
      <p:sp>
        <p:nvSpPr>
          <p:cNvPr id="7" name="Shape 4"/>
          <p:cNvSpPr/>
          <p:nvPr/>
        </p:nvSpPr>
        <p:spPr>
          <a:xfrm>
            <a:off x="2651760" y="1828800"/>
            <a:ext cx="1433747" cy="502920"/>
          </a:xfrm>
          <a:prstGeom prst="rect">
            <a:avLst/>
          </a:prstGeom>
          <a:solidFill>
            <a:srgbClr val="8C99AD"/>
          </a:solidFill>
          <a:ln w="12700">
            <a:solidFill>
              <a:srgbClr val="8C99AD"/>
            </a:solidFill>
            <a:prstDash val="solid"/>
          </a:ln>
        </p:spPr>
      </p:sp>
      <p:sp>
        <p:nvSpPr>
          <p:cNvPr id="8" name="Text 5"/>
          <p:cNvSpPr txBox="1"/>
          <p:nvPr/>
        </p:nvSpPr>
        <p:spPr>
          <a:xfrm>
            <a:off x="2651760" y="1828800"/>
            <a:ext cx="1433747"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545</a:t>
            </a:r>
            <a:endParaRPr lang="en-US" sz="1100" dirty="0"/>
          </a:p>
        </p:txBody>
      </p:sp>
      <p:sp>
        <p:nvSpPr>
          <p:cNvPr id="9" name="Shape 6"/>
          <p:cNvSpPr/>
          <p:nvPr/>
        </p:nvSpPr>
        <p:spPr>
          <a:xfrm>
            <a:off x="4085507" y="1828800"/>
            <a:ext cx="3093073" cy="502920"/>
          </a:xfrm>
          <a:prstGeom prst="rect">
            <a:avLst/>
          </a:prstGeom>
          <a:solidFill>
            <a:srgbClr val="17233B"/>
          </a:solidFill>
          <a:ln w="12700">
            <a:solidFill>
              <a:srgbClr val="17233B"/>
            </a:solidFill>
            <a:prstDash val="solid"/>
          </a:ln>
        </p:spPr>
      </p:sp>
      <p:sp>
        <p:nvSpPr>
          <p:cNvPr id="10" name="Text 7"/>
          <p:cNvSpPr txBox="1"/>
          <p:nvPr/>
        </p:nvSpPr>
        <p:spPr>
          <a:xfrm>
            <a:off x="4085507" y="1828800"/>
            <a:ext cx="3093073"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1,176</a:t>
            </a:r>
            <a:endParaRPr lang="en-US" sz="1100" dirty="0"/>
          </a:p>
        </p:txBody>
      </p:sp>
      <p:sp>
        <p:nvSpPr>
          <p:cNvPr id="11" name="Shape 8"/>
          <p:cNvSpPr/>
          <p:nvPr/>
        </p:nvSpPr>
        <p:spPr>
          <a:xfrm>
            <a:off x="7178580" y="1828800"/>
            <a:ext cx="315687" cy="502920"/>
          </a:xfrm>
          <a:prstGeom prst="rect">
            <a:avLst/>
          </a:prstGeom>
          <a:solidFill>
            <a:srgbClr val="5E6B82"/>
          </a:solidFill>
          <a:ln w="12700">
            <a:solidFill>
              <a:srgbClr val="5E6B82"/>
            </a:solidFill>
            <a:prstDash val="solid"/>
          </a:ln>
        </p:spPr>
      </p:sp>
      <p:sp>
        <p:nvSpPr>
          <p:cNvPr id="12" name="Shape 9"/>
          <p:cNvSpPr/>
          <p:nvPr/>
        </p:nvSpPr>
        <p:spPr>
          <a:xfrm>
            <a:off x="7494267" y="1828800"/>
            <a:ext cx="78922" cy="502920"/>
          </a:xfrm>
          <a:prstGeom prst="rect">
            <a:avLst/>
          </a:prstGeom>
          <a:solidFill>
            <a:srgbClr val="A9B2C0"/>
          </a:solidFill>
          <a:ln w="12700">
            <a:solidFill>
              <a:srgbClr val="A9B2C0"/>
            </a:solidFill>
            <a:prstDash val="solid"/>
          </a:ln>
        </p:spPr>
      </p:sp>
      <p:sp>
        <p:nvSpPr>
          <p:cNvPr id="13" name="Shape 10"/>
          <p:cNvSpPr/>
          <p:nvPr/>
        </p:nvSpPr>
        <p:spPr>
          <a:xfrm>
            <a:off x="7573189" y="1828800"/>
            <a:ext cx="473531" cy="502920"/>
          </a:xfrm>
          <a:prstGeom prst="rect">
            <a:avLst/>
          </a:prstGeom>
          <a:solidFill>
            <a:srgbClr val="B89B6A"/>
          </a:solidFill>
          <a:ln w="12700">
            <a:solidFill>
              <a:srgbClr val="B89B6A"/>
            </a:solidFill>
            <a:prstDash val="solid"/>
          </a:ln>
        </p:spPr>
      </p:sp>
      <p:sp>
        <p:nvSpPr>
          <p:cNvPr id="14" name="Text 11"/>
          <p:cNvSpPr txBox="1"/>
          <p:nvPr/>
        </p:nvSpPr>
        <p:spPr>
          <a:xfrm>
            <a:off x="8183880" y="182880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2,051万円</a:t>
            </a:r>
            <a:endParaRPr lang="en-US" sz="1400" dirty="0"/>
          </a:p>
        </p:txBody>
      </p:sp>
      <p:sp>
        <p:nvSpPr>
          <p:cNvPr id="15" name="Shape 12"/>
          <p:cNvSpPr/>
          <p:nvPr/>
        </p:nvSpPr>
        <p:spPr>
          <a:xfrm>
            <a:off x="7532913" y="2423160"/>
            <a:ext cx="0" cy="457200"/>
          </a:xfrm>
          <a:prstGeom prst="line">
            <a:avLst/>
          </a:prstGeom>
          <a:noFill/>
          <a:ln w="19050">
            <a:solidFill>
              <a:srgbClr val="3D7258"/>
            </a:solidFill>
            <a:prstDash val="solid"/>
          </a:ln>
        </p:spPr>
      </p:sp>
      <p:sp>
        <p:nvSpPr>
          <p:cNvPr id="16" name="Shape 13"/>
          <p:cNvSpPr/>
          <p:nvPr/>
        </p:nvSpPr>
        <p:spPr>
          <a:xfrm>
            <a:off x="2651760" y="2496312"/>
            <a:ext cx="4881153" cy="292608"/>
          </a:xfrm>
          <a:prstGeom prst="rect">
            <a:avLst/>
          </a:prstGeom>
          <a:solidFill>
            <a:srgbClr val="DCE8E1"/>
          </a:solidFill>
          <a:ln w="12700">
            <a:solidFill>
              <a:srgbClr val="DCE8E1"/>
            </a:solidFill>
            <a:prstDash val="solid"/>
          </a:ln>
        </p:spPr>
      </p:sp>
      <p:sp>
        <p:nvSpPr>
          <p:cNvPr id="17" name="Text 14"/>
          <p:cNvSpPr txBox="1"/>
          <p:nvPr/>
        </p:nvSpPr>
        <p:spPr>
          <a:xfrm>
            <a:off x="2788920" y="249631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−195.3万円　→　実質 1,855万円</a:t>
            </a:r>
            <a:endParaRPr lang="en-US" sz="1300" dirty="0"/>
          </a:p>
        </p:txBody>
      </p:sp>
      <p:sp>
        <p:nvSpPr>
          <p:cNvPr id="18" name="Text 15"/>
          <p:cNvSpPr txBox="1"/>
          <p:nvPr/>
        </p:nvSpPr>
        <p:spPr>
          <a:xfrm>
            <a:off x="640080" y="3520440"/>
            <a:ext cx="1828800" cy="548640"/>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中古戸建て</a:t>
            </a:r>
            <a:endParaRPr lang="en-US" sz="1800" dirty="0"/>
          </a:p>
        </p:txBody>
      </p:sp>
      <p:sp>
        <p:nvSpPr>
          <p:cNvPr id="19" name="Text 16"/>
          <p:cNvSpPr txBox="1"/>
          <p:nvPr/>
        </p:nvSpPr>
        <p:spPr>
          <a:xfrm>
            <a:off x="640080" y="4069080"/>
            <a:ext cx="182880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2,500万円・築15年</a:t>
            </a:r>
            <a:endParaRPr lang="en-US" sz="1100" dirty="0"/>
          </a:p>
        </p:txBody>
      </p:sp>
      <p:sp>
        <p:nvSpPr>
          <p:cNvPr id="20" name="Shape 17"/>
          <p:cNvSpPr/>
          <p:nvPr/>
        </p:nvSpPr>
        <p:spPr>
          <a:xfrm>
            <a:off x="2651760" y="3566160"/>
            <a:ext cx="1315364" cy="502920"/>
          </a:xfrm>
          <a:prstGeom prst="rect">
            <a:avLst/>
          </a:prstGeom>
          <a:solidFill>
            <a:srgbClr val="8C99AD"/>
          </a:solidFill>
          <a:ln w="12700">
            <a:solidFill>
              <a:srgbClr val="8C99AD"/>
            </a:solidFill>
            <a:prstDash val="solid"/>
          </a:ln>
        </p:spPr>
      </p:sp>
      <p:sp>
        <p:nvSpPr>
          <p:cNvPr id="21" name="Text 18"/>
          <p:cNvSpPr txBox="1"/>
          <p:nvPr/>
        </p:nvSpPr>
        <p:spPr>
          <a:xfrm>
            <a:off x="2651760" y="3566160"/>
            <a:ext cx="131536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500</a:t>
            </a:r>
            <a:endParaRPr lang="en-US" sz="1100" dirty="0"/>
          </a:p>
        </p:txBody>
      </p:sp>
      <p:sp>
        <p:nvSpPr>
          <p:cNvPr id="22" name="Shape 19"/>
          <p:cNvSpPr/>
          <p:nvPr/>
        </p:nvSpPr>
        <p:spPr>
          <a:xfrm>
            <a:off x="3967124" y="3566160"/>
            <a:ext cx="2126488" cy="502920"/>
          </a:xfrm>
          <a:prstGeom prst="rect">
            <a:avLst/>
          </a:prstGeom>
          <a:solidFill>
            <a:srgbClr val="17233B"/>
          </a:solidFill>
          <a:ln w="12700">
            <a:solidFill>
              <a:srgbClr val="17233B"/>
            </a:solidFill>
            <a:prstDash val="solid"/>
          </a:ln>
        </p:spPr>
      </p:sp>
      <p:sp>
        <p:nvSpPr>
          <p:cNvPr id="23" name="Text 20"/>
          <p:cNvSpPr txBox="1"/>
          <p:nvPr/>
        </p:nvSpPr>
        <p:spPr>
          <a:xfrm>
            <a:off x="3967124" y="3566160"/>
            <a:ext cx="2126488"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808</a:t>
            </a:r>
            <a:endParaRPr lang="en-US" sz="1100" dirty="0"/>
          </a:p>
        </p:txBody>
      </p:sp>
      <p:sp>
        <p:nvSpPr>
          <p:cNvPr id="24" name="Shape 21"/>
          <p:cNvSpPr/>
          <p:nvPr/>
        </p:nvSpPr>
        <p:spPr>
          <a:xfrm>
            <a:off x="6093612" y="3566160"/>
            <a:ext cx="236765" cy="502920"/>
          </a:xfrm>
          <a:prstGeom prst="rect">
            <a:avLst/>
          </a:prstGeom>
          <a:solidFill>
            <a:srgbClr val="5E6B82"/>
          </a:solidFill>
          <a:ln w="12700">
            <a:solidFill>
              <a:srgbClr val="5E6B82"/>
            </a:solidFill>
            <a:prstDash val="solid"/>
          </a:ln>
        </p:spPr>
      </p:sp>
      <p:sp>
        <p:nvSpPr>
          <p:cNvPr id="25" name="Shape 22"/>
          <p:cNvSpPr/>
          <p:nvPr/>
        </p:nvSpPr>
        <p:spPr>
          <a:xfrm>
            <a:off x="6330377" y="3566160"/>
            <a:ext cx="78922" cy="502920"/>
          </a:xfrm>
          <a:prstGeom prst="rect">
            <a:avLst/>
          </a:prstGeom>
          <a:solidFill>
            <a:srgbClr val="A9B2C0"/>
          </a:solidFill>
          <a:ln w="12700">
            <a:solidFill>
              <a:srgbClr val="A9B2C0"/>
            </a:solidFill>
            <a:prstDash val="solid"/>
          </a:ln>
        </p:spPr>
      </p:sp>
      <p:sp>
        <p:nvSpPr>
          <p:cNvPr id="26" name="Shape 23"/>
          <p:cNvSpPr/>
          <p:nvPr/>
        </p:nvSpPr>
        <p:spPr>
          <a:xfrm>
            <a:off x="6409299" y="3566160"/>
            <a:ext cx="789218" cy="502920"/>
          </a:xfrm>
          <a:prstGeom prst="rect">
            <a:avLst/>
          </a:prstGeom>
          <a:solidFill>
            <a:srgbClr val="B89B6A"/>
          </a:solidFill>
          <a:ln w="12700">
            <a:solidFill>
              <a:srgbClr val="B89B6A"/>
            </a:solidFill>
            <a:prstDash val="solid"/>
          </a:ln>
        </p:spPr>
      </p:sp>
      <p:sp>
        <p:nvSpPr>
          <p:cNvPr id="27" name="Text 24"/>
          <p:cNvSpPr txBox="1"/>
          <p:nvPr/>
        </p:nvSpPr>
        <p:spPr>
          <a:xfrm>
            <a:off x="7335677" y="356616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1,728万円</a:t>
            </a:r>
            <a:endParaRPr lang="en-US" sz="1400" dirty="0"/>
          </a:p>
        </p:txBody>
      </p:sp>
      <p:sp>
        <p:nvSpPr>
          <p:cNvPr id="28" name="Shape 25"/>
          <p:cNvSpPr/>
          <p:nvPr/>
        </p:nvSpPr>
        <p:spPr>
          <a:xfrm>
            <a:off x="6848736" y="4160520"/>
            <a:ext cx="0" cy="457200"/>
          </a:xfrm>
          <a:prstGeom prst="line">
            <a:avLst/>
          </a:prstGeom>
          <a:noFill/>
          <a:ln w="19050">
            <a:solidFill>
              <a:srgbClr val="3D7258"/>
            </a:solidFill>
            <a:prstDash val="solid"/>
          </a:ln>
        </p:spPr>
      </p:sp>
      <p:sp>
        <p:nvSpPr>
          <p:cNvPr id="29" name="Shape 26"/>
          <p:cNvSpPr/>
          <p:nvPr/>
        </p:nvSpPr>
        <p:spPr>
          <a:xfrm>
            <a:off x="2651760" y="4233672"/>
            <a:ext cx="4196976" cy="292608"/>
          </a:xfrm>
          <a:prstGeom prst="rect">
            <a:avLst/>
          </a:prstGeom>
          <a:solidFill>
            <a:srgbClr val="DCE8E1"/>
          </a:solidFill>
          <a:ln w="12700">
            <a:solidFill>
              <a:srgbClr val="DCE8E1"/>
            </a:solidFill>
            <a:prstDash val="solid"/>
          </a:ln>
        </p:spPr>
      </p:sp>
      <p:sp>
        <p:nvSpPr>
          <p:cNvPr id="30" name="Text 27"/>
          <p:cNvSpPr txBox="1"/>
          <p:nvPr/>
        </p:nvSpPr>
        <p:spPr>
          <a:xfrm>
            <a:off x="2788920" y="423367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−133.0万円　→　実質 1,595万円</a:t>
            </a:r>
            <a:endParaRPr lang="en-US" sz="1300" dirty="0"/>
          </a:p>
        </p:txBody>
      </p:sp>
      <p:sp>
        <p:nvSpPr>
          <p:cNvPr id="31" name="Shape 28"/>
          <p:cNvSpPr/>
          <p:nvPr/>
        </p:nvSpPr>
        <p:spPr>
          <a:xfrm>
            <a:off x="2651760" y="5349240"/>
            <a:ext cx="182880" cy="182880"/>
          </a:xfrm>
          <a:prstGeom prst="rect">
            <a:avLst/>
          </a:prstGeom>
          <a:solidFill>
            <a:srgbClr val="8C99AD"/>
          </a:solidFill>
          <a:ln w="12700">
            <a:solidFill>
              <a:srgbClr val="8C99AD"/>
            </a:solidFill>
            <a:prstDash val="solid"/>
          </a:ln>
        </p:spPr>
      </p:sp>
      <p:sp>
        <p:nvSpPr>
          <p:cNvPr id="32" name="Text 29"/>
          <p:cNvSpPr txBox="1"/>
          <p:nvPr/>
        </p:nvSpPr>
        <p:spPr>
          <a:xfrm>
            <a:off x="2907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初期費用</a:t>
            </a:r>
            <a:endParaRPr lang="en-US" sz="1000" dirty="0"/>
          </a:p>
        </p:txBody>
      </p:sp>
      <p:sp>
        <p:nvSpPr>
          <p:cNvPr id="33" name="Shape 30"/>
          <p:cNvSpPr/>
          <p:nvPr/>
        </p:nvSpPr>
        <p:spPr>
          <a:xfrm>
            <a:off x="3794760" y="5349240"/>
            <a:ext cx="182880" cy="182880"/>
          </a:xfrm>
          <a:prstGeom prst="rect">
            <a:avLst/>
          </a:prstGeom>
          <a:solidFill>
            <a:srgbClr val="17233B"/>
          </a:solidFill>
          <a:ln w="12700">
            <a:solidFill>
              <a:srgbClr val="17233B"/>
            </a:solidFill>
            <a:prstDash val="solid"/>
          </a:ln>
        </p:spPr>
      </p:sp>
      <p:sp>
        <p:nvSpPr>
          <p:cNvPr id="34" name="Text 31"/>
          <p:cNvSpPr txBox="1"/>
          <p:nvPr/>
        </p:nvSpPr>
        <p:spPr>
          <a:xfrm>
            <a:off x="4050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ローン返済</a:t>
            </a:r>
            <a:endParaRPr lang="en-US" sz="1000" dirty="0"/>
          </a:p>
        </p:txBody>
      </p:sp>
      <p:sp>
        <p:nvSpPr>
          <p:cNvPr id="35" name="Shape 32"/>
          <p:cNvSpPr/>
          <p:nvPr/>
        </p:nvSpPr>
        <p:spPr>
          <a:xfrm>
            <a:off x="4937760" y="5349240"/>
            <a:ext cx="182880" cy="182880"/>
          </a:xfrm>
          <a:prstGeom prst="rect">
            <a:avLst/>
          </a:prstGeom>
          <a:solidFill>
            <a:srgbClr val="5E6B82"/>
          </a:solidFill>
          <a:ln w="12700">
            <a:solidFill>
              <a:srgbClr val="5E6B82"/>
            </a:solidFill>
            <a:prstDash val="solid"/>
          </a:ln>
        </p:spPr>
      </p:sp>
      <p:sp>
        <p:nvSpPr>
          <p:cNvPr id="36" name="Text 33"/>
          <p:cNvSpPr txBox="1"/>
          <p:nvPr/>
        </p:nvSpPr>
        <p:spPr>
          <a:xfrm>
            <a:off x="5193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固定資産税等</a:t>
            </a:r>
            <a:endParaRPr lang="en-US" sz="1000" dirty="0"/>
          </a:p>
        </p:txBody>
      </p:sp>
      <p:sp>
        <p:nvSpPr>
          <p:cNvPr id="37" name="Shape 34"/>
          <p:cNvSpPr/>
          <p:nvPr/>
        </p:nvSpPr>
        <p:spPr>
          <a:xfrm>
            <a:off x="6080760" y="5349240"/>
            <a:ext cx="182880" cy="182880"/>
          </a:xfrm>
          <a:prstGeom prst="rect">
            <a:avLst/>
          </a:prstGeom>
          <a:solidFill>
            <a:srgbClr val="A9B2C0"/>
          </a:solidFill>
          <a:ln w="12700">
            <a:solidFill>
              <a:srgbClr val="A9B2C0"/>
            </a:solidFill>
            <a:prstDash val="solid"/>
          </a:ln>
        </p:spPr>
      </p:sp>
      <p:sp>
        <p:nvSpPr>
          <p:cNvPr id="38" name="Text 35"/>
          <p:cNvSpPr txBox="1"/>
          <p:nvPr/>
        </p:nvSpPr>
        <p:spPr>
          <a:xfrm>
            <a:off x="6336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保険</a:t>
            </a:r>
            <a:endParaRPr lang="en-US" sz="1000" dirty="0"/>
          </a:p>
        </p:txBody>
      </p:sp>
      <p:sp>
        <p:nvSpPr>
          <p:cNvPr id="39" name="Shape 36"/>
          <p:cNvSpPr/>
          <p:nvPr/>
        </p:nvSpPr>
        <p:spPr>
          <a:xfrm>
            <a:off x="7223760" y="5349240"/>
            <a:ext cx="182880" cy="182880"/>
          </a:xfrm>
          <a:prstGeom prst="rect">
            <a:avLst/>
          </a:prstGeom>
          <a:solidFill>
            <a:srgbClr val="B89B6A"/>
          </a:solidFill>
          <a:ln w="12700">
            <a:solidFill>
              <a:srgbClr val="B89B6A"/>
            </a:solidFill>
            <a:prstDash val="solid"/>
          </a:ln>
        </p:spPr>
      </p:sp>
      <p:sp>
        <p:nvSpPr>
          <p:cNvPr id="40" name="Text 37"/>
          <p:cNvSpPr txBox="1"/>
          <p:nvPr/>
        </p:nvSpPr>
        <p:spPr>
          <a:xfrm>
            <a:off x="7479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a:t>
            </a:r>
            <a:endParaRPr lang="en-US" sz="1000" dirty="0"/>
          </a:p>
        </p:txBody>
      </p:sp>
      <p:sp>
        <p:nvSpPr>
          <p:cNvPr id="41" name="Shape 38"/>
          <p:cNvSpPr/>
          <p:nvPr/>
        </p:nvSpPr>
        <p:spPr>
          <a:xfrm>
            <a:off x="9326880" y="1783080"/>
            <a:ext cx="2224735" cy="3383280"/>
          </a:xfrm>
          <a:prstGeom prst="roundRect">
            <a:avLst>
              <a:gd name="adj" fmla="val 2466"/>
            </a:avLst>
          </a:prstGeom>
          <a:solidFill>
            <a:srgbClr val="F7F4EE"/>
          </a:solidFill>
          <a:ln w="9525">
            <a:solidFill>
              <a:srgbClr val="F7F4EE"/>
            </a:solidFill>
            <a:prstDash val="solid"/>
          </a:ln>
        </p:spPr>
      </p:sp>
      <p:sp>
        <p:nvSpPr>
          <p:cNvPr id="42" name="Text 39"/>
          <p:cNvSpPr txBox="1"/>
          <p:nvPr/>
        </p:nvSpPr>
        <p:spPr>
          <a:xfrm>
            <a:off x="9509760" y="1874520"/>
            <a:ext cx="1858975" cy="54864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10年後に売ったら（横ばい）</a:t>
            </a:r>
            <a:endParaRPr lang="en-US" sz="1200" dirty="0"/>
          </a:p>
        </p:txBody>
      </p:sp>
      <p:sp>
        <p:nvSpPr>
          <p:cNvPr id="43" name="Text 40"/>
          <p:cNvSpPr txBox="1"/>
          <p:nvPr/>
        </p:nvSpPr>
        <p:spPr>
          <a:xfrm>
            <a:off x="9509760" y="2560320"/>
            <a:ext cx="1858975" cy="274320"/>
          </a:xfrm>
          <a:prstGeom prst="rect">
            <a:avLst/>
          </a:prstGeom>
          <a:noFill/>
          <a:ln/>
        </p:spPr>
        <p:txBody>
          <a:bodyPr wrap="square" lIns="0" tIns="0" rIns="0" bIns="0" rtlCol="0" anchor="t"/>
          <a:lstStyle/>
          <a:p>
            <a:pPr indent="0" marL="0">
              <a:buNone/>
            </a:pPr>
            <a:r>
              <a:rPr lang="en-US" sz="1300" b="1" dirty="0">
                <a:solidFill>
                  <a:srgbClr val="17233B"/>
                </a:solidFill>
                <a:latin typeface="Yu Gothic" pitchFamily="34" charset="0"/>
                <a:ea typeface="Yu Gothic" pitchFamily="34" charset="-122"/>
                <a:cs typeface="Yu Gothic" pitchFamily="34" charset="-120"/>
              </a:rPr>
              <a:t>新築</a:t>
            </a:r>
            <a:endParaRPr lang="en-US" sz="1300" dirty="0"/>
          </a:p>
        </p:txBody>
      </p:sp>
      <p:sp>
        <p:nvSpPr>
          <p:cNvPr id="44" name="Text 41"/>
          <p:cNvSpPr txBox="1"/>
          <p:nvPr/>
        </p:nvSpPr>
        <p:spPr>
          <a:xfrm>
            <a:off x="9509760" y="285292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2,500万円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2,450万円</a:t>
            </a:r>
            <a:endParaRPr lang="en-US" sz="1200" dirty="0"/>
          </a:p>
        </p:txBody>
      </p:sp>
      <p:sp>
        <p:nvSpPr>
          <p:cNvPr id="45" name="Text 42"/>
          <p:cNvSpPr txBox="1"/>
          <p:nvPr/>
        </p:nvSpPr>
        <p:spPr>
          <a:xfrm>
            <a:off x="9509760" y="3364992"/>
            <a:ext cx="1858975" cy="274320"/>
          </a:xfrm>
          <a:prstGeom prst="rect">
            <a:avLst/>
          </a:prstGeom>
          <a:noFill/>
          <a:ln/>
        </p:spPr>
        <p:txBody>
          <a:bodyPr wrap="square" lIns="0" tIns="0" rIns="0" bIns="0" rtlCol="0" anchor="t"/>
          <a:lstStyle/>
          <a:p>
            <a:pPr indent="0" marL="0">
              <a:buNone/>
            </a:pPr>
            <a:r>
              <a:rPr lang="en-US" sz="1200" b="1" dirty="0">
                <a:solidFill>
                  <a:srgbClr val="9E4B3B"/>
                </a:solidFill>
                <a:latin typeface="Yu Gothic" pitchFamily="34" charset="0"/>
                <a:ea typeface="Yu Gothic" pitchFamily="34" charset="-122"/>
                <a:cs typeface="Yu Gothic" pitchFamily="34" charset="-120"/>
              </a:rPr>
              <a:t>売却手取り −49万円</a:t>
            </a:r>
            <a:endParaRPr lang="en-US" sz="1200" dirty="0"/>
          </a:p>
        </p:txBody>
      </p:sp>
      <p:sp>
        <p:nvSpPr>
          <p:cNvPr id="46" name="Text 43"/>
          <p:cNvSpPr txBox="1"/>
          <p:nvPr/>
        </p:nvSpPr>
        <p:spPr>
          <a:xfrm>
            <a:off x="9509760" y="3840480"/>
            <a:ext cx="1858975" cy="274320"/>
          </a:xfrm>
          <a:prstGeom prst="rect">
            <a:avLst/>
          </a:prstGeom>
          <a:noFill/>
          <a:ln/>
        </p:spPr>
        <p:txBody>
          <a:bodyPr wrap="square" lIns="0" tIns="0" rIns="0" bIns="0" rtlCol="0" anchor="t"/>
          <a:lstStyle/>
          <a:p>
            <a:pPr indent="0" marL="0">
              <a:buNone/>
            </a:pPr>
            <a:r>
              <a:rPr lang="en-US" sz="1300" b="1" dirty="0">
                <a:solidFill>
                  <a:srgbClr val="17233B"/>
                </a:solidFill>
                <a:latin typeface="Yu Gothic" pitchFamily="34" charset="0"/>
                <a:ea typeface="Yu Gothic" pitchFamily="34" charset="-122"/>
                <a:cs typeface="Yu Gothic" pitchFamily="34" charset="-120"/>
              </a:rPr>
              <a:t>中古</a:t>
            </a:r>
            <a:endParaRPr lang="en-US" sz="1300" dirty="0"/>
          </a:p>
        </p:txBody>
      </p:sp>
      <p:sp>
        <p:nvSpPr>
          <p:cNvPr id="47" name="Text 44"/>
          <p:cNvSpPr txBox="1"/>
          <p:nvPr/>
        </p:nvSpPr>
        <p:spPr>
          <a:xfrm>
            <a:off x="9509760" y="413308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1,900万円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1,684万円</a:t>
            </a:r>
            <a:endParaRPr lang="en-US" sz="1200" dirty="0"/>
          </a:p>
        </p:txBody>
      </p:sp>
      <p:sp>
        <p:nvSpPr>
          <p:cNvPr id="48" name="Text 45"/>
          <p:cNvSpPr txBox="1"/>
          <p:nvPr/>
        </p:nvSpPr>
        <p:spPr>
          <a:xfrm>
            <a:off x="9509760" y="4645152"/>
            <a:ext cx="1858975" cy="274320"/>
          </a:xfrm>
          <a:prstGeom prst="rect">
            <a:avLst/>
          </a:prstGeom>
          <a:noFill/>
          <a:ln/>
        </p:spPr>
        <p:txBody>
          <a:bodyPr wrap="square" lIns="0" tIns="0" rIns="0" bIns="0" rtlCol="0" anchor="t"/>
          <a:lstStyle/>
          <a:p>
            <a:pPr indent="0" marL="0">
              <a:buNone/>
            </a:pPr>
            <a:r>
              <a:rPr lang="en-US" sz="1200" b="1" dirty="0">
                <a:solidFill>
                  <a:srgbClr val="3D7258"/>
                </a:solidFill>
                <a:latin typeface="Yu Gothic" pitchFamily="34" charset="0"/>
                <a:ea typeface="Yu Gothic" pitchFamily="34" charset="-122"/>
                <a:cs typeface="Yu Gothic" pitchFamily="34" charset="-120"/>
              </a:rPr>
              <a:t>売却手取り ＋136万円</a:t>
            </a:r>
            <a:endParaRPr lang="en-US" sz="1200" dirty="0"/>
          </a:p>
        </p:txBody>
      </p:sp>
      <p:sp>
        <p:nvSpPr>
          <p:cNvPr id="49" name="Text 4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10年間＝初期費用（頭金＋諸費用）＋返済120回＋固定資産税等・保険・修繕積立の10年分。中古サンプル（2,500万円・110㎡/90㎡・2012年築・その他の住宅・諸費用8%・修繕 月2.5万円）と新築のZEH水準はすべて仮定値。控除はP14と同じ概算。</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住宅ローン残債と資産の関係。</a:t>
            </a:r>
            <a:endParaRPr lang="en-US" sz="3000" dirty="0"/>
          </a:p>
        </p:txBody>
      </p:sp>
      <p:graphicFrame>
        <p:nvGraphicFramePr>
          <p:cNvPr id="5" name="Chart 0" descr=""/>
          <p:cNvGraphicFramePr/>
          <p:nvPr/>
        </p:nvGraphicFramePr>
        <p:xfrm>
          <a:off x="640080" y="160020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95360" y="1691640"/>
            <a:ext cx="29562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売却時の手取り</a:t>
            </a:r>
            <a:endParaRPr lang="en-US" sz="1400" dirty="0"/>
          </a:p>
        </p:txBody>
      </p:sp>
      <p:sp>
        <p:nvSpPr>
          <p:cNvPr id="7" name="Shape 3"/>
          <p:cNvSpPr/>
          <p:nvPr/>
        </p:nvSpPr>
        <p:spPr>
          <a:xfrm>
            <a:off x="8595360" y="2057400"/>
            <a:ext cx="2956255" cy="1005840"/>
          </a:xfrm>
          <a:prstGeom prst="roundRect">
            <a:avLst>
              <a:gd name="adj" fmla="val 5455"/>
            </a:avLst>
          </a:prstGeom>
          <a:solidFill>
            <a:srgbClr val="17233B"/>
          </a:solidFill>
          <a:ln w="9525">
            <a:solidFill>
              <a:srgbClr val="17233B"/>
            </a:solidFill>
            <a:prstDash val="solid"/>
          </a:ln>
        </p:spPr>
      </p:sp>
      <p:sp>
        <p:nvSpPr>
          <p:cNvPr id="8" name="Text 4"/>
          <p:cNvSpPr txBox="1"/>
          <p:nvPr/>
        </p:nvSpPr>
        <p:spPr>
          <a:xfrm>
            <a:off x="8778240" y="2057400"/>
            <a:ext cx="2590495"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売却価格</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 売却費用 − 残債</a:t>
            </a:r>
            <a:endParaRPr lang="en-US" sz="1500" dirty="0"/>
          </a:p>
        </p:txBody>
      </p:sp>
      <p:sp>
        <p:nvSpPr>
          <p:cNvPr id="9" name="Text 5"/>
          <p:cNvSpPr txBox="1"/>
          <p:nvPr/>
        </p:nvSpPr>
        <p:spPr>
          <a:xfrm>
            <a:off x="8595360" y="329184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5年後</a:t>
            </a:r>
            <a:endParaRPr lang="en-US" sz="1300" dirty="0"/>
          </a:p>
        </p:txBody>
      </p:sp>
      <p:sp>
        <p:nvSpPr>
          <p:cNvPr id="10" name="Text 6"/>
          <p:cNvSpPr txBox="1"/>
          <p:nvPr/>
        </p:nvSpPr>
        <p:spPr>
          <a:xfrm>
            <a:off x="9509760" y="329184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3,000万円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2,839万円</a:t>
            </a:r>
            <a:endParaRPr lang="en-US" sz="1200" dirty="0"/>
          </a:p>
        </p:txBody>
      </p:sp>
      <p:sp>
        <p:nvSpPr>
          <p:cNvPr id="11" name="Text 7"/>
          <p:cNvSpPr txBox="1"/>
          <p:nvPr/>
        </p:nvSpPr>
        <p:spPr>
          <a:xfrm>
            <a:off x="8595360" y="406908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10年後</a:t>
            </a:r>
            <a:endParaRPr lang="en-US" sz="1300" dirty="0"/>
          </a:p>
        </p:txBody>
      </p:sp>
      <p:sp>
        <p:nvSpPr>
          <p:cNvPr id="12" name="Text 8"/>
          <p:cNvSpPr txBox="1"/>
          <p:nvPr/>
        </p:nvSpPr>
        <p:spPr>
          <a:xfrm>
            <a:off x="9509760" y="406908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2,500万円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2,450万円</a:t>
            </a:r>
            <a:endParaRPr lang="en-US" sz="1200" dirty="0"/>
          </a:p>
        </p:txBody>
      </p:sp>
      <p:sp>
        <p:nvSpPr>
          <p:cNvPr id="13" name="Text 9"/>
          <p:cNvSpPr txBox="1"/>
          <p:nvPr/>
        </p:nvSpPr>
        <p:spPr>
          <a:xfrm>
            <a:off x="8595360" y="484632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20年後</a:t>
            </a:r>
            <a:endParaRPr lang="en-US" sz="1300" dirty="0"/>
          </a:p>
        </p:txBody>
      </p:sp>
      <p:sp>
        <p:nvSpPr>
          <p:cNvPr id="14" name="Text 10"/>
          <p:cNvSpPr txBox="1"/>
          <p:nvPr/>
        </p:nvSpPr>
        <p:spPr>
          <a:xfrm>
            <a:off x="9509760" y="484632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1,700万円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1,578万円</a:t>
            </a:r>
            <a:endParaRPr lang="en-US" sz="1200" dirty="0"/>
          </a:p>
        </p:txBody>
      </p:sp>
      <p:sp>
        <p:nvSpPr>
          <p:cNvPr id="15" name="Text 11"/>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価値は3つの仮定シナリオ（土地：年−1%／±0%／＋1%、建物：10年後に購入時の40／50／60%・下限10%）で、将来価格の予想・保証ではありません。残債は年利1.5%（全期間一定と仮定）・繰上げ返済なし。</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将来、住まいを変えたくなったら。</a:t>
            </a:r>
            <a:endParaRPr lang="en-US" sz="3000" dirty="0"/>
          </a:p>
        </p:txBody>
      </p:sp>
      <p:sp>
        <p:nvSpPr>
          <p:cNvPr id="5" name="Shape 2"/>
          <p:cNvSpPr/>
          <p:nvPr/>
        </p:nvSpPr>
        <p:spPr>
          <a:xfrm>
            <a:off x="640080" y="1600200"/>
            <a:ext cx="3454298" cy="3246120"/>
          </a:xfrm>
          <a:prstGeom prst="roundRect">
            <a:avLst>
              <a:gd name="adj" fmla="val 1690"/>
            </a:avLst>
          </a:prstGeom>
          <a:solidFill>
            <a:srgbClr val="EEF0F3"/>
          </a:solidFill>
          <a:ln w="9525">
            <a:solidFill>
              <a:srgbClr val="EEF0F3"/>
            </a:solidFill>
            <a:prstDash val="solid"/>
          </a:ln>
        </p:spPr>
      </p:sp>
      <p:sp>
        <p:nvSpPr>
          <p:cNvPr id="6" name="Shape 3"/>
          <p:cNvSpPr/>
          <p:nvPr/>
        </p:nvSpPr>
        <p:spPr>
          <a:xfrm>
            <a:off x="960120" y="1828800"/>
            <a:ext cx="603504" cy="603504"/>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10996" y="1979676"/>
            <a:ext cx="301752" cy="301752"/>
          </a:xfrm>
          <a:prstGeom prst="rect">
            <a:avLst/>
          </a:prstGeom>
        </p:spPr>
      </p:pic>
      <p:sp>
        <p:nvSpPr>
          <p:cNvPr id="8" name="Text 4"/>
          <p:cNvSpPr txBox="1"/>
          <p:nvPr/>
        </p:nvSpPr>
        <p:spPr>
          <a:xfrm>
            <a:off x="1691640"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売却する</a:t>
            </a:r>
            <a:endParaRPr lang="en-US" sz="1900" dirty="0"/>
          </a:p>
        </p:txBody>
      </p:sp>
      <p:sp>
        <p:nvSpPr>
          <p:cNvPr id="9" name="Text 5"/>
          <p:cNvSpPr txBox="1"/>
          <p:nvPr/>
        </p:nvSpPr>
        <p:spPr>
          <a:xfrm>
            <a:off x="1691640"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仲介、または買取で</a:t>
            </a:r>
            <a:endParaRPr lang="en-US" sz="1200" dirty="0"/>
          </a:p>
        </p:txBody>
      </p:sp>
      <p:sp>
        <p:nvSpPr>
          <p:cNvPr id="10" name="Shape 6"/>
          <p:cNvSpPr/>
          <p:nvPr/>
        </p:nvSpPr>
        <p:spPr>
          <a:xfrm>
            <a:off x="960120" y="2743200"/>
            <a:ext cx="2814218" cy="0"/>
          </a:xfrm>
          <a:prstGeom prst="line">
            <a:avLst/>
          </a:prstGeom>
          <a:noFill/>
          <a:ln w="9525">
            <a:solidFill>
              <a:srgbClr val="DDE0E5"/>
            </a:solidFill>
            <a:prstDash val="solid"/>
          </a:ln>
        </p:spPr>
      </p:sp>
      <p:sp>
        <p:nvSpPr>
          <p:cNvPr id="11" name="Text 7"/>
          <p:cNvSpPr txBox="1"/>
          <p:nvPr/>
        </p:nvSpPr>
        <p:spPr>
          <a:xfrm>
            <a:off x="960120"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売却価格−売却費用−残債が手元に</a:t>
            </a:r>
            <a:endParaRPr lang="en-US" sz="1300" dirty="0"/>
          </a:p>
        </p:txBody>
      </p:sp>
      <p:sp>
        <p:nvSpPr>
          <p:cNvPr id="12" name="Shape 8"/>
          <p:cNvSpPr/>
          <p:nvPr/>
        </p:nvSpPr>
        <p:spPr>
          <a:xfrm>
            <a:off x="960120" y="3401568"/>
            <a:ext cx="2814218" cy="0"/>
          </a:xfrm>
          <a:prstGeom prst="line">
            <a:avLst/>
          </a:prstGeom>
          <a:noFill/>
          <a:ln w="9525">
            <a:solidFill>
              <a:srgbClr val="DDE0E5"/>
            </a:solidFill>
            <a:prstDash val="solid"/>
          </a:ln>
        </p:spPr>
      </p:sp>
      <p:sp>
        <p:nvSpPr>
          <p:cNvPr id="13" name="Text 9"/>
          <p:cNvSpPr txBox="1"/>
          <p:nvPr/>
        </p:nvSpPr>
        <p:spPr>
          <a:xfrm>
            <a:off x="960120"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残債を上回らない場合は差額を準備</a:t>
            </a:r>
            <a:endParaRPr lang="en-US" sz="1300" dirty="0"/>
          </a:p>
        </p:txBody>
      </p:sp>
      <p:sp>
        <p:nvSpPr>
          <p:cNvPr id="14" name="Shape 10"/>
          <p:cNvSpPr/>
          <p:nvPr/>
        </p:nvSpPr>
        <p:spPr>
          <a:xfrm>
            <a:off x="960120" y="4059936"/>
            <a:ext cx="2814218" cy="0"/>
          </a:xfrm>
          <a:prstGeom prst="line">
            <a:avLst/>
          </a:prstGeom>
          <a:noFill/>
          <a:ln w="9525">
            <a:solidFill>
              <a:srgbClr val="DDE0E5"/>
            </a:solidFill>
            <a:prstDash val="solid"/>
          </a:ln>
        </p:spPr>
      </p:sp>
      <p:sp>
        <p:nvSpPr>
          <p:cNvPr id="15" name="Text 11"/>
          <p:cNvSpPr txBox="1"/>
          <p:nvPr/>
        </p:nvSpPr>
        <p:spPr>
          <a:xfrm>
            <a:off x="960120"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居住用の売却益は3,000万円控除の特例あり（要件あり）</a:t>
            </a:r>
            <a:endParaRPr lang="en-US" sz="1300" dirty="0"/>
          </a:p>
        </p:txBody>
      </p:sp>
      <p:sp>
        <p:nvSpPr>
          <p:cNvPr id="16" name="Shape 12"/>
          <p:cNvSpPr/>
          <p:nvPr/>
        </p:nvSpPr>
        <p:spPr>
          <a:xfrm>
            <a:off x="4368698" y="1600200"/>
            <a:ext cx="3454298" cy="3246120"/>
          </a:xfrm>
          <a:prstGeom prst="roundRect">
            <a:avLst>
              <a:gd name="adj" fmla="val 1690"/>
            </a:avLst>
          </a:prstGeom>
          <a:solidFill>
            <a:srgbClr val="17233B"/>
          </a:solidFill>
          <a:ln w="9525">
            <a:solidFill>
              <a:srgbClr val="17233B"/>
            </a:solidFill>
            <a:prstDash val="solid"/>
          </a:ln>
        </p:spPr>
      </p:sp>
      <p:sp>
        <p:nvSpPr>
          <p:cNvPr id="17" name="Shape 13"/>
          <p:cNvSpPr/>
          <p:nvPr/>
        </p:nvSpPr>
        <p:spPr>
          <a:xfrm>
            <a:off x="4688738" y="1828800"/>
            <a:ext cx="603504" cy="603504"/>
          </a:xfrm>
          <a:prstGeom prst="ellipse">
            <a:avLst/>
          </a:prstGeom>
          <a:solidFill>
            <a:srgbClr val="B89B6A"/>
          </a:solidFill>
          <a:ln w="12700">
            <a:solidFill>
              <a:srgbClr val="B89B6A"/>
            </a:solidFill>
            <a:prstDash val="solid"/>
          </a:ln>
        </p:spPr>
      </p:sp>
      <p:pic>
        <p:nvPicPr>
          <p:cNvPr id="18" name="Image 1" descr="preencoded.png">    </p:cNvPr>
          <p:cNvPicPr>
            <a:picLocks noChangeAspect="1"/>
          </p:cNvPicPr>
          <p:nvPr/>
        </p:nvPicPr>
        <p:blipFill>
          <a:blip r:embed="rId2"/>
          <a:stretch>
            <a:fillRect/>
          </a:stretch>
        </p:blipFill>
        <p:spPr>
          <a:xfrm>
            <a:off x="4839614" y="1979676"/>
            <a:ext cx="301752" cy="301752"/>
          </a:xfrm>
          <a:prstGeom prst="rect">
            <a:avLst/>
          </a:prstGeom>
        </p:spPr>
      </p:pic>
      <p:sp>
        <p:nvSpPr>
          <p:cNvPr id="19" name="Text 14"/>
          <p:cNvSpPr txBox="1"/>
          <p:nvPr/>
        </p:nvSpPr>
        <p:spPr>
          <a:xfrm>
            <a:off x="5420258" y="1828800"/>
            <a:ext cx="2174138" cy="365760"/>
          </a:xfrm>
          <a:prstGeom prst="rect">
            <a:avLst/>
          </a:prstGeom>
          <a:noFill/>
          <a:ln/>
        </p:spPr>
        <p:txBody>
          <a:bodyPr wrap="square" lIns="0" tIns="0" rIns="0" bIns="0" rtlCol="0" anchor="t"/>
          <a:lstStyle/>
          <a:p>
            <a:pPr indent="0" marL="0">
              <a:buNone/>
            </a:pPr>
            <a:r>
              <a:rPr lang="en-US" sz="1900" b="1" dirty="0">
                <a:solidFill>
                  <a:srgbClr val="FFFFFF"/>
                </a:solidFill>
                <a:latin typeface="Yu Mincho" pitchFamily="34" charset="0"/>
                <a:ea typeface="Yu Mincho" pitchFamily="34" charset="-122"/>
                <a:cs typeface="Yu Mincho" pitchFamily="34" charset="-120"/>
              </a:rPr>
              <a:t>住み替える</a:t>
            </a:r>
            <a:endParaRPr lang="en-US" sz="1900" dirty="0"/>
          </a:p>
        </p:txBody>
      </p:sp>
      <p:sp>
        <p:nvSpPr>
          <p:cNvPr id="20" name="Text 15"/>
          <p:cNvSpPr txBox="1"/>
          <p:nvPr/>
        </p:nvSpPr>
        <p:spPr>
          <a:xfrm>
            <a:off x="5420258" y="2194560"/>
            <a:ext cx="2174138"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今の家を売って、次の家へ</a:t>
            </a:r>
            <a:endParaRPr lang="en-US" sz="1200" dirty="0"/>
          </a:p>
        </p:txBody>
      </p:sp>
      <p:sp>
        <p:nvSpPr>
          <p:cNvPr id="21" name="Shape 16"/>
          <p:cNvSpPr/>
          <p:nvPr/>
        </p:nvSpPr>
        <p:spPr>
          <a:xfrm>
            <a:off x="4688738" y="2743200"/>
            <a:ext cx="2814218" cy="0"/>
          </a:xfrm>
          <a:prstGeom prst="line">
            <a:avLst/>
          </a:prstGeom>
          <a:noFill/>
          <a:ln w="9525">
            <a:solidFill>
              <a:srgbClr val="26375A"/>
            </a:solidFill>
            <a:prstDash val="solid"/>
          </a:ln>
        </p:spPr>
      </p:sp>
      <p:sp>
        <p:nvSpPr>
          <p:cNvPr id="22" name="Text 17"/>
          <p:cNvSpPr txBox="1"/>
          <p:nvPr/>
        </p:nvSpPr>
        <p:spPr>
          <a:xfrm>
            <a:off x="4688738" y="2798064"/>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売却と購入のタイミングを合わせる</a:t>
            </a:r>
            <a:endParaRPr lang="en-US" sz="1300" dirty="0"/>
          </a:p>
        </p:txBody>
      </p:sp>
      <p:sp>
        <p:nvSpPr>
          <p:cNvPr id="23" name="Shape 18"/>
          <p:cNvSpPr/>
          <p:nvPr/>
        </p:nvSpPr>
        <p:spPr>
          <a:xfrm>
            <a:off x="4688738" y="3401568"/>
            <a:ext cx="2814218" cy="0"/>
          </a:xfrm>
          <a:prstGeom prst="line">
            <a:avLst/>
          </a:prstGeom>
          <a:noFill/>
          <a:ln w="9525">
            <a:solidFill>
              <a:srgbClr val="26375A"/>
            </a:solidFill>
            <a:prstDash val="solid"/>
          </a:ln>
        </p:spPr>
      </p:sp>
      <p:sp>
        <p:nvSpPr>
          <p:cNvPr id="24" name="Text 19"/>
          <p:cNvSpPr txBox="1"/>
          <p:nvPr/>
        </p:nvSpPr>
        <p:spPr>
          <a:xfrm>
            <a:off x="4688738" y="3456432"/>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売却前に次を買う場合は資金の重なりに注意</a:t>
            </a:r>
            <a:endParaRPr lang="en-US" sz="1300" dirty="0"/>
          </a:p>
        </p:txBody>
      </p:sp>
      <p:sp>
        <p:nvSpPr>
          <p:cNvPr id="25" name="Shape 20"/>
          <p:cNvSpPr/>
          <p:nvPr/>
        </p:nvSpPr>
        <p:spPr>
          <a:xfrm>
            <a:off x="4688738" y="4059936"/>
            <a:ext cx="2814218" cy="0"/>
          </a:xfrm>
          <a:prstGeom prst="line">
            <a:avLst/>
          </a:prstGeom>
          <a:noFill/>
          <a:ln w="9525">
            <a:solidFill>
              <a:srgbClr val="26375A"/>
            </a:solidFill>
            <a:prstDash val="solid"/>
          </a:ln>
        </p:spPr>
      </p:sp>
      <p:sp>
        <p:nvSpPr>
          <p:cNvPr id="26" name="Text 21"/>
          <p:cNvSpPr txBox="1"/>
          <p:nvPr/>
        </p:nvSpPr>
        <p:spPr>
          <a:xfrm>
            <a:off x="4688738" y="4114800"/>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ライフスタイルの変化に合わせて広さを変える</a:t>
            </a:r>
            <a:endParaRPr lang="en-US" sz="1300" dirty="0"/>
          </a:p>
        </p:txBody>
      </p:sp>
      <p:sp>
        <p:nvSpPr>
          <p:cNvPr id="27" name="Shape 22"/>
          <p:cNvSpPr/>
          <p:nvPr/>
        </p:nvSpPr>
        <p:spPr>
          <a:xfrm>
            <a:off x="8097317" y="1600200"/>
            <a:ext cx="3454298" cy="3246120"/>
          </a:xfrm>
          <a:prstGeom prst="roundRect">
            <a:avLst>
              <a:gd name="adj" fmla="val 1690"/>
            </a:avLst>
          </a:prstGeom>
          <a:solidFill>
            <a:srgbClr val="EEF0F3"/>
          </a:solidFill>
          <a:ln w="9525">
            <a:solidFill>
              <a:srgbClr val="EEF0F3"/>
            </a:solidFill>
            <a:prstDash val="solid"/>
          </a:ln>
        </p:spPr>
      </p:sp>
      <p:sp>
        <p:nvSpPr>
          <p:cNvPr id="28" name="Shape 23"/>
          <p:cNvSpPr/>
          <p:nvPr/>
        </p:nvSpPr>
        <p:spPr>
          <a:xfrm>
            <a:off x="8417357" y="1828800"/>
            <a:ext cx="603504" cy="603504"/>
          </a:xfrm>
          <a:prstGeom prst="ellipse">
            <a:avLst/>
          </a:prstGeom>
          <a:solidFill>
            <a:srgbClr val="17233B"/>
          </a:solidFill>
          <a:ln w="12700">
            <a:solidFill>
              <a:srgbClr val="17233B"/>
            </a:solidFill>
            <a:prstDash val="solid"/>
          </a:ln>
        </p:spPr>
      </p:sp>
      <p:pic>
        <p:nvPicPr>
          <p:cNvPr id="29" name="Image 2" descr="preencoded.png">    </p:cNvPr>
          <p:cNvPicPr>
            <a:picLocks noChangeAspect="1"/>
          </p:cNvPicPr>
          <p:nvPr/>
        </p:nvPicPr>
        <p:blipFill>
          <a:blip r:embed="rId3"/>
          <a:stretch>
            <a:fillRect/>
          </a:stretch>
        </p:blipFill>
        <p:spPr>
          <a:xfrm>
            <a:off x="8568233" y="1979676"/>
            <a:ext cx="301752" cy="301752"/>
          </a:xfrm>
          <a:prstGeom prst="rect">
            <a:avLst/>
          </a:prstGeom>
        </p:spPr>
      </p:pic>
      <p:sp>
        <p:nvSpPr>
          <p:cNvPr id="30" name="Text 24"/>
          <p:cNvSpPr txBox="1"/>
          <p:nvPr/>
        </p:nvSpPr>
        <p:spPr>
          <a:xfrm>
            <a:off x="9148877"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貸す（条件付き）</a:t>
            </a:r>
            <a:endParaRPr lang="en-US" sz="1900" dirty="0"/>
          </a:p>
        </p:txBody>
      </p:sp>
      <p:sp>
        <p:nvSpPr>
          <p:cNvPr id="31" name="Text 25"/>
          <p:cNvSpPr txBox="1"/>
          <p:nvPr/>
        </p:nvSpPr>
        <p:spPr>
          <a:xfrm>
            <a:off x="9148877"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住まない間、賃貸に出す</a:t>
            </a:r>
            <a:endParaRPr lang="en-US" sz="1200" dirty="0"/>
          </a:p>
        </p:txBody>
      </p:sp>
      <p:sp>
        <p:nvSpPr>
          <p:cNvPr id="32" name="Shape 26"/>
          <p:cNvSpPr/>
          <p:nvPr/>
        </p:nvSpPr>
        <p:spPr>
          <a:xfrm>
            <a:off x="8417357" y="2743200"/>
            <a:ext cx="2814218" cy="0"/>
          </a:xfrm>
          <a:prstGeom prst="line">
            <a:avLst/>
          </a:prstGeom>
          <a:noFill/>
          <a:ln w="9525">
            <a:solidFill>
              <a:srgbClr val="DDE0E5"/>
            </a:solidFill>
            <a:prstDash val="solid"/>
          </a:ln>
        </p:spPr>
      </p:sp>
      <p:sp>
        <p:nvSpPr>
          <p:cNvPr id="33" name="Text 27"/>
          <p:cNvSpPr txBox="1"/>
          <p:nvPr/>
        </p:nvSpPr>
        <p:spPr>
          <a:xfrm>
            <a:off x="8417357"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住宅ローンの金融機関に事前相談が必要</a:t>
            </a:r>
            <a:endParaRPr lang="en-US" sz="1300" dirty="0"/>
          </a:p>
        </p:txBody>
      </p:sp>
      <p:sp>
        <p:nvSpPr>
          <p:cNvPr id="34" name="Shape 28"/>
          <p:cNvSpPr/>
          <p:nvPr/>
        </p:nvSpPr>
        <p:spPr>
          <a:xfrm>
            <a:off x="8417357" y="3401568"/>
            <a:ext cx="2814218" cy="0"/>
          </a:xfrm>
          <a:prstGeom prst="line">
            <a:avLst/>
          </a:prstGeom>
          <a:noFill/>
          <a:ln w="9525">
            <a:solidFill>
              <a:srgbClr val="DDE0E5"/>
            </a:solidFill>
            <a:prstDash val="solid"/>
          </a:ln>
        </p:spPr>
      </p:sp>
      <p:sp>
        <p:nvSpPr>
          <p:cNvPr id="35" name="Text 29"/>
          <p:cNvSpPr txBox="1"/>
          <p:nvPr/>
        </p:nvSpPr>
        <p:spPr>
          <a:xfrm>
            <a:off x="8417357"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家賃が返済・管理費・税を上回るか確認</a:t>
            </a:r>
            <a:endParaRPr lang="en-US" sz="1300" dirty="0"/>
          </a:p>
        </p:txBody>
      </p:sp>
      <p:sp>
        <p:nvSpPr>
          <p:cNvPr id="36" name="Shape 30"/>
          <p:cNvSpPr/>
          <p:nvPr/>
        </p:nvSpPr>
        <p:spPr>
          <a:xfrm>
            <a:off x="8417357" y="4059936"/>
            <a:ext cx="2814218" cy="0"/>
          </a:xfrm>
          <a:prstGeom prst="line">
            <a:avLst/>
          </a:prstGeom>
          <a:noFill/>
          <a:ln w="9525">
            <a:solidFill>
              <a:srgbClr val="DDE0E5"/>
            </a:solidFill>
            <a:prstDash val="solid"/>
          </a:ln>
        </p:spPr>
      </p:sp>
      <p:sp>
        <p:nvSpPr>
          <p:cNvPr id="37" name="Text 31"/>
          <p:cNvSpPr txBox="1"/>
          <p:nvPr/>
        </p:nvSpPr>
        <p:spPr>
          <a:xfrm>
            <a:off x="8417357"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貸しやすい立地・間取りかが分かれ目</a:t>
            </a:r>
            <a:endParaRPr lang="en-US" sz="1300" dirty="0"/>
          </a:p>
        </p:txBody>
      </p:sp>
      <p:sp>
        <p:nvSpPr>
          <p:cNvPr id="38" name="Shape 32"/>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39" name="Text 33"/>
          <p:cNvSpPr txBox="1"/>
          <p:nvPr/>
        </p:nvSpPr>
        <p:spPr>
          <a:xfrm>
            <a:off x="914400" y="5029200"/>
            <a:ext cx="182880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出口を広げる準備</a:t>
            </a:r>
            <a:endParaRPr lang="en-US" sz="1300" dirty="0"/>
          </a:p>
        </p:txBody>
      </p:sp>
      <p:sp>
        <p:nvSpPr>
          <p:cNvPr id="40" name="Text 34"/>
          <p:cNvSpPr txBox="1"/>
          <p:nvPr/>
        </p:nvSpPr>
        <p:spPr>
          <a:xfrm>
            <a:off x="2743200" y="5029200"/>
            <a:ext cx="8534095" cy="749808"/>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① 売れる・貸せる立地　② 無理のない返済額　③ 点検・修繕の記録　④ 頭金と予備資金のバランス</a:t>
            </a:r>
            <a:endParaRPr lang="en-US" sz="1400" dirty="0"/>
          </a:p>
        </p:txBody>
      </p:sp>
      <p:sp>
        <p:nvSpPr>
          <p:cNvPr id="41"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税の特例（居住用財産の3,000万円特別控除など）は適用要件・期限があります。賃貸に出す場合の住宅ローンの扱いは金融機関によって異なります。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5年後・10年後・20年後の選択肢。</a:t>
            </a:r>
            <a:endParaRPr lang="en-US" sz="3000" dirty="0"/>
          </a:p>
        </p:txBody>
      </p:sp>
      <p:sp>
        <p:nvSpPr>
          <p:cNvPr id="5" name="Text 2"/>
          <p:cNvSpPr txBox="1"/>
          <p:nvPr/>
        </p:nvSpPr>
        <p:spPr>
          <a:xfrm>
            <a:off x="640080"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新築戸建て（サンプル）</a:t>
            </a:r>
            <a:endParaRPr lang="en-US" sz="1600" dirty="0"/>
          </a:p>
        </p:txBody>
      </p:sp>
      <p:sp>
        <p:nvSpPr>
          <p:cNvPr id="6" name="Text 3"/>
          <p:cNvSpPr txBox="1"/>
          <p:nvPr/>
        </p:nvSpPr>
        <p:spPr>
          <a:xfrm>
            <a:off x="1874520"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7" name="Text 4"/>
          <p:cNvSpPr txBox="1"/>
          <p:nvPr/>
        </p:nvSpPr>
        <p:spPr>
          <a:xfrm>
            <a:off x="3220669"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8" name="Text 5"/>
          <p:cNvSpPr txBox="1"/>
          <p:nvPr/>
        </p:nvSpPr>
        <p:spPr>
          <a:xfrm>
            <a:off x="456681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9" name="Text 6"/>
          <p:cNvSpPr txBox="1"/>
          <p:nvPr/>
        </p:nvSpPr>
        <p:spPr>
          <a:xfrm>
            <a:off x="640080"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10" name="Text 7"/>
          <p:cNvSpPr txBox="1"/>
          <p:nvPr/>
        </p:nvSpPr>
        <p:spPr>
          <a:xfrm>
            <a:off x="640080"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2,839万円</a:t>
            </a:r>
            <a:endParaRPr lang="en-US" sz="1000" dirty="0"/>
          </a:p>
        </p:txBody>
      </p:sp>
      <p:sp>
        <p:nvSpPr>
          <p:cNvPr id="11" name="Shape 8"/>
          <p:cNvSpPr/>
          <p:nvPr/>
        </p:nvSpPr>
        <p:spPr>
          <a:xfrm>
            <a:off x="1920240" y="2377440"/>
            <a:ext cx="1254709" cy="914400"/>
          </a:xfrm>
          <a:prstGeom prst="roundRect">
            <a:avLst>
              <a:gd name="adj" fmla="val 6000"/>
            </a:avLst>
          </a:prstGeom>
          <a:solidFill>
            <a:srgbClr val="F4E4DF"/>
          </a:solidFill>
          <a:ln w="9525">
            <a:solidFill>
              <a:srgbClr val="F4E4DF"/>
            </a:solidFill>
            <a:prstDash val="solid"/>
          </a:ln>
        </p:spPr>
      </p:sp>
      <p:sp>
        <p:nvSpPr>
          <p:cNvPr id="12" name="Text 9"/>
          <p:cNvSpPr txBox="1"/>
          <p:nvPr/>
        </p:nvSpPr>
        <p:spPr>
          <a:xfrm>
            <a:off x="1920240"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−122万円</a:t>
            </a:r>
            <a:endParaRPr lang="en-US" sz="1700" dirty="0"/>
          </a:p>
        </p:txBody>
      </p:sp>
      <p:sp>
        <p:nvSpPr>
          <p:cNvPr id="13" name="Text 10"/>
          <p:cNvSpPr txBox="1"/>
          <p:nvPr/>
        </p:nvSpPr>
        <p:spPr>
          <a:xfrm>
            <a:off x="1920240"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2,826万円</a:t>
            </a:r>
            <a:endParaRPr lang="en-US" sz="1000" dirty="0"/>
          </a:p>
        </p:txBody>
      </p:sp>
      <p:sp>
        <p:nvSpPr>
          <p:cNvPr id="14" name="Shape 11"/>
          <p:cNvSpPr/>
          <p:nvPr/>
        </p:nvSpPr>
        <p:spPr>
          <a:xfrm>
            <a:off x="3266389" y="2377440"/>
            <a:ext cx="1254709" cy="914400"/>
          </a:xfrm>
          <a:prstGeom prst="roundRect">
            <a:avLst>
              <a:gd name="adj" fmla="val 6000"/>
            </a:avLst>
          </a:prstGeom>
          <a:solidFill>
            <a:srgbClr val="E3EEE7"/>
          </a:solidFill>
          <a:ln w="9525">
            <a:solidFill>
              <a:srgbClr val="E3EEE7"/>
            </a:solidFill>
            <a:prstDash val="solid"/>
          </a:ln>
        </p:spPr>
      </p:sp>
      <p:sp>
        <p:nvSpPr>
          <p:cNvPr id="15" name="Text 12"/>
          <p:cNvSpPr txBox="1"/>
          <p:nvPr/>
        </p:nvSpPr>
        <p:spPr>
          <a:xfrm>
            <a:off x="3266389"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＋45万円</a:t>
            </a:r>
            <a:endParaRPr lang="en-US" sz="1700" dirty="0"/>
          </a:p>
        </p:txBody>
      </p:sp>
      <p:sp>
        <p:nvSpPr>
          <p:cNvPr id="16" name="Text 13"/>
          <p:cNvSpPr txBox="1"/>
          <p:nvPr/>
        </p:nvSpPr>
        <p:spPr>
          <a:xfrm>
            <a:off x="3266389"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3,000万円</a:t>
            </a:r>
            <a:endParaRPr lang="en-US" sz="1000" dirty="0"/>
          </a:p>
        </p:txBody>
      </p:sp>
      <p:sp>
        <p:nvSpPr>
          <p:cNvPr id="17" name="Shape 14"/>
          <p:cNvSpPr/>
          <p:nvPr/>
        </p:nvSpPr>
        <p:spPr>
          <a:xfrm>
            <a:off x="4612538" y="2377440"/>
            <a:ext cx="1254709" cy="914400"/>
          </a:xfrm>
          <a:prstGeom prst="roundRect">
            <a:avLst>
              <a:gd name="adj" fmla="val 6000"/>
            </a:avLst>
          </a:prstGeom>
          <a:solidFill>
            <a:srgbClr val="E3EEE7"/>
          </a:solidFill>
          <a:ln w="9525">
            <a:solidFill>
              <a:srgbClr val="E3EEE7"/>
            </a:solidFill>
            <a:prstDash val="solid"/>
          </a:ln>
        </p:spPr>
      </p:sp>
      <p:sp>
        <p:nvSpPr>
          <p:cNvPr id="18" name="Text 15"/>
          <p:cNvSpPr txBox="1"/>
          <p:nvPr/>
        </p:nvSpPr>
        <p:spPr>
          <a:xfrm>
            <a:off x="4612538"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＋216万円</a:t>
            </a:r>
            <a:endParaRPr lang="en-US" sz="1700" dirty="0"/>
          </a:p>
        </p:txBody>
      </p:sp>
      <p:sp>
        <p:nvSpPr>
          <p:cNvPr id="19" name="Text 16"/>
          <p:cNvSpPr txBox="1"/>
          <p:nvPr/>
        </p:nvSpPr>
        <p:spPr>
          <a:xfrm>
            <a:off x="461253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3,177万円</a:t>
            </a:r>
            <a:endParaRPr lang="en-US" sz="1000" dirty="0"/>
          </a:p>
        </p:txBody>
      </p:sp>
      <p:sp>
        <p:nvSpPr>
          <p:cNvPr id="20" name="Text 17"/>
          <p:cNvSpPr txBox="1"/>
          <p:nvPr/>
        </p:nvSpPr>
        <p:spPr>
          <a:xfrm>
            <a:off x="640080" y="342900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21" name="Text 18"/>
          <p:cNvSpPr txBox="1"/>
          <p:nvPr/>
        </p:nvSpPr>
        <p:spPr>
          <a:xfrm>
            <a:off x="640080" y="388620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2,450万円</a:t>
            </a:r>
            <a:endParaRPr lang="en-US" sz="1000" dirty="0"/>
          </a:p>
        </p:txBody>
      </p:sp>
      <p:sp>
        <p:nvSpPr>
          <p:cNvPr id="22" name="Shape 19"/>
          <p:cNvSpPr/>
          <p:nvPr/>
        </p:nvSpPr>
        <p:spPr>
          <a:xfrm>
            <a:off x="1920240" y="3429000"/>
            <a:ext cx="1254709" cy="914400"/>
          </a:xfrm>
          <a:prstGeom prst="roundRect">
            <a:avLst>
              <a:gd name="adj" fmla="val 6000"/>
            </a:avLst>
          </a:prstGeom>
          <a:solidFill>
            <a:srgbClr val="F4E4DF"/>
          </a:solidFill>
          <a:ln w="9525">
            <a:solidFill>
              <a:srgbClr val="F4E4DF"/>
            </a:solidFill>
            <a:prstDash val="solid"/>
          </a:ln>
        </p:spPr>
      </p:sp>
      <p:sp>
        <p:nvSpPr>
          <p:cNvPr id="23" name="Text 20"/>
          <p:cNvSpPr txBox="1"/>
          <p:nvPr/>
        </p:nvSpPr>
        <p:spPr>
          <a:xfrm>
            <a:off x="1920240" y="350215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−381万円</a:t>
            </a:r>
            <a:endParaRPr lang="en-US" sz="1700" dirty="0"/>
          </a:p>
        </p:txBody>
      </p:sp>
      <p:sp>
        <p:nvSpPr>
          <p:cNvPr id="24" name="Text 21"/>
          <p:cNvSpPr txBox="1"/>
          <p:nvPr/>
        </p:nvSpPr>
        <p:spPr>
          <a:xfrm>
            <a:off x="1920240"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2,157万円</a:t>
            </a:r>
            <a:endParaRPr lang="en-US" sz="1000" dirty="0"/>
          </a:p>
        </p:txBody>
      </p:sp>
      <p:sp>
        <p:nvSpPr>
          <p:cNvPr id="25" name="Shape 22"/>
          <p:cNvSpPr/>
          <p:nvPr/>
        </p:nvSpPr>
        <p:spPr>
          <a:xfrm>
            <a:off x="3266389" y="3429000"/>
            <a:ext cx="1254709" cy="914400"/>
          </a:xfrm>
          <a:prstGeom prst="roundRect">
            <a:avLst>
              <a:gd name="adj" fmla="val 6000"/>
            </a:avLst>
          </a:prstGeom>
          <a:solidFill>
            <a:srgbClr val="F4E4DF"/>
          </a:solidFill>
          <a:ln w="9525">
            <a:solidFill>
              <a:srgbClr val="F4E4DF"/>
            </a:solidFill>
            <a:prstDash val="solid"/>
          </a:ln>
        </p:spPr>
      </p:sp>
      <p:sp>
        <p:nvSpPr>
          <p:cNvPr id="26" name="Text 23"/>
          <p:cNvSpPr txBox="1"/>
          <p:nvPr/>
        </p:nvSpPr>
        <p:spPr>
          <a:xfrm>
            <a:off x="3266389" y="350215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−49万円</a:t>
            </a:r>
            <a:endParaRPr lang="en-US" sz="1700" dirty="0"/>
          </a:p>
        </p:txBody>
      </p:sp>
      <p:sp>
        <p:nvSpPr>
          <p:cNvPr id="27" name="Text 24"/>
          <p:cNvSpPr txBox="1"/>
          <p:nvPr/>
        </p:nvSpPr>
        <p:spPr>
          <a:xfrm>
            <a:off x="3266389"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2,500万円</a:t>
            </a:r>
            <a:endParaRPr lang="en-US" sz="1000" dirty="0"/>
          </a:p>
        </p:txBody>
      </p:sp>
      <p:sp>
        <p:nvSpPr>
          <p:cNvPr id="28" name="Shape 25"/>
          <p:cNvSpPr/>
          <p:nvPr/>
        </p:nvSpPr>
        <p:spPr>
          <a:xfrm>
            <a:off x="4612538" y="3429000"/>
            <a:ext cx="1254709" cy="914400"/>
          </a:xfrm>
          <a:prstGeom prst="roundRect">
            <a:avLst>
              <a:gd name="adj" fmla="val 6000"/>
            </a:avLst>
          </a:prstGeom>
          <a:solidFill>
            <a:srgbClr val="E3EEE7"/>
          </a:solidFill>
          <a:ln w="9525">
            <a:solidFill>
              <a:srgbClr val="E3EEE7"/>
            </a:solidFill>
            <a:prstDash val="solid"/>
          </a:ln>
        </p:spPr>
      </p:sp>
      <p:sp>
        <p:nvSpPr>
          <p:cNvPr id="29" name="Text 26"/>
          <p:cNvSpPr txBox="1"/>
          <p:nvPr/>
        </p:nvSpPr>
        <p:spPr>
          <a:xfrm>
            <a:off x="4612538" y="350215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＋296万円</a:t>
            </a:r>
            <a:endParaRPr lang="en-US" sz="1700" dirty="0"/>
          </a:p>
        </p:txBody>
      </p:sp>
      <p:sp>
        <p:nvSpPr>
          <p:cNvPr id="30" name="Text 27"/>
          <p:cNvSpPr txBox="1"/>
          <p:nvPr/>
        </p:nvSpPr>
        <p:spPr>
          <a:xfrm>
            <a:off x="4612538"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2,857万円</a:t>
            </a:r>
            <a:endParaRPr lang="en-US" sz="1000" dirty="0"/>
          </a:p>
        </p:txBody>
      </p:sp>
      <p:sp>
        <p:nvSpPr>
          <p:cNvPr id="31" name="Text 28"/>
          <p:cNvSpPr txBox="1"/>
          <p:nvPr/>
        </p:nvSpPr>
        <p:spPr>
          <a:xfrm>
            <a:off x="640080" y="4480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32" name="Text 29"/>
          <p:cNvSpPr txBox="1"/>
          <p:nvPr/>
        </p:nvSpPr>
        <p:spPr>
          <a:xfrm>
            <a:off x="640080" y="4937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1,578万円</a:t>
            </a:r>
            <a:endParaRPr lang="en-US" sz="1000" dirty="0"/>
          </a:p>
        </p:txBody>
      </p:sp>
      <p:sp>
        <p:nvSpPr>
          <p:cNvPr id="33" name="Shape 30"/>
          <p:cNvSpPr/>
          <p:nvPr/>
        </p:nvSpPr>
        <p:spPr>
          <a:xfrm>
            <a:off x="1920240" y="4480560"/>
            <a:ext cx="1254709" cy="914400"/>
          </a:xfrm>
          <a:prstGeom prst="roundRect">
            <a:avLst>
              <a:gd name="adj" fmla="val 6000"/>
            </a:avLst>
          </a:prstGeom>
          <a:solidFill>
            <a:srgbClr val="F4E4DF"/>
          </a:solidFill>
          <a:ln w="9525">
            <a:solidFill>
              <a:srgbClr val="F4E4DF"/>
            </a:solidFill>
            <a:prstDash val="solid"/>
          </a:ln>
        </p:spPr>
      </p:sp>
      <p:sp>
        <p:nvSpPr>
          <p:cNvPr id="34" name="Text 31"/>
          <p:cNvSpPr txBox="1"/>
          <p:nvPr/>
        </p:nvSpPr>
        <p:spPr>
          <a:xfrm>
            <a:off x="1920240" y="4553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−215万円</a:t>
            </a:r>
            <a:endParaRPr lang="en-US" sz="1700" dirty="0"/>
          </a:p>
        </p:txBody>
      </p:sp>
      <p:sp>
        <p:nvSpPr>
          <p:cNvPr id="35" name="Text 32"/>
          <p:cNvSpPr txBox="1"/>
          <p:nvPr/>
        </p:nvSpPr>
        <p:spPr>
          <a:xfrm>
            <a:off x="1920240"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1,427万円</a:t>
            </a:r>
            <a:endParaRPr lang="en-US" sz="1000" dirty="0"/>
          </a:p>
        </p:txBody>
      </p:sp>
      <p:sp>
        <p:nvSpPr>
          <p:cNvPr id="36" name="Shape 33"/>
          <p:cNvSpPr/>
          <p:nvPr/>
        </p:nvSpPr>
        <p:spPr>
          <a:xfrm>
            <a:off x="3266389" y="4480560"/>
            <a:ext cx="1254709" cy="914400"/>
          </a:xfrm>
          <a:prstGeom prst="roundRect">
            <a:avLst>
              <a:gd name="adj" fmla="val 6000"/>
            </a:avLst>
          </a:prstGeom>
          <a:solidFill>
            <a:srgbClr val="E3EEE7"/>
          </a:solidFill>
          <a:ln w="9525">
            <a:solidFill>
              <a:srgbClr val="E3EEE7"/>
            </a:solidFill>
            <a:prstDash val="solid"/>
          </a:ln>
        </p:spPr>
      </p:sp>
      <p:sp>
        <p:nvSpPr>
          <p:cNvPr id="37" name="Text 34"/>
          <p:cNvSpPr txBox="1"/>
          <p:nvPr/>
        </p:nvSpPr>
        <p:spPr>
          <a:xfrm>
            <a:off x="3266389" y="4553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＋49万円</a:t>
            </a:r>
            <a:endParaRPr lang="en-US" sz="1700" dirty="0"/>
          </a:p>
        </p:txBody>
      </p:sp>
      <p:sp>
        <p:nvSpPr>
          <p:cNvPr id="38" name="Text 35"/>
          <p:cNvSpPr txBox="1"/>
          <p:nvPr/>
        </p:nvSpPr>
        <p:spPr>
          <a:xfrm>
            <a:off x="3266389"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1,700万円</a:t>
            </a:r>
            <a:endParaRPr lang="en-US" sz="1000" dirty="0"/>
          </a:p>
        </p:txBody>
      </p:sp>
      <p:sp>
        <p:nvSpPr>
          <p:cNvPr id="39" name="Shape 36"/>
          <p:cNvSpPr/>
          <p:nvPr/>
        </p:nvSpPr>
        <p:spPr>
          <a:xfrm>
            <a:off x="4612538" y="4480560"/>
            <a:ext cx="1254709" cy="914400"/>
          </a:xfrm>
          <a:prstGeom prst="roundRect">
            <a:avLst>
              <a:gd name="adj" fmla="val 6000"/>
            </a:avLst>
          </a:prstGeom>
          <a:solidFill>
            <a:srgbClr val="E3EEE7"/>
          </a:solidFill>
          <a:ln w="9525">
            <a:solidFill>
              <a:srgbClr val="E3EEE7"/>
            </a:solidFill>
            <a:prstDash val="solid"/>
          </a:ln>
        </p:spPr>
      </p:sp>
      <p:sp>
        <p:nvSpPr>
          <p:cNvPr id="40" name="Text 37"/>
          <p:cNvSpPr txBox="1"/>
          <p:nvPr/>
        </p:nvSpPr>
        <p:spPr>
          <a:xfrm>
            <a:off x="4612538" y="4553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＋562万円</a:t>
            </a:r>
            <a:endParaRPr lang="en-US" sz="1700" dirty="0"/>
          </a:p>
        </p:txBody>
      </p:sp>
      <p:sp>
        <p:nvSpPr>
          <p:cNvPr id="41" name="Text 38"/>
          <p:cNvSpPr txBox="1"/>
          <p:nvPr/>
        </p:nvSpPr>
        <p:spPr>
          <a:xfrm>
            <a:off x="4612538"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2,230万円</a:t>
            </a:r>
            <a:endParaRPr lang="en-US" sz="1000" dirty="0"/>
          </a:p>
        </p:txBody>
      </p:sp>
      <p:sp>
        <p:nvSpPr>
          <p:cNvPr id="42" name="Text 39"/>
          <p:cNvSpPr txBox="1"/>
          <p:nvPr/>
        </p:nvSpPr>
        <p:spPr>
          <a:xfrm>
            <a:off x="6278728"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中古戸建て（サンプル）</a:t>
            </a:r>
            <a:endParaRPr lang="en-US" sz="1600" dirty="0"/>
          </a:p>
        </p:txBody>
      </p:sp>
      <p:sp>
        <p:nvSpPr>
          <p:cNvPr id="43" name="Text 40"/>
          <p:cNvSpPr txBox="1"/>
          <p:nvPr/>
        </p:nvSpPr>
        <p:spPr>
          <a:xfrm>
            <a:off x="751316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44" name="Text 41"/>
          <p:cNvSpPr txBox="1"/>
          <p:nvPr/>
        </p:nvSpPr>
        <p:spPr>
          <a:xfrm>
            <a:off x="8859317"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45" name="Text 42"/>
          <p:cNvSpPr txBox="1"/>
          <p:nvPr/>
        </p:nvSpPr>
        <p:spPr>
          <a:xfrm>
            <a:off x="10205466"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46" name="Text 43"/>
          <p:cNvSpPr txBox="1"/>
          <p:nvPr/>
        </p:nvSpPr>
        <p:spPr>
          <a:xfrm>
            <a:off x="6278728"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47" name="Text 44"/>
          <p:cNvSpPr txBox="1"/>
          <p:nvPr/>
        </p:nvSpPr>
        <p:spPr>
          <a:xfrm>
            <a:off x="6278728"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1,952万円</a:t>
            </a:r>
            <a:endParaRPr lang="en-US" sz="1000" dirty="0"/>
          </a:p>
        </p:txBody>
      </p:sp>
      <p:sp>
        <p:nvSpPr>
          <p:cNvPr id="48" name="Shape 45"/>
          <p:cNvSpPr/>
          <p:nvPr/>
        </p:nvSpPr>
        <p:spPr>
          <a:xfrm>
            <a:off x="7558888" y="2377440"/>
            <a:ext cx="1254709" cy="914400"/>
          </a:xfrm>
          <a:prstGeom prst="roundRect">
            <a:avLst>
              <a:gd name="adj" fmla="val 6000"/>
            </a:avLst>
          </a:prstGeom>
          <a:solidFill>
            <a:srgbClr val="E3EEE7"/>
          </a:solidFill>
          <a:ln w="9525">
            <a:solidFill>
              <a:srgbClr val="E3EEE7"/>
            </a:solidFill>
            <a:prstDash val="solid"/>
          </a:ln>
        </p:spPr>
      </p:sp>
      <p:sp>
        <p:nvSpPr>
          <p:cNvPr id="49" name="Text 46"/>
          <p:cNvSpPr txBox="1"/>
          <p:nvPr/>
        </p:nvSpPr>
        <p:spPr>
          <a:xfrm>
            <a:off x="7558888"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＋40万円</a:t>
            </a:r>
            <a:endParaRPr lang="en-US" sz="1700" dirty="0"/>
          </a:p>
        </p:txBody>
      </p:sp>
      <p:sp>
        <p:nvSpPr>
          <p:cNvPr id="50" name="Text 47"/>
          <p:cNvSpPr txBox="1"/>
          <p:nvPr/>
        </p:nvSpPr>
        <p:spPr>
          <a:xfrm>
            <a:off x="755888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2,076万円</a:t>
            </a:r>
            <a:endParaRPr lang="en-US" sz="1000" dirty="0"/>
          </a:p>
        </p:txBody>
      </p:sp>
      <p:sp>
        <p:nvSpPr>
          <p:cNvPr id="51" name="Shape 48"/>
          <p:cNvSpPr/>
          <p:nvPr/>
        </p:nvSpPr>
        <p:spPr>
          <a:xfrm>
            <a:off x="8905037" y="2377440"/>
            <a:ext cx="1254709" cy="914400"/>
          </a:xfrm>
          <a:prstGeom prst="roundRect">
            <a:avLst>
              <a:gd name="adj" fmla="val 6000"/>
            </a:avLst>
          </a:prstGeom>
          <a:solidFill>
            <a:srgbClr val="E3EEE7"/>
          </a:solidFill>
          <a:ln w="9525">
            <a:solidFill>
              <a:srgbClr val="E3EEE7"/>
            </a:solidFill>
            <a:prstDash val="solid"/>
          </a:ln>
        </p:spPr>
      </p:sp>
      <p:sp>
        <p:nvSpPr>
          <p:cNvPr id="52" name="Text 49"/>
          <p:cNvSpPr txBox="1"/>
          <p:nvPr/>
        </p:nvSpPr>
        <p:spPr>
          <a:xfrm>
            <a:off x="8905037"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＋159万円</a:t>
            </a:r>
            <a:endParaRPr lang="en-US" sz="1700" dirty="0"/>
          </a:p>
        </p:txBody>
      </p:sp>
      <p:sp>
        <p:nvSpPr>
          <p:cNvPr id="53" name="Text 50"/>
          <p:cNvSpPr txBox="1"/>
          <p:nvPr/>
        </p:nvSpPr>
        <p:spPr>
          <a:xfrm>
            <a:off x="8905037"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2,200万円</a:t>
            </a:r>
            <a:endParaRPr lang="en-US" sz="1000" dirty="0"/>
          </a:p>
        </p:txBody>
      </p:sp>
      <p:sp>
        <p:nvSpPr>
          <p:cNvPr id="54" name="Shape 51"/>
          <p:cNvSpPr/>
          <p:nvPr/>
        </p:nvSpPr>
        <p:spPr>
          <a:xfrm>
            <a:off x="10251186" y="2377440"/>
            <a:ext cx="1254709" cy="914400"/>
          </a:xfrm>
          <a:prstGeom prst="roundRect">
            <a:avLst>
              <a:gd name="adj" fmla="val 6000"/>
            </a:avLst>
          </a:prstGeom>
          <a:solidFill>
            <a:srgbClr val="E3EEE7"/>
          </a:solidFill>
          <a:ln w="9525">
            <a:solidFill>
              <a:srgbClr val="E3EEE7"/>
            </a:solidFill>
            <a:prstDash val="solid"/>
          </a:ln>
        </p:spPr>
      </p:sp>
      <p:sp>
        <p:nvSpPr>
          <p:cNvPr id="55" name="Text 52"/>
          <p:cNvSpPr txBox="1"/>
          <p:nvPr/>
        </p:nvSpPr>
        <p:spPr>
          <a:xfrm>
            <a:off x="10251186" y="245059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＋281万円</a:t>
            </a:r>
            <a:endParaRPr lang="en-US" sz="1700" dirty="0"/>
          </a:p>
        </p:txBody>
      </p:sp>
      <p:sp>
        <p:nvSpPr>
          <p:cNvPr id="56" name="Text 53"/>
          <p:cNvSpPr txBox="1"/>
          <p:nvPr/>
        </p:nvSpPr>
        <p:spPr>
          <a:xfrm>
            <a:off x="10251186"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2,327万円</a:t>
            </a:r>
            <a:endParaRPr lang="en-US" sz="1000" dirty="0"/>
          </a:p>
        </p:txBody>
      </p:sp>
      <p:sp>
        <p:nvSpPr>
          <p:cNvPr id="57" name="Text 54"/>
          <p:cNvSpPr txBox="1"/>
          <p:nvPr/>
        </p:nvSpPr>
        <p:spPr>
          <a:xfrm>
            <a:off x="6278728" y="342900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58" name="Text 55"/>
          <p:cNvSpPr txBox="1"/>
          <p:nvPr/>
        </p:nvSpPr>
        <p:spPr>
          <a:xfrm>
            <a:off x="6278728" y="388620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1,684万円</a:t>
            </a:r>
            <a:endParaRPr lang="en-US" sz="1000" dirty="0"/>
          </a:p>
        </p:txBody>
      </p:sp>
      <p:sp>
        <p:nvSpPr>
          <p:cNvPr id="59" name="Shape 56"/>
          <p:cNvSpPr/>
          <p:nvPr/>
        </p:nvSpPr>
        <p:spPr>
          <a:xfrm>
            <a:off x="7558888" y="3429000"/>
            <a:ext cx="1254709" cy="914400"/>
          </a:xfrm>
          <a:prstGeom prst="roundRect">
            <a:avLst>
              <a:gd name="adj" fmla="val 6000"/>
            </a:avLst>
          </a:prstGeom>
          <a:solidFill>
            <a:srgbClr val="F4E4DF"/>
          </a:solidFill>
          <a:ln w="9525">
            <a:solidFill>
              <a:srgbClr val="F4E4DF"/>
            </a:solidFill>
            <a:prstDash val="solid"/>
          </a:ln>
        </p:spPr>
      </p:sp>
      <p:sp>
        <p:nvSpPr>
          <p:cNvPr id="60" name="Text 57"/>
          <p:cNvSpPr txBox="1"/>
          <p:nvPr/>
        </p:nvSpPr>
        <p:spPr>
          <a:xfrm>
            <a:off x="7558888" y="350215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−99万円</a:t>
            </a:r>
            <a:endParaRPr lang="en-US" sz="1700" dirty="0"/>
          </a:p>
        </p:txBody>
      </p:sp>
      <p:sp>
        <p:nvSpPr>
          <p:cNvPr id="61" name="Text 58"/>
          <p:cNvSpPr txBox="1"/>
          <p:nvPr/>
        </p:nvSpPr>
        <p:spPr>
          <a:xfrm>
            <a:off x="7558888"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1,657万円</a:t>
            </a:r>
            <a:endParaRPr lang="en-US" sz="1000" dirty="0"/>
          </a:p>
        </p:txBody>
      </p:sp>
      <p:sp>
        <p:nvSpPr>
          <p:cNvPr id="62" name="Shape 59"/>
          <p:cNvSpPr/>
          <p:nvPr/>
        </p:nvSpPr>
        <p:spPr>
          <a:xfrm>
            <a:off x="8905037" y="3429000"/>
            <a:ext cx="1254709" cy="914400"/>
          </a:xfrm>
          <a:prstGeom prst="roundRect">
            <a:avLst>
              <a:gd name="adj" fmla="val 6000"/>
            </a:avLst>
          </a:prstGeom>
          <a:solidFill>
            <a:srgbClr val="E3EEE7"/>
          </a:solidFill>
          <a:ln w="9525">
            <a:solidFill>
              <a:srgbClr val="E3EEE7"/>
            </a:solidFill>
            <a:prstDash val="solid"/>
          </a:ln>
        </p:spPr>
      </p:sp>
      <p:sp>
        <p:nvSpPr>
          <p:cNvPr id="63" name="Text 60"/>
          <p:cNvSpPr txBox="1"/>
          <p:nvPr/>
        </p:nvSpPr>
        <p:spPr>
          <a:xfrm>
            <a:off x="8905037" y="350215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＋136万円</a:t>
            </a:r>
            <a:endParaRPr lang="en-US" sz="1700" dirty="0"/>
          </a:p>
        </p:txBody>
      </p:sp>
      <p:sp>
        <p:nvSpPr>
          <p:cNvPr id="64" name="Text 61"/>
          <p:cNvSpPr txBox="1"/>
          <p:nvPr/>
        </p:nvSpPr>
        <p:spPr>
          <a:xfrm>
            <a:off x="8905037"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1,900万円</a:t>
            </a:r>
            <a:endParaRPr lang="en-US" sz="1000" dirty="0"/>
          </a:p>
        </p:txBody>
      </p:sp>
      <p:sp>
        <p:nvSpPr>
          <p:cNvPr id="65" name="Shape 62"/>
          <p:cNvSpPr/>
          <p:nvPr/>
        </p:nvSpPr>
        <p:spPr>
          <a:xfrm>
            <a:off x="10251186" y="3429000"/>
            <a:ext cx="1254709" cy="914400"/>
          </a:xfrm>
          <a:prstGeom prst="roundRect">
            <a:avLst>
              <a:gd name="adj" fmla="val 6000"/>
            </a:avLst>
          </a:prstGeom>
          <a:solidFill>
            <a:srgbClr val="E3EEE7"/>
          </a:solidFill>
          <a:ln w="9525">
            <a:solidFill>
              <a:srgbClr val="E3EEE7"/>
            </a:solidFill>
            <a:prstDash val="solid"/>
          </a:ln>
        </p:spPr>
      </p:sp>
      <p:sp>
        <p:nvSpPr>
          <p:cNvPr id="66" name="Text 63"/>
          <p:cNvSpPr txBox="1"/>
          <p:nvPr/>
        </p:nvSpPr>
        <p:spPr>
          <a:xfrm>
            <a:off x="10251186" y="350215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＋385万円</a:t>
            </a:r>
            <a:endParaRPr lang="en-US" sz="1700" dirty="0"/>
          </a:p>
        </p:txBody>
      </p:sp>
      <p:sp>
        <p:nvSpPr>
          <p:cNvPr id="67" name="Text 64"/>
          <p:cNvSpPr txBox="1"/>
          <p:nvPr/>
        </p:nvSpPr>
        <p:spPr>
          <a:xfrm>
            <a:off x="10251186" y="394106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2,157万円</a:t>
            </a:r>
            <a:endParaRPr lang="en-US" sz="1000" dirty="0"/>
          </a:p>
        </p:txBody>
      </p:sp>
      <p:sp>
        <p:nvSpPr>
          <p:cNvPr id="68" name="Text 65"/>
          <p:cNvSpPr txBox="1"/>
          <p:nvPr/>
        </p:nvSpPr>
        <p:spPr>
          <a:xfrm>
            <a:off x="6278728" y="4480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69" name="Text 66"/>
          <p:cNvSpPr txBox="1"/>
          <p:nvPr/>
        </p:nvSpPr>
        <p:spPr>
          <a:xfrm>
            <a:off x="6278728" y="4937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1,085万円</a:t>
            </a:r>
            <a:endParaRPr lang="en-US" sz="1000" dirty="0"/>
          </a:p>
        </p:txBody>
      </p:sp>
      <p:sp>
        <p:nvSpPr>
          <p:cNvPr id="70" name="Shape 67"/>
          <p:cNvSpPr/>
          <p:nvPr/>
        </p:nvSpPr>
        <p:spPr>
          <a:xfrm>
            <a:off x="7558888" y="4480560"/>
            <a:ext cx="1254709" cy="914400"/>
          </a:xfrm>
          <a:prstGeom prst="roundRect">
            <a:avLst>
              <a:gd name="adj" fmla="val 6000"/>
            </a:avLst>
          </a:prstGeom>
          <a:solidFill>
            <a:srgbClr val="E3EEE7"/>
          </a:solidFill>
          <a:ln w="9525">
            <a:solidFill>
              <a:srgbClr val="E3EEE7"/>
            </a:solidFill>
            <a:prstDash val="solid"/>
          </a:ln>
        </p:spPr>
      </p:sp>
      <p:sp>
        <p:nvSpPr>
          <p:cNvPr id="71" name="Text 68"/>
          <p:cNvSpPr txBox="1"/>
          <p:nvPr/>
        </p:nvSpPr>
        <p:spPr>
          <a:xfrm>
            <a:off x="7558888" y="4553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＋181万円</a:t>
            </a:r>
            <a:endParaRPr lang="en-US" sz="1700" dirty="0"/>
          </a:p>
        </p:txBody>
      </p:sp>
      <p:sp>
        <p:nvSpPr>
          <p:cNvPr id="72" name="Text 69"/>
          <p:cNvSpPr txBox="1"/>
          <p:nvPr/>
        </p:nvSpPr>
        <p:spPr>
          <a:xfrm>
            <a:off x="7558888"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1,327万円</a:t>
            </a:r>
            <a:endParaRPr lang="en-US" sz="1000" dirty="0"/>
          </a:p>
        </p:txBody>
      </p:sp>
      <p:sp>
        <p:nvSpPr>
          <p:cNvPr id="73" name="Shape 70"/>
          <p:cNvSpPr/>
          <p:nvPr/>
        </p:nvSpPr>
        <p:spPr>
          <a:xfrm>
            <a:off x="8905037" y="4480560"/>
            <a:ext cx="1254709" cy="914400"/>
          </a:xfrm>
          <a:prstGeom prst="roundRect">
            <a:avLst>
              <a:gd name="adj" fmla="val 6000"/>
            </a:avLst>
          </a:prstGeom>
          <a:solidFill>
            <a:srgbClr val="E3EEE7"/>
          </a:solidFill>
          <a:ln w="9525">
            <a:solidFill>
              <a:srgbClr val="E3EEE7"/>
            </a:solidFill>
            <a:prstDash val="solid"/>
          </a:ln>
        </p:spPr>
      </p:sp>
      <p:sp>
        <p:nvSpPr>
          <p:cNvPr id="74" name="Text 71"/>
          <p:cNvSpPr txBox="1"/>
          <p:nvPr/>
        </p:nvSpPr>
        <p:spPr>
          <a:xfrm>
            <a:off x="8905037" y="4553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＋445万円</a:t>
            </a:r>
            <a:endParaRPr lang="en-US" sz="1700" dirty="0"/>
          </a:p>
        </p:txBody>
      </p:sp>
      <p:sp>
        <p:nvSpPr>
          <p:cNvPr id="75" name="Text 72"/>
          <p:cNvSpPr txBox="1"/>
          <p:nvPr/>
        </p:nvSpPr>
        <p:spPr>
          <a:xfrm>
            <a:off x="8905037"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1,600万円</a:t>
            </a:r>
            <a:endParaRPr lang="en-US" sz="1000" dirty="0"/>
          </a:p>
        </p:txBody>
      </p:sp>
      <p:sp>
        <p:nvSpPr>
          <p:cNvPr id="76" name="Shape 73"/>
          <p:cNvSpPr/>
          <p:nvPr/>
        </p:nvSpPr>
        <p:spPr>
          <a:xfrm>
            <a:off x="10251186" y="4480560"/>
            <a:ext cx="1254709" cy="914400"/>
          </a:xfrm>
          <a:prstGeom prst="roundRect">
            <a:avLst>
              <a:gd name="adj" fmla="val 6000"/>
            </a:avLst>
          </a:prstGeom>
          <a:solidFill>
            <a:srgbClr val="E3EEE7"/>
          </a:solidFill>
          <a:ln w="9525">
            <a:solidFill>
              <a:srgbClr val="E3EEE7"/>
            </a:solidFill>
            <a:prstDash val="solid"/>
          </a:ln>
        </p:spPr>
      </p:sp>
      <p:sp>
        <p:nvSpPr>
          <p:cNvPr id="77" name="Text 74"/>
          <p:cNvSpPr txBox="1"/>
          <p:nvPr/>
        </p:nvSpPr>
        <p:spPr>
          <a:xfrm>
            <a:off x="10251186" y="4553712"/>
            <a:ext cx="1254709" cy="457200"/>
          </a:xfrm>
          <a:prstGeom prst="rect">
            <a:avLst/>
          </a:prstGeom>
          <a:noFill/>
          <a:ln/>
        </p:spPr>
        <p:txBody>
          <a:bodyPr wrap="square" lIns="0" tIns="0" rIns="0" bIns="0" rtlCol="0" anchor="ctr"/>
          <a:lstStyle/>
          <a:p>
            <a:pPr algn="ctr" indent="0" marL="0">
              <a:buNone/>
            </a:pPr>
            <a:r>
              <a:rPr lang="en-US" sz="1700" b="1" dirty="0">
                <a:solidFill>
                  <a:srgbClr val="3D7258"/>
                </a:solidFill>
                <a:latin typeface="Yu Gothic" pitchFamily="34" charset="0"/>
                <a:ea typeface="Yu Gothic" pitchFamily="34" charset="-122"/>
                <a:cs typeface="Yu Gothic" pitchFamily="34" charset="-120"/>
              </a:rPr>
              <a:t>＋765万円</a:t>
            </a:r>
            <a:endParaRPr lang="en-US" sz="1700" dirty="0"/>
          </a:p>
        </p:txBody>
      </p:sp>
      <p:sp>
        <p:nvSpPr>
          <p:cNvPr id="78" name="Text 75"/>
          <p:cNvSpPr txBox="1"/>
          <p:nvPr/>
        </p:nvSpPr>
        <p:spPr>
          <a:xfrm>
            <a:off x="10251186" y="4992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1,930万円</a:t>
            </a:r>
            <a:endParaRPr lang="en-US" sz="1000" dirty="0"/>
          </a:p>
        </p:txBody>
      </p:sp>
      <p:sp>
        <p:nvSpPr>
          <p:cNvPr id="79" name="Text 7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手取り＝想定売却価格−売却費用（仲介手数料の上限＋その他10万円と仮定）−ローン残債。譲渡所得税は考慮していません。シナリオは説明のための仮定で、将来価格を予想・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収入が減った場合は？</a:t>
            </a:r>
            <a:endParaRPr lang="en-US" sz="3000" dirty="0"/>
          </a:p>
        </p:txBody>
      </p:sp>
      <p:sp>
        <p:nvSpPr>
          <p:cNvPr id="5" name="Shape 2"/>
          <p:cNvSpPr/>
          <p:nvPr/>
        </p:nvSpPr>
        <p:spPr>
          <a:xfrm>
            <a:off x="640080" y="1600200"/>
            <a:ext cx="2331720" cy="4160520"/>
          </a:xfrm>
          <a:prstGeom prst="roundRect">
            <a:avLst>
              <a:gd name="adj" fmla="val 2353"/>
            </a:avLst>
          </a:prstGeom>
          <a:solidFill>
            <a:srgbClr val="EEF0F3"/>
          </a:solidFill>
          <a:ln w="9525">
            <a:solidFill>
              <a:srgbClr val="EEF0F3"/>
            </a:solidFill>
            <a:prstDash val="solid"/>
          </a:ln>
        </p:spPr>
      </p:sp>
      <p:sp>
        <p:nvSpPr>
          <p:cNvPr id="6" name="Text 3"/>
          <p:cNvSpPr txBox="1"/>
          <p:nvPr/>
        </p:nvSpPr>
        <p:spPr>
          <a:xfrm>
            <a:off x="86868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今の収入</a:t>
            </a:r>
            <a:endParaRPr lang="en-US" sz="1500" dirty="0"/>
          </a:p>
        </p:txBody>
      </p:sp>
      <p:sp>
        <p:nvSpPr>
          <p:cNvPr id="7" name="Text 4"/>
          <p:cNvSpPr txBox="1"/>
          <p:nvPr/>
        </p:nvSpPr>
        <p:spPr>
          <a:xfrm>
            <a:off x="86868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月35.7万円</a:t>
            </a:r>
            <a:endParaRPr lang="en-US" sz="1000" dirty="0"/>
          </a:p>
        </p:txBody>
      </p:sp>
      <p:sp>
        <p:nvSpPr>
          <p:cNvPr id="8" name="Text 5"/>
          <p:cNvSpPr txBox="1"/>
          <p:nvPr/>
        </p:nvSpPr>
        <p:spPr>
          <a:xfrm>
            <a:off x="86868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9" name="Text 6"/>
          <p:cNvSpPr txBox="1"/>
          <p:nvPr/>
        </p:nvSpPr>
        <p:spPr>
          <a:xfrm>
            <a:off x="86868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27.4%</a:t>
            </a:r>
            <a:endParaRPr lang="en-US" sz="3400" dirty="0"/>
          </a:p>
        </p:txBody>
      </p:sp>
      <p:sp>
        <p:nvSpPr>
          <p:cNvPr id="10" name="Shape 7"/>
          <p:cNvSpPr/>
          <p:nvPr/>
        </p:nvSpPr>
        <p:spPr>
          <a:xfrm>
            <a:off x="868680" y="3456432"/>
            <a:ext cx="1874520" cy="146304"/>
          </a:xfrm>
          <a:prstGeom prst="rect">
            <a:avLst/>
          </a:prstGeom>
          <a:solidFill>
            <a:srgbClr val="DADDE2"/>
          </a:solidFill>
          <a:ln w="12700">
            <a:solidFill>
              <a:srgbClr val="DADDE2"/>
            </a:solidFill>
            <a:prstDash val="solid"/>
          </a:ln>
        </p:spPr>
      </p:sp>
      <p:sp>
        <p:nvSpPr>
          <p:cNvPr id="11" name="Shape 8"/>
          <p:cNvSpPr/>
          <p:nvPr/>
        </p:nvSpPr>
        <p:spPr>
          <a:xfrm>
            <a:off x="868680" y="3456432"/>
            <a:ext cx="856710" cy="146304"/>
          </a:xfrm>
          <a:prstGeom prst="rect">
            <a:avLst/>
          </a:prstGeom>
          <a:solidFill>
            <a:srgbClr val="9E4B3B"/>
          </a:solidFill>
          <a:ln w="12700">
            <a:solidFill>
              <a:srgbClr val="9E4B3B"/>
            </a:solidFill>
            <a:prstDash val="solid"/>
          </a:ln>
        </p:spPr>
      </p:sp>
      <p:sp>
        <p:nvSpPr>
          <p:cNvPr id="12" name="Shape 9"/>
          <p:cNvSpPr/>
          <p:nvPr/>
        </p:nvSpPr>
        <p:spPr>
          <a:xfrm>
            <a:off x="1649730" y="3383280"/>
            <a:ext cx="0" cy="292608"/>
          </a:xfrm>
          <a:prstGeom prst="line">
            <a:avLst/>
          </a:prstGeom>
          <a:noFill/>
          <a:ln w="15875">
            <a:solidFill>
              <a:srgbClr val="17233B"/>
            </a:solidFill>
            <a:prstDash val="solid"/>
          </a:ln>
        </p:spPr>
      </p:sp>
      <p:sp>
        <p:nvSpPr>
          <p:cNvPr id="13" name="Text 10"/>
          <p:cNvSpPr txBox="1"/>
          <p:nvPr/>
        </p:nvSpPr>
        <p:spPr>
          <a:xfrm>
            <a:off x="1283970" y="3657600"/>
            <a:ext cx="73152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目安25%</a:t>
            </a:r>
            <a:endParaRPr lang="en-US" sz="900" dirty="0"/>
          </a:p>
        </p:txBody>
      </p:sp>
      <p:sp>
        <p:nvSpPr>
          <p:cNvPr id="14" name="Text 11"/>
          <p:cNvSpPr txBox="1"/>
          <p:nvPr/>
        </p:nvSpPr>
        <p:spPr>
          <a:xfrm>
            <a:off x="86868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15" name="Text 12"/>
          <p:cNvSpPr txBox="1"/>
          <p:nvPr/>
        </p:nvSpPr>
        <p:spPr>
          <a:xfrm>
            <a:off x="86868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＋111,825円</a:t>
            </a:r>
            <a:endParaRPr lang="en-US" sz="1800" dirty="0"/>
          </a:p>
        </p:txBody>
      </p:sp>
      <p:sp>
        <p:nvSpPr>
          <p:cNvPr id="16" name="Text 13"/>
          <p:cNvSpPr txBox="1"/>
          <p:nvPr/>
        </p:nvSpPr>
        <p:spPr>
          <a:xfrm>
            <a:off x="86868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17" name="Shape 14"/>
          <p:cNvSpPr/>
          <p:nvPr/>
        </p:nvSpPr>
        <p:spPr>
          <a:xfrm>
            <a:off x="3200400" y="1600200"/>
            <a:ext cx="2331720" cy="4160520"/>
          </a:xfrm>
          <a:prstGeom prst="roundRect">
            <a:avLst>
              <a:gd name="adj" fmla="val 2353"/>
            </a:avLst>
          </a:prstGeom>
          <a:solidFill>
            <a:srgbClr val="F7F4EE"/>
          </a:solidFill>
          <a:ln w="9525">
            <a:solidFill>
              <a:srgbClr val="F7F4EE"/>
            </a:solidFill>
            <a:prstDash val="solid"/>
          </a:ln>
        </p:spPr>
      </p:sp>
      <p:sp>
        <p:nvSpPr>
          <p:cNvPr id="18" name="Text 15"/>
          <p:cNvSpPr txBox="1"/>
          <p:nvPr/>
        </p:nvSpPr>
        <p:spPr>
          <a:xfrm>
            <a:off x="342900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収入が20%減</a:t>
            </a:r>
            <a:endParaRPr lang="en-US" sz="1500" dirty="0"/>
          </a:p>
        </p:txBody>
      </p:sp>
      <p:sp>
        <p:nvSpPr>
          <p:cNvPr id="19" name="Text 16"/>
          <p:cNvSpPr txBox="1"/>
          <p:nvPr/>
        </p:nvSpPr>
        <p:spPr>
          <a:xfrm>
            <a:off x="342900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月28.9万円</a:t>
            </a:r>
            <a:endParaRPr lang="en-US" sz="1000" dirty="0"/>
          </a:p>
        </p:txBody>
      </p:sp>
      <p:sp>
        <p:nvSpPr>
          <p:cNvPr id="20" name="Text 17"/>
          <p:cNvSpPr txBox="1"/>
          <p:nvPr/>
        </p:nvSpPr>
        <p:spPr>
          <a:xfrm>
            <a:off x="342900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21" name="Text 18"/>
          <p:cNvSpPr txBox="1"/>
          <p:nvPr/>
        </p:nvSpPr>
        <p:spPr>
          <a:xfrm>
            <a:off x="342900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33.9%</a:t>
            </a:r>
            <a:endParaRPr lang="en-US" sz="3400" dirty="0"/>
          </a:p>
        </p:txBody>
      </p:sp>
      <p:sp>
        <p:nvSpPr>
          <p:cNvPr id="22" name="Shape 19"/>
          <p:cNvSpPr/>
          <p:nvPr/>
        </p:nvSpPr>
        <p:spPr>
          <a:xfrm>
            <a:off x="3429000" y="3456432"/>
            <a:ext cx="1874520" cy="146304"/>
          </a:xfrm>
          <a:prstGeom prst="rect">
            <a:avLst/>
          </a:prstGeom>
          <a:solidFill>
            <a:srgbClr val="DADDE2"/>
          </a:solidFill>
          <a:ln w="12700">
            <a:solidFill>
              <a:srgbClr val="DADDE2"/>
            </a:solidFill>
            <a:prstDash val="solid"/>
          </a:ln>
        </p:spPr>
      </p:sp>
      <p:sp>
        <p:nvSpPr>
          <p:cNvPr id="23" name="Shape 20"/>
          <p:cNvSpPr/>
          <p:nvPr/>
        </p:nvSpPr>
        <p:spPr>
          <a:xfrm>
            <a:off x="3429000" y="3456432"/>
            <a:ext cx="1059175" cy="146304"/>
          </a:xfrm>
          <a:prstGeom prst="rect">
            <a:avLst/>
          </a:prstGeom>
          <a:solidFill>
            <a:srgbClr val="9E4B3B"/>
          </a:solidFill>
          <a:ln w="12700">
            <a:solidFill>
              <a:srgbClr val="9E4B3B"/>
            </a:solidFill>
            <a:prstDash val="solid"/>
          </a:ln>
        </p:spPr>
      </p:sp>
      <p:sp>
        <p:nvSpPr>
          <p:cNvPr id="24" name="Shape 21"/>
          <p:cNvSpPr/>
          <p:nvPr/>
        </p:nvSpPr>
        <p:spPr>
          <a:xfrm>
            <a:off x="4210050" y="3383280"/>
            <a:ext cx="0" cy="292608"/>
          </a:xfrm>
          <a:prstGeom prst="line">
            <a:avLst/>
          </a:prstGeom>
          <a:noFill/>
          <a:ln w="15875">
            <a:solidFill>
              <a:srgbClr val="17233B"/>
            </a:solidFill>
            <a:prstDash val="solid"/>
          </a:ln>
        </p:spPr>
      </p:sp>
      <p:sp>
        <p:nvSpPr>
          <p:cNvPr id="25" name="Text 22"/>
          <p:cNvSpPr txBox="1"/>
          <p:nvPr/>
        </p:nvSpPr>
        <p:spPr>
          <a:xfrm>
            <a:off x="3844290" y="3657600"/>
            <a:ext cx="73152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目安25%</a:t>
            </a:r>
            <a:endParaRPr lang="en-US" sz="900" dirty="0"/>
          </a:p>
        </p:txBody>
      </p:sp>
      <p:sp>
        <p:nvSpPr>
          <p:cNvPr id="26" name="Text 23"/>
          <p:cNvSpPr txBox="1"/>
          <p:nvPr/>
        </p:nvSpPr>
        <p:spPr>
          <a:xfrm>
            <a:off x="342900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27" name="Text 24"/>
          <p:cNvSpPr txBox="1"/>
          <p:nvPr/>
        </p:nvSpPr>
        <p:spPr>
          <a:xfrm>
            <a:off x="342900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＋43,525円</a:t>
            </a:r>
            <a:endParaRPr lang="en-US" sz="1800" dirty="0"/>
          </a:p>
        </p:txBody>
      </p:sp>
      <p:sp>
        <p:nvSpPr>
          <p:cNvPr id="28" name="Text 25"/>
          <p:cNvSpPr txBox="1"/>
          <p:nvPr/>
        </p:nvSpPr>
        <p:spPr>
          <a:xfrm>
            <a:off x="342900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29" name="Shape 26"/>
          <p:cNvSpPr/>
          <p:nvPr/>
        </p:nvSpPr>
        <p:spPr>
          <a:xfrm>
            <a:off x="5760720" y="1600200"/>
            <a:ext cx="2331720" cy="4160520"/>
          </a:xfrm>
          <a:prstGeom prst="roundRect">
            <a:avLst>
              <a:gd name="adj" fmla="val 2353"/>
            </a:avLst>
          </a:prstGeom>
          <a:solidFill>
            <a:srgbClr val="F7F4EE"/>
          </a:solidFill>
          <a:ln w="9525">
            <a:solidFill>
              <a:srgbClr val="F7F4EE"/>
            </a:solidFill>
            <a:prstDash val="solid"/>
          </a:ln>
        </p:spPr>
      </p:sp>
      <p:sp>
        <p:nvSpPr>
          <p:cNvPr id="30" name="Text 27"/>
          <p:cNvSpPr txBox="1"/>
          <p:nvPr/>
        </p:nvSpPr>
        <p:spPr>
          <a:xfrm>
            <a:off x="598932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収入が40%減</a:t>
            </a:r>
            <a:endParaRPr lang="en-US" sz="1500" dirty="0"/>
          </a:p>
        </p:txBody>
      </p:sp>
      <p:sp>
        <p:nvSpPr>
          <p:cNvPr id="31" name="Text 28"/>
          <p:cNvSpPr txBox="1"/>
          <p:nvPr/>
        </p:nvSpPr>
        <p:spPr>
          <a:xfrm>
            <a:off x="598932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月22.0万円</a:t>
            </a:r>
            <a:endParaRPr lang="en-US" sz="1000" dirty="0"/>
          </a:p>
        </p:txBody>
      </p:sp>
      <p:sp>
        <p:nvSpPr>
          <p:cNvPr id="32" name="Text 29"/>
          <p:cNvSpPr txBox="1"/>
          <p:nvPr/>
        </p:nvSpPr>
        <p:spPr>
          <a:xfrm>
            <a:off x="598932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33" name="Text 30"/>
          <p:cNvSpPr txBox="1"/>
          <p:nvPr/>
        </p:nvSpPr>
        <p:spPr>
          <a:xfrm>
            <a:off x="598932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44.6%</a:t>
            </a:r>
            <a:endParaRPr lang="en-US" sz="3400" dirty="0"/>
          </a:p>
        </p:txBody>
      </p:sp>
      <p:sp>
        <p:nvSpPr>
          <p:cNvPr id="34" name="Shape 31"/>
          <p:cNvSpPr/>
          <p:nvPr/>
        </p:nvSpPr>
        <p:spPr>
          <a:xfrm>
            <a:off x="5989320" y="3456432"/>
            <a:ext cx="1874520" cy="146304"/>
          </a:xfrm>
          <a:prstGeom prst="rect">
            <a:avLst/>
          </a:prstGeom>
          <a:solidFill>
            <a:srgbClr val="DADDE2"/>
          </a:solidFill>
          <a:ln w="12700">
            <a:solidFill>
              <a:srgbClr val="DADDE2"/>
            </a:solidFill>
            <a:prstDash val="solid"/>
          </a:ln>
        </p:spPr>
      </p:sp>
      <p:sp>
        <p:nvSpPr>
          <p:cNvPr id="35" name="Shape 32"/>
          <p:cNvSpPr/>
          <p:nvPr/>
        </p:nvSpPr>
        <p:spPr>
          <a:xfrm>
            <a:off x="5989320" y="3456432"/>
            <a:ext cx="1393228" cy="146304"/>
          </a:xfrm>
          <a:prstGeom prst="rect">
            <a:avLst/>
          </a:prstGeom>
          <a:solidFill>
            <a:srgbClr val="9E4B3B"/>
          </a:solidFill>
          <a:ln w="12700">
            <a:solidFill>
              <a:srgbClr val="9E4B3B"/>
            </a:solidFill>
            <a:prstDash val="solid"/>
          </a:ln>
        </p:spPr>
      </p:sp>
      <p:sp>
        <p:nvSpPr>
          <p:cNvPr id="36" name="Shape 33"/>
          <p:cNvSpPr/>
          <p:nvPr/>
        </p:nvSpPr>
        <p:spPr>
          <a:xfrm>
            <a:off x="6770370" y="3383280"/>
            <a:ext cx="0" cy="292608"/>
          </a:xfrm>
          <a:prstGeom prst="line">
            <a:avLst/>
          </a:prstGeom>
          <a:noFill/>
          <a:ln w="15875">
            <a:solidFill>
              <a:srgbClr val="17233B"/>
            </a:solidFill>
            <a:prstDash val="solid"/>
          </a:ln>
        </p:spPr>
      </p:sp>
      <p:sp>
        <p:nvSpPr>
          <p:cNvPr id="37" name="Text 34"/>
          <p:cNvSpPr txBox="1"/>
          <p:nvPr/>
        </p:nvSpPr>
        <p:spPr>
          <a:xfrm>
            <a:off x="6404610" y="3657600"/>
            <a:ext cx="73152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目安25%</a:t>
            </a:r>
            <a:endParaRPr lang="en-US" sz="900" dirty="0"/>
          </a:p>
        </p:txBody>
      </p:sp>
      <p:sp>
        <p:nvSpPr>
          <p:cNvPr id="38" name="Text 35"/>
          <p:cNvSpPr txBox="1"/>
          <p:nvPr/>
        </p:nvSpPr>
        <p:spPr>
          <a:xfrm>
            <a:off x="598932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39" name="Text 36"/>
          <p:cNvSpPr txBox="1"/>
          <p:nvPr/>
        </p:nvSpPr>
        <p:spPr>
          <a:xfrm>
            <a:off x="5989320" y="4480560"/>
            <a:ext cx="1874520" cy="411480"/>
          </a:xfrm>
          <a:prstGeom prst="rect">
            <a:avLst/>
          </a:prstGeom>
          <a:noFill/>
          <a:ln/>
        </p:spPr>
        <p:txBody>
          <a:bodyPr wrap="square" lIns="0" tIns="0" rIns="0" bIns="0" rtlCol="0" anchor="t"/>
          <a:lstStyle/>
          <a:p>
            <a:pPr indent="0" marL="0">
              <a:buNone/>
            </a:pPr>
            <a:r>
              <a:rPr lang="en-US" sz="1800" b="1" dirty="0">
                <a:solidFill>
                  <a:srgbClr val="9E4B3B"/>
                </a:solidFill>
                <a:latin typeface="Yu Gothic" pitchFamily="34" charset="0"/>
                <a:ea typeface="Yu Gothic" pitchFamily="34" charset="-122"/>
                <a:cs typeface="Yu Gothic" pitchFamily="34" charset="-120"/>
              </a:rPr>
              <a:t>−25,769円</a:t>
            </a:r>
            <a:endParaRPr lang="en-US" sz="1800" dirty="0"/>
          </a:p>
        </p:txBody>
      </p:sp>
      <p:sp>
        <p:nvSpPr>
          <p:cNvPr id="40" name="Text 37"/>
          <p:cNvSpPr txBox="1"/>
          <p:nvPr/>
        </p:nvSpPr>
        <p:spPr>
          <a:xfrm>
            <a:off x="5989320" y="4937760"/>
            <a:ext cx="1874520" cy="548640"/>
          </a:xfrm>
          <a:prstGeom prst="rect">
            <a:avLst/>
          </a:prstGeom>
          <a:noFill/>
          <a:ln/>
        </p:spPr>
        <p:txBody>
          <a:bodyPr wrap="square" lIns="0" tIns="0" rIns="0" bIns="0" rtlCol="0" anchor="t"/>
          <a:lstStyle/>
          <a:p>
            <a:pPr indent="0" marL="0">
              <a:buNone/>
            </a:pPr>
            <a:r>
              <a:rPr lang="en-US" sz="1100" dirty="0">
                <a:solidFill>
                  <a:srgbClr val="9E4B3B"/>
                </a:solidFill>
                <a:latin typeface="Yu Gothic" pitchFamily="34" charset="0"/>
                <a:ea typeface="Yu Gothic" pitchFamily="34" charset="-122"/>
                <a:cs typeface="Yu Gothic" pitchFamily="34" charset="-120"/>
              </a:rPr>
              <a:t>手元資金55万円で約21か月</a:t>
            </a:r>
            <a:endParaRPr lang="en-US" sz="1100" dirty="0"/>
          </a:p>
        </p:txBody>
      </p:sp>
      <p:sp>
        <p:nvSpPr>
          <p:cNvPr id="41" name="Shape 38"/>
          <p:cNvSpPr/>
          <p:nvPr/>
        </p:nvSpPr>
        <p:spPr>
          <a:xfrm>
            <a:off x="8321040" y="1600200"/>
            <a:ext cx="3230575" cy="4160520"/>
          </a:xfrm>
          <a:prstGeom prst="roundRect">
            <a:avLst>
              <a:gd name="adj" fmla="val 1698"/>
            </a:avLst>
          </a:prstGeom>
          <a:solidFill>
            <a:srgbClr val="17233B"/>
          </a:solidFill>
          <a:ln w="9525">
            <a:solidFill>
              <a:srgbClr val="17233B"/>
            </a:solidFill>
            <a:prstDash val="solid"/>
          </a:ln>
        </p:spPr>
      </p:sp>
      <p:sp>
        <p:nvSpPr>
          <p:cNvPr id="42" name="Text 39"/>
          <p:cNvSpPr txBox="1"/>
          <p:nvPr/>
        </p:nvSpPr>
        <p:spPr>
          <a:xfrm>
            <a:off x="8595360" y="1737360"/>
            <a:ext cx="2681935" cy="365760"/>
          </a:xfrm>
          <a:prstGeom prst="rect">
            <a:avLst/>
          </a:prstGeom>
          <a:noFill/>
          <a:ln/>
        </p:spPr>
        <p:txBody>
          <a:bodyPr wrap="square" lIns="0" tIns="0" rIns="0" bIns="0" rtlCol="0" anchor="t"/>
          <a:lstStyle/>
          <a:p>
            <a:pPr indent="0" marL="0">
              <a:buNone/>
            </a:pPr>
            <a:r>
              <a:rPr lang="en-US" sz="1600" b="1" dirty="0">
                <a:solidFill>
                  <a:srgbClr val="B89B6A"/>
                </a:solidFill>
                <a:latin typeface="Yu Gothic" pitchFamily="34" charset="0"/>
                <a:ea typeface="Yu Gothic" pitchFamily="34" charset="-122"/>
                <a:cs typeface="Yu Gothic" pitchFamily="34" charset="-120"/>
              </a:rPr>
              <a:t>備え方</a:t>
            </a:r>
            <a:endParaRPr lang="en-US" sz="1600" dirty="0"/>
          </a:p>
        </p:txBody>
      </p:sp>
      <p:sp>
        <p:nvSpPr>
          <p:cNvPr id="43" name="Text 40"/>
          <p:cNvSpPr txBox="1"/>
          <p:nvPr/>
        </p:nvSpPr>
        <p:spPr>
          <a:xfrm>
            <a:off x="8595360" y="2240280"/>
            <a:ext cx="2773375" cy="50292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返済は手取りの25%以内を目安に</a:t>
            </a:r>
            <a:endParaRPr lang="en-US" sz="1400" dirty="0"/>
          </a:p>
        </p:txBody>
      </p:sp>
      <p:sp>
        <p:nvSpPr>
          <p:cNvPr id="44" name="Text 41"/>
          <p:cNvSpPr txBox="1"/>
          <p:nvPr/>
        </p:nvSpPr>
        <p:spPr>
          <a:xfrm>
            <a:off x="8595360" y="2807208"/>
            <a:ext cx="2773375" cy="50292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生活費6か月分の予備資金を残す</a:t>
            </a:r>
            <a:endParaRPr lang="en-US" sz="1400" dirty="0"/>
          </a:p>
        </p:txBody>
      </p:sp>
      <p:sp>
        <p:nvSpPr>
          <p:cNvPr id="45" name="Text 42"/>
          <p:cNvSpPr txBox="1"/>
          <p:nvPr/>
        </p:nvSpPr>
        <p:spPr>
          <a:xfrm>
            <a:off x="8595360" y="3374136"/>
            <a:ext cx="2773375" cy="50292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固定・変動金利を比べて選ぶ</a:t>
            </a:r>
            <a:endParaRPr lang="en-US" sz="1400" dirty="0"/>
          </a:p>
        </p:txBody>
      </p:sp>
      <p:sp>
        <p:nvSpPr>
          <p:cNvPr id="46" name="Text 43"/>
          <p:cNvSpPr txBox="1"/>
          <p:nvPr/>
        </p:nvSpPr>
        <p:spPr>
          <a:xfrm>
            <a:off x="8595360" y="3941064"/>
            <a:ext cx="2773375" cy="50292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就業不能に備える保険を確認</a:t>
            </a:r>
            <a:endParaRPr lang="en-US" sz="1400" dirty="0"/>
          </a:p>
        </p:txBody>
      </p:sp>
      <p:sp>
        <p:nvSpPr>
          <p:cNvPr id="47" name="Text 44"/>
          <p:cNvSpPr txBox="1"/>
          <p:nvPr/>
        </p:nvSpPr>
        <p:spPr>
          <a:xfrm>
            <a:off x="8595360" y="4507992"/>
            <a:ext cx="2773375" cy="50292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余裕がある年に繰上げ返済</a:t>
            </a:r>
            <a:endParaRPr lang="en-US" sz="1400" dirty="0"/>
          </a:p>
        </p:txBody>
      </p:sp>
      <p:sp>
        <p:nvSpPr>
          <p:cNvPr id="48" name="Text 45"/>
          <p:cNvSpPr txBox="1"/>
          <p:nvPr/>
        </p:nvSpPr>
        <p:spPr>
          <a:xfrm>
            <a:off x="8595360" y="5120640"/>
            <a:ext cx="2773375" cy="502920"/>
          </a:xfrm>
          <a:prstGeom prst="rect">
            <a:avLst/>
          </a:prstGeom>
          <a:noFill/>
          <a:ln/>
        </p:spPr>
        <p:txBody>
          <a:bodyPr wrap="square" lIns="0" tIns="0" rIns="0" bIns="0" rtlCol="0" anchor="t"/>
          <a:lstStyle/>
          <a:p>
            <a:pPr indent="0" marL="0">
              <a:buNone/>
            </a:pPr>
            <a:r>
              <a:rPr lang="en-US" sz="1200" dirty="0">
                <a:solidFill>
                  <a:srgbClr val="EADFCB"/>
                </a:solidFill>
                <a:latin typeface="Yu Gothic" pitchFamily="34" charset="0"/>
                <a:ea typeface="Yu Gothic" pitchFamily="34" charset="-122"/>
                <a:cs typeface="Yu Gothic" pitchFamily="34" charset="-120"/>
              </a:rPr>
              <a:t>中古サンプルなら、今の収入で返済は手取りの18.9%。</a:t>
            </a:r>
            <a:endParaRPr lang="en-US" sz="1200" dirty="0"/>
          </a:p>
        </p:txBody>
      </p:sp>
      <p:sp>
        <p:nvSpPr>
          <p:cNvPr id="49" name="Text 4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新築サンプル。手取りは社会保険料15%・所得税・住民税を差し引いた概算。生活費（住居費以外）月12万円は仮定値。「手取りの25%以内」は一般的な目安の一つで、審査基準とは異なります。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戸建ての維持費を知る。</a:t>
            </a:r>
            <a:endParaRPr lang="en-US" sz="3000" dirty="0"/>
          </a:p>
        </p:txBody>
      </p:sp>
      <p:sp>
        <p:nvSpPr>
          <p:cNvPr id="5" name="Shape 2"/>
          <p:cNvSpPr/>
          <p:nvPr/>
        </p:nvSpPr>
        <p:spPr>
          <a:xfrm>
            <a:off x="640080" y="1645920"/>
            <a:ext cx="4754880" cy="868680"/>
          </a:xfrm>
          <a:prstGeom prst="roundRect">
            <a:avLst>
              <a:gd name="adj" fmla="val 6316"/>
            </a:avLst>
          </a:prstGeom>
          <a:solidFill>
            <a:srgbClr val="FFFFFF"/>
          </a:solidFill>
          <a:ln w="9525">
            <a:solidFill>
              <a:srgbClr val="FFFFFF"/>
            </a:solidFill>
            <a:prstDash val="solid"/>
          </a:ln>
        </p:spPr>
      </p:sp>
      <p:sp>
        <p:nvSpPr>
          <p:cNvPr id="6" name="Shape 3"/>
          <p:cNvSpPr/>
          <p:nvPr/>
        </p:nvSpPr>
        <p:spPr>
          <a:xfrm>
            <a:off x="822960" y="1801368"/>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960120" y="1938528"/>
            <a:ext cx="274320" cy="274320"/>
          </a:xfrm>
          <a:prstGeom prst="rect">
            <a:avLst/>
          </a:prstGeom>
        </p:spPr>
      </p:pic>
      <p:sp>
        <p:nvSpPr>
          <p:cNvPr id="8" name="Text 4"/>
          <p:cNvSpPr txBox="1"/>
          <p:nvPr/>
        </p:nvSpPr>
        <p:spPr>
          <a:xfrm>
            <a:off x="1554480" y="1737360"/>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固定資産税・都市計画税</a:t>
            </a:r>
            <a:endParaRPr lang="en-US" sz="1400" dirty="0"/>
          </a:p>
        </p:txBody>
      </p:sp>
      <p:sp>
        <p:nvSpPr>
          <p:cNvPr id="9" name="Text 5"/>
          <p:cNvSpPr txBox="1"/>
          <p:nvPr/>
        </p:nvSpPr>
        <p:spPr>
          <a:xfrm>
            <a:off x="1554480" y="2103120"/>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0" name="Text 6"/>
          <p:cNvSpPr txBox="1"/>
          <p:nvPr/>
        </p:nvSpPr>
        <p:spPr>
          <a:xfrm>
            <a:off x="3931920" y="1645920"/>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年12.0万円</a:t>
            </a:r>
            <a:endParaRPr lang="en-US" sz="1800" dirty="0"/>
          </a:p>
        </p:txBody>
      </p:sp>
      <p:sp>
        <p:nvSpPr>
          <p:cNvPr id="11" name="Shape 7"/>
          <p:cNvSpPr/>
          <p:nvPr/>
        </p:nvSpPr>
        <p:spPr>
          <a:xfrm>
            <a:off x="640080" y="2670048"/>
            <a:ext cx="4754880" cy="868680"/>
          </a:xfrm>
          <a:prstGeom prst="roundRect">
            <a:avLst>
              <a:gd name="adj" fmla="val 6316"/>
            </a:avLst>
          </a:prstGeom>
          <a:solidFill>
            <a:srgbClr val="FFFFFF"/>
          </a:solidFill>
          <a:ln w="9525">
            <a:solidFill>
              <a:srgbClr val="FFFFFF"/>
            </a:solidFill>
            <a:prstDash val="solid"/>
          </a:ln>
        </p:spPr>
      </p:sp>
      <p:sp>
        <p:nvSpPr>
          <p:cNvPr id="12" name="Shape 8"/>
          <p:cNvSpPr/>
          <p:nvPr/>
        </p:nvSpPr>
        <p:spPr>
          <a:xfrm>
            <a:off x="822960" y="2825496"/>
            <a:ext cx="548640" cy="548640"/>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960120" y="2962656"/>
            <a:ext cx="274320" cy="274320"/>
          </a:xfrm>
          <a:prstGeom prst="rect">
            <a:avLst/>
          </a:prstGeom>
        </p:spPr>
      </p:pic>
      <p:sp>
        <p:nvSpPr>
          <p:cNvPr id="14" name="Text 9"/>
          <p:cNvSpPr txBox="1"/>
          <p:nvPr/>
        </p:nvSpPr>
        <p:spPr>
          <a:xfrm>
            <a:off x="1554480" y="2761488"/>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火災・地震保険</a:t>
            </a:r>
            <a:endParaRPr lang="en-US" sz="1400" dirty="0"/>
          </a:p>
        </p:txBody>
      </p:sp>
      <p:sp>
        <p:nvSpPr>
          <p:cNvPr id="15" name="Text 10"/>
          <p:cNvSpPr txBox="1"/>
          <p:nvPr/>
        </p:nvSpPr>
        <p:spPr>
          <a:xfrm>
            <a:off x="1554480" y="3127248"/>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6" name="Text 11"/>
          <p:cNvSpPr txBox="1"/>
          <p:nvPr/>
        </p:nvSpPr>
        <p:spPr>
          <a:xfrm>
            <a:off x="3931920" y="2670048"/>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年3.0万円</a:t>
            </a:r>
            <a:endParaRPr lang="en-US" sz="1800" dirty="0"/>
          </a:p>
        </p:txBody>
      </p:sp>
      <p:sp>
        <p:nvSpPr>
          <p:cNvPr id="17" name="Shape 12"/>
          <p:cNvSpPr/>
          <p:nvPr/>
        </p:nvSpPr>
        <p:spPr>
          <a:xfrm>
            <a:off x="640080" y="3694176"/>
            <a:ext cx="4754880" cy="868680"/>
          </a:xfrm>
          <a:prstGeom prst="roundRect">
            <a:avLst>
              <a:gd name="adj" fmla="val 6316"/>
            </a:avLst>
          </a:prstGeom>
          <a:solidFill>
            <a:srgbClr val="FFFFFF"/>
          </a:solidFill>
          <a:ln w="9525">
            <a:solidFill>
              <a:srgbClr val="FFFFFF"/>
            </a:solidFill>
            <a:prstDash val="solid"/>
          </a:ln>
        </p:spPr>
      </p:sp>
      <p:sp>
        <p:nvSpPr>
          <p:cNvPr id="18" name="Shape 13"/>
          <p:cNvSpPr/>
          <p:nvPr/>
        </p:nvSpPr>
        <p:spPr>
          <a:xfrm>
            <a:off x="822960" y="3849624"/>
            <a:ext cx="548640" cy="548640"/>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960120" y="3986784"/>
            <a:ext cx="274320" cy="274320"/>
          </a:xfrm>
          <a:prstGeom prst="rect">
            <a:avLst/>
          </a:prstGeom>
        </p:spPr>
      </p:pic>
      <p:sp>
        <p:nvSpPr>
          <p:cNvPr id="20" name="Text 14"/>
          <p:cNvSpPr txBox="1"/>
          <p:nvPr/>
        </p:nvSpPr>
        <p:spPr>
          <a:xfrm>
            <a:off x="1554480" y="3785616"/>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修繕・設備交換の積立</a:t>
            </a:r>
            <a:endParaRPr lang="en-US" sz="1400" dirty="0"/>
          </a:p>
        </p:txBody>
      </p:sp>
      <p:sp>
        <p:nvSpPr>
          <p:cNvPr id="21" name="Text 15"/>
          <p:cNvSpPr txBox="1"/>
          <p:nvPr/>
        </p:nvSpPr>
        <p:spPr>
          <a:xfrm>
            <a:off x="1554480" y="4151376"/>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月1.5万円</a:t>
            </a:r>
            <a:endParaRPr lang="en-US" sz="1100" dirty="0"/>
          </a:p>
        </p:txBody>
      </p:sp>
      <p:sp>
        <p:nvSpPr>
          <p:cNvPr id="22" name="Text 16"/>
          <p:cNvSpPr txBox="1"/>
          <p:nvPr/>
        </p:nvSpPr>
        <p:spPr>
          <a:xfrm>
            <a:off x="3931920" y="3694176"/>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年18.0万円</a:t>
            </a:r>
            <a:endParaRPr lang="en-US" sz="1800" dirty="0"/>
          </a:p>
        </p:txBody>
      </p:sp>
      <p:sp>
        <p:nvSpPr>
          <p:cNvPr id="23" name="Text 17"/>
          <p:cNvSpPr txBox="1"/>
          <p:nvPr/>
        </p:nvSpPr>
        <p:spPr>
          <a:xfrm>
            <a:off x="640080" y="4800600"/>
            <a:ext cx="4754880" cy="54864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合計　</a:t>
            </a:r>
            <a:pPr indent="0" marL="0">
              <a:buNone/>
            </a:pPr>
            <a:r>
              <a:rPr lang="en-US" sz="2600" b="1" dirty="0">
                <a:solidFill>
                  <a:srgbClr val="8A6F3E"/>
                </a:solidFill>
                <a:latin typeface="Yu Gothic" pitchFamily="34" charset="0"/>
                <a:ea typeface="Yu Gothic" pitchFamily="34" charset="-122"/>
                <a:cs typeface="Yu Gothic" pitchFamily="34" charset="-120"/>
              </a:rPr>
              <a:t>年33.0万円</a:t>
            </a:r>
            <a:pPr indent="0" marL="0">
              <a:buNone/>
            </a:pPr>
            <a:r>
              <a:rPr lang="en-US" sz="1300" dirty="0">
                <a:solidFill>
                  <a:srgbClr val="6B7078"/>
                </a:solidFill>
                <a:latin typeface="Yu Gothic" pitchFamily="34" charset="0"/>
                <a:ea typeface="Yu Gothic" pitchFamily="34" charset="-122"/>
                <a:cs typeface="Yu Gothic" pitchFamily="34" charset="-120"/>
              </a:rPr>
              <a:t>（月2.75万円）</a:t>
            </a:r>
            <a:endParaRPr lang="en-US" sz="1400" dirty="0"/>
          </a:p>
        </p:txBody>
      </p:sp>
      <p:sp>
        <p:nvSpPr>
          <p:cNvPr id="24" name="Text 18"/>
          <p:cNvSpPr txBox="1"/>
          <p:nvPr/>
        </p:nvSpPr>
        <p:spPr>
          <a:xfrm>
            <a:off x="5852160" y="1645920"/>
            <a:ext cx="56994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いつか来るもの（交換・修繕の目安）</a:t>
            </a:r>
            <a:endParaRPr lang="en-US" sz="1400" dirty="0"/>
          </a:p>
        </p:txBody>
      </p:sp>
      <p:sp>
        <p:nvSpPr>
          <p:cNvPr id="25" name="Shape 19"/>
          <p:cNvSpPr/>
          <p:nvPr/>
        </p:nvSpPr>
        <p:spPr>
          <a:xfrm>
            <a:off x="5943600" y="2240280"/>
            <a:ext cx="5516575" cy="0"/>
          </a:xfrm>
          <a:prstGeom prst="line">
            <a:avLst/>
          </a:prstGeom>
          <a:noFill/>
          <a:ln w="19050">
            <a:solidFill>
              <a:srgbClr val="17233B"/>
            </a:solidFill>
            <a:prstDash val="solid"/>
          </a:ln>
        </p:spPr>
      </p:sp>
      <p:sp>
        <p:nvSpPr>
          <p:cNvPr id="26" name="Shape 20"/>
          <p:cNvSpPr/>
          <p:nvPr/>
        </p:nvSpPr>
        <p:spPr>
          <a:xfrm>
            <a:off x="5943600" y="2176272"/>
            <a:ext cx="0" cy="128016"/>
          </a:xfrm>
          <a:prstGeom prst="line">
            <a:avLst/>
          </a:prstGeom>
          <a:noFill/>
          <a:ln w="12700">
            <a:solidFill>
              <a:srgbClr val="17233B"/>
            </a:solidFill>
            <a:prstDash val="solid"/>
          </a:ln>
        </p:spPr>
      </p:sp>
      <p:sp>
        <p:nvSpPr>
          <p:cNvPr id="27" name="Text 21"/>
          <p:cNvSpPr txBox="1"/>
          <p:nvPr/>
        </p:nvSpPr>
        <p:spPr>
          <a:xfrm>
            <a:off x="5669280"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0年</a:t>
            </a:r>
            <a:endParaRPr lang="en-US" sz="1000" dirty="0"/>
          </a:p>
        </p:txBody>
      </p:sp>
      <p:sp>
        <p:nvSpPr>
          <p:cNvPr id="28" name="Shape 22"/>
          <p:cNvSpPr/>
          <p:nvPr/>
        </p:nvSpPr>
        <p:spPr>
          <a:xfrm>
            <a:off x="7519764" y="2176272"/>
            <a:ext cx="0" cy="128016"/>
          </a:xfrm>
          <a:prstGeom prst="line">
            <a:avLst/>
          </a:prstGeom>
          <a:noFill/>
          <a:ln w="12700">
            <a:solidFill>
              <a:srgbClr val="17233B"/>
            </a:solidFill>
            <a:prstDash val="solid"/>
          </a:ln>
        </p:spPr>
      </p:sp>
      <p:sp>
        <p:nvSpPr>
          <p:cNvPr id="29" name="Text 23"/>
          <p:cNvSpPr txBox="1"/>
          <p:nvPr/>
        </p:nvSpPr>
        <p:spPr>
          <a:xfrm>
            <a:off x="7245444"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10年</a:t>
            </a:r>
            <a:endParaRPr lang="en-US" sz="1000" dirty="0"/>
          </a:p>
        </p:txBody>
      </p:sp>
      <p:sp>
        <p:nvSpPr>
          <p:cNvPr id="30" name="Shape 24"/>
          <p:cNvSpPr/>
          <p:nvPr/>
        </p:nvSpPr>
        <p:spPr>
          <a:xfrm>
            <a:off x="9095929" y="2176272"/>
            <a:ext cx="0" cy="128016"/>
          </a:xfrm>
          <a:prstGeom prst="line">
            <a:avLst/>
          </a:prstGeom>
          <a:noFill/>
          <a:ln w="12700">
            <a:solidFill>
              <a:srgbClr val="17233B"/>
            </a:solidFill>
            <a:prstDash val="solid"/>
          </a:ln>
        </p:spPr>
      </p:sp>
      <p:sp>
        <p:nvSpPr>
          <p:cNvPr id="31" name="Text 25"/>
          <p:cNvSpPr txBox="1"/>
          <p:nvPr/>
        </p:nvSpPr>
        <p:spPr>
          <a:xfrm>
            <a:off x="8821609"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20年</a:t>
            </a:r>
            <a:endParaRPr lang="en-US" sz="1000" dirty="0"/>
          </a:p>
        </p:txBody>
      </p:sp>
      <p:sp>
        <p:nvSpPr>
          <p:cNvPr id="32" name="Shape 26"/>
          <p:cNvSpPr/>
          <p:nvPr/>
        </p:nvSpPr>
        <p:spPr>
          <a:xfrm>
            <a:off x="10672093" y="2176272"/>
            <a:ext cx="0" cy="128016"/>
          </a:xfrm>
          <a:prstGeom prst="line">
            <a:avLst/>
          </a:prstGeom>
          <a:noFill/>
          <a:ln w="12700">
            <a:solidFill>
              <a:srgbClr val="17233B"/>
            </a:solidFill>
            <a:prstDash val="solid"/>
          </a:ln>
        </p:spPr>
      </p:sp>
      <p:sp>
        <p:nvSpPr>
          <p:cNvPr id="33" name="Text 27"/>
          <p:cNvSpPr txBox="1"/>
          <p:nvPr/>
        </p:nvSpPr>
        <p:spPr>
          <a:xfrm>
            <a:off x="10397773"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30年</a:t>
            </a:r>
            <a:endParaRPr lang="en-US" sz="1000" dirty="0"/>
          </a:p>
        </p:txBody>
      </p:sp>
      <p:sp>
        <p:nvSpPr>
          <p:cNvPr id="34" name="Shape 28"/>
          <p:cNvSpPr/>
          <p:nvPr/>
        </p:nvSpPr>
        <p:spPr>
          <a:xfrm>
            <a:off x="7519764" y="2743200"/>
            <a:ext cx="788082" cy="219456"/>
          </a:xfrm>
          <a:prstGeom prst="rect">
            <a:avLst/>
          </a:prstGeom>
          <a:solidFill>
            <a:srgbClr val="17233B"/>
          </a:solidFill>
          <a:ln w="12700">
            <a:solidFill>
              <a:srgbClr val="17233B"/>
            </a:solidFill>
            <a:prstDash val="solid"/>
          </a:ln>
        </p:spPr>
      </p:sp>
      <p:sp>
        <p:nvSpPr>
          <p:cNvPr id="35" name="Text 29"/>
          <p:cNvSpPr txBox="1"/>
          <p:nvPr/>
        </p:nvSpPr>
        <p:spPr>
          <a:xfrm>
            <a:off x="5943600" y="2651760"/>
            <a:ext cx="1439004"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給湯器・換気設備</a:t>
            </a:r>
            <a:endParaRPr lang="en-US" sz="1300" dirty="0"/>
          </a:p>
        </p:txBody>
      </p:sp>
      <p:sp>
        <p:nvSpPr>
          <p:cNvPr id="36" name="Text 30"/>
          <p:cNvSpPr txBox="1"/>
          <p:nvPr/>
        </p:nvSpPr>
        <p:spPr>
          <a:xfrm>
            <a:off x="8380999" y="2651760"/>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10〜15年</a:t>
            </a:r>
            <a:endParaRPr lang="en-US" sz="1000" dirty="0"/>
          </a:p>
        </p:txBody>
      </p:sp>
      <p:sp>
        <p:nvSpPr>
          <p:cNvPr id="37" name="Shape 31"/>
          <p:cNvSpPr/>
          <p:nvPr/>
        </p:nvSpPr>
        <p:spPr>
          <a:xfrm>
            <a:off x="8307847" y="3255264"/>
            <a:ext cx="788082" cy="219456"/>
          </a:xfrm>
          <a:prstGeom prst="rect">
            <a:avLst/>
          </a:prstGeom>
          <a:solidFill>
            <a:srgbClr val="B89B6A"/>
          </a:solidFill>
          <a:ln w="12700">
            <a:solidFill>
              <a:srgbClr val="B89B6A"/>
            </a:solidFill>
            <a:prstDash val="solid"/>
          </a:ln>
        </p:spPr>
      </p:sp>
      <p:sp>
        <p:nvSpPr>
          <p:cNvPr id="38" name="Text 32"/>
          <p:cNvSpPr txBox="1"/>
          <p:nvPr/>
        </p:nvSpPr>
        <p:spPr>
          <a:xfrm>
            <a:off x="5943600" y="3163824"/>
            <a:ext cx="2227087"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外壁・屋根のメンテナンス</a:t>
            </a:r>
            <a:endParaRPr lang="en-US" sz="1300" dirty="0"/>
          </a:p>
        </p:txBody>
      </p:sp>
      <p:sp>
        <p:nvSpPr>
          <p:cNvPr id="39" name="Text 33"/>
          <p:cNvSpPr txBox="1"/>
          <p:nvPr/>
        </p:nvSpPr>
        <p:spPr>
          <a:xfrm>
            <a:off x="9169081" y="3163824"/>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15〜20年</a:t>
            </a:r>
            <a:endParaRPr lang="en-US" sz="1000" dirty="0"/>
          </a:p>
        </p:txBody>
      </p:sp>
      <p:sp>
        <p:nvSpPr>
          <p:cNvPr id="40" name="Shape 34"/>
          <p:cNvSpPr/>
          <p:nvPr/>
        </p:nvSpPr>
        <p:spPr>
          <a:xfrm>
            <a:off x="9095929" y="3767328"/>
            <a:ext cx="788082" cy="219456"/>
          </a:xfrm>
          <a:prstGeom prst="rect">
            <a:avLst/>
          </a:prstGeom>
          <a:solidFill>
            <a:srgbClr val="17233B"/>
          </a:solidFill>
          <a:ln w="12700">
            <a:solidFill>
              <a:srgbClr val="17233B"/>
            </a:solidFill>
            <a:prstDash val="solid"/>
          </a:ln>
        </p:spPr>
      </p:sp>
      <p:sp>
        <p:nvSpPr>
          <p:cNvPr id="41" name="Text 35"/>
          <p:cNvSpPr txBox="1"/>
          <p:nvPr/>
        </p:nvSpPr>
        <p:spPr>
          <a:xfrm>
            <a:off x="5943600" y="3675888"/>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キッチン・浴室などの水回り</a:t>
            </a:r>
            <a:endParaRPr lang="en-US" sz="1300" dirty="0"/>
          </a:p>
        </p:txBody>
      </p:sp>
      <p:sp>
        <p:nvSpPr>
          <p:cNvPr id="42" name="Text 36"/>
          <p:cNvSpPr txBox="1"/>
          <p:nvPr/>
        </p:nvSpPr>
        <p:spPr>
          <a:xfrm>
            <a:off x="9957163" y="3675888"/>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20〜25年</a:t>
            </a:r>
            <a:endParaRPr lang="en-US" sz="1000" dirty="0"/>
          </a:p>
        </p:txBody>
      </p:sp>
      <p:sp>
        <p:nvSpPr>
          <p:cNvPr id="43" name="Shape 37"/>
          <p:cNvSpPr/>
          <p:nvPr/>
        </p:nvSpPr>
        <p:spPr>
          <a:xfrm>
            <a:off x="9095929" y="4279392"/>
            <a:ext cx="1576164" cy="219456"/>
          </a:xfrm>
          <a:prstGeom prst="rect">
            <a:avLst/>
          </a:prstGeom>
          <a:solidFill>
            <a:srgbClr val="B89B6A"/>
          </a:solidFill>
          <a:ln w="12700">
            <a:solidFill>
              <a:srgbClr val="B89B6A"/>
            </a:solidFill>
            <a:prstDash val="solid"/>
          </a:ln>
        </p:spPr>
      </p:sp>
      <p:sp>
        <p:nvSpPr>
          <p:cNvPr id="44" name="Text 38"/>
          <p:cNvSpPr txBox="1"/>
          <p:nvPr/>
        </p:nvSpPr>
        <p:spPr>
          <a:xfrm>
            <a:off x="5943600" y="4187952"/>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内装・床・建具</a:t>
            </a:r>
            <a:endParaRPr lang="en-US" sz="1300" dirty="0"/>
          </a:p>
        </p:txBody>
      </p:sp>
      <p:sp>
        <p:nvSpPr>
          <p:cNvPr id="45" name="Text 39"/>
          <p:cNvSpPr txBox="1"/>
          <p:nvPr/>
        </p:nvSpPr>
        <p:spPr>
          <a:xfrm>
            <a:off x="10745245" y="4187952"/>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20〜30年</a:t>
            </a:r>
            <a:endParaRPr lang="en-US" sz="1000" dirty="0"/>
          </a:p>
        </p:txBody>
      </p:sp>
      <p:sp>
        <p:nvSpPr>
          <p:cNvPr id="46" name="Shape 40"/>
          <p:cNvSpPr/>
          <p:nvPr/>
        </p:nvSpPr>
        <p:spPr>
          <a:xfrm>
            <a:off x="5852160" y="4800600"/>
            <a:ext cx="5699455" cy="868680"/>
          </a:xfrm>
          <a:prstGeom prst="roundRect">
            <a:avLst>
              <a:gd name="adj" fmla="val 6316"/>
            </a:avLst>
          </a:prstGeom>
          <a:solidFill>
            <a:srgbClr val="FFFFFF"/>
          </a:solidFill>
          <a:ln w="9525">
            <a:solidFill>
              <a:srgbClr val="FFFFFF"/>
            </a:solidFill>
            <a:prstDash val="solid"/>
          </a:ln>
        </p:spPr>
      </p:sp>
      <p:sp>
        <p:nvSpPr>
          <p:cNvPr id="47" name="Text 41"/>
          <p:cNvSpPr txBox="1"/>
          <p:nvPr/>
        </p:nvSpPr>
        <p:spPr>
          <a:xfrm>
            <a:off x="6126480" y="4800600"/>
            <a:ext cx="5150815" cy="86868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月1.5万円の積立で、30年で約540万円を準備できる計算。時期・費用は点検と見積もりで具体化します。</a:t>
            </a:r>
            <a:endParaRPr lang="en-US" sz="1300" dirty="0"/>
          </a:p>
        </p:txBody>
      </p:sp>
      <p:sp>
        <p:nvSpPr>
          <p:cNvPr id="48" name="Text 4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金額は試算用の仮定値、交換時期は一般的な目安で、建物・仕様・使い方によって大きく異なります。新築住宅の固定資産税の軽減措置には適用期限・要件があります。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購入前に確認すべきこと。</a:t>
            </a:r>
            <a:endParaRPr lang="en-US" sz="3000" dirty="0"/>
          </a:p>
        </p:txBody>
      </p:sp>
      <p:sp>
        <p:nvSpPr>
          <p:cNvPr id="5" name="Shape 2"/>
          <p:cNvSpPr/>
          <p:nvPr/>
        </p:nvSpPr>
        <p:spPr>
          <a:xfrm>
            <a:off x="640080" y="1600200"/>
            <a:ext cx="3454298" cy="1965960"/>
          </a:xfrm>
          <a:prstGeom prst="roundRect">
            <a:avLst>
              <a:gd name="adj" fmla="val 2791"/>
            </a:avLst>
          </a:prstGeom>
          <a:solidFill>
            <a:srgbClr val="EEF0F3"/>
          </a:solidFill>
          <a:ln w="9525">
            <a:solidFill>
              <a:srgbClr val="EEF0F3"/>
            </a:solidFill>
            <a:prstDash val="solid"/>
          </a:ln>
        </p:spPr>
      </p:sp>
      <p:sp>
        <p:nvSpPr>
          <p:cNvPr id="6" name="Shape 3"/>
          <p:cNvSpPr/>
          <p:nvPr/>
        </p:nvSpPr>
        <p:spPr>
          <a:xfrm>
            <a:off x="914400" y="187452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2016252"/>
            <a:ext cx="283464" cy="283464"/>
          </a:xfrm>
          <a:prstGeom prst="rect">
            <a:avLst/>
          </a:prstGeom>
        </p:spPr>
      </p:pic>
      <p:sp>
        <p:nvSpPr>
          <p:cNvPr id="8" name="Text 4"/>
          <p:cNvSpPr txBox="1"/>
          <p:nvPr/>
        </p:nvSpPr>
        <p:spPr>
          <a:xfrm>
            <a:off x="1645920"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災害リスク</a:t>
            </a:r>
            <a:endParaRPr lang="en-US" sz="1800" dirty="0"/>
          </a:p>
        </p:txBody>
      </p:sp>
      <p:sp>
        <p:nvSpPr>
          <p:cNvPr id="9" name="Text 5"/>
          <p:cNvSpPr txBox="1"/>
          <p:nvPr/>
        </p:nvSpPr>
        <p:spPr>
          <a:xfrm>
            <a:off x="914400"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洪水・土砂・地震などの想定</a:t>
            </a:r>
            <a:endParaRPr lang="en-US" sz="1400" dirty="0"/>
          </a:p>
        </p:txBody>
      </p:sp>
      <p:sp>
        <p:nvSpPr>
          <p:cNvPr id="10" name="Text 6"/>
          <p:cNvSpPr txBox="1"/>
          <p:nvPr/>
        </p:nvSpPr>
        <p:spPr>
          <a:xfrm>
            <a:off x="914400"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確認方法：ハザードマップポータル／重要事項説明</a:t>
            </a:r>
            <a:endParaRPr lang="en-US" sz="1100" dirty="0"/>
          </a:p>
        </p:txBody>
      </p:sp>
      <p:sp>
        <p:nvSpPr>
          <p:cNvPr id="11" name="Shape 7"/>
          <p:cNvSpPr/>
          <p:nvPr/>
        </p:nvSpPr>
        <p:spPr>
          <a:xfrm>
            <a:off x="4368698" y="1600200"/>
            <a:ext cx="3454298" cy="1965960"/>
          </a:xfrm>
          <a:prstGeom prst="roundRect">
            <a:avLst>
              <a:gd name="adj" fmla="val 2791"/>
            </a:avLst>
          </a:prstGeom>
          <a:solidFill>
            <a:srgbClr val="EEF0F3"/>
          </a:solidFill>
          <a:ln w="9525">
            <a:solidFill>
              <a:srgbClr val="EEF0F3"/>
            </a:solidFill>
            <a:prstDash val="solid"/>
          </a:ln>
        </p:spPr>
      </p:sp>
      <p:sp>
        <p:nvSpPr>
          <p:cNvPr id="12" name="Shape 8"/>
          <p:cNvSpPr/>
          <p:nvPr/>
        </p:nvSpPr>
        <p:spPr>
          <a:xfrm>
            <a:off x="4643018" y="1874520"/>
            <a:ext cx="566928" cy="566928"/>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4784750" y="2016252"/>
            <a:ext cx="283464" cy="283464"/>
          </a:xfrm>
          <a:prstGeom prst="rect">
            <a:avLst/>
          </a:prstGeom>
        </p:spPr>
      </p:pic>
      <p:sp>
        <p:nvSpPr>
          <p:cNvPr id="14" name="Text 9"/>
          <p:cNvSpPr txBox="1"/>
          <p:nvPr/>
        </p:nvSpPr>
        <p:spPr>
          <a:xfrm>
            <a:off x="5374538"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接道</a:t>
            </a:r>
            <a:endParaRPr lang="en-US" sz="1800" dirty="0"/>
          </a:p>
        </p:txBody>
      </p:sp>
      <p:sp>
        <p:nvSpPr>
          <p:cNvPr id="15" name="Text 10"/>
          <p:cNvSpPr txBox="1"/>
          <p:nvPr/>
        </p:nvSpPr>
        <p:spPr>
          <a:xfrm>
            <a:off x="4643018"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幅4m以上の道路に2m以上接しているか</a:t>
            </a:r>
            <a:endParaRPr lang="en-US" sz="1400" dirty="0"/>
          </a:p>
        </p:txBody>
      </p:sp>
      <p:sp>
        <p:nvSpPr>
          <p:cNvPr id="16" name="Text 11"/>
          <p:cNvSpPr txBox="1"/>
          <p:nvPr/>
        </p:nvSpPr>
        <p:spPr>
          <a:xfrm>
            <a:off x="4643018"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確認方法：建築基準法43条／重要事項説明</a:t>
            </a:r>
            <a:endParaRPr lang="en-US" sz="1100" dirty="0"/>
          </a:p>
        </p:txBody>
      </p:sp>
      <p:sp>
        <p:nvSpPr>
          <p:cNvPr id="17" name="Shape 12"/>
          <p:cNvSpPr/>
          <p:nvPr/>
        </p:nvSpPr>
        <p:spPr>
          <a:xfrm>
            <a:off x="8097317" y="1600200"/>
            <a:ext cx="3454298" cy="1965960"/>
          </a:xfrm>
          <a:prstGeom prst="roundRect">
            <a:avLst>
              <a:gd name="adj" fmla="val 2791"/>
            </a:avLst>
          </a:prstGeom>
          <a:solidFill>
            <a:srgbClr val="EEF0F3"/>
          </a:solidFill>
          <a:ln w="9525">
            <a:solidFill>
              <a:srgbClr val="EEF0F3"/>
            </a:solidFill>
            <a:prstDash val="solid"/>
          </a:ln>
        </p:spPr>
      </p:sp>
      <p:sp>
        <p:nvSpPr>
          <p:cNvPr id="18" name="Shape 13"/>
          <p:cNvSpPr/>
          <p:nvPr/>
        </p:nvSpPr>
        <p:spPr>
          <a:xfrm>
            <a:off x="8371637" y="1874520"/>
            <a:ext cx="566928" cy="566928"/>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8513369" y="2016252"/>
            <a:ext cx="283464" cy="283464"/>
          </a:xfrm>
          <a:prstGeom prst="rect">
            <a:avLst/>
          </a:prstGeom>
        </p:spPr>
      </p:pic>
      <p:sp>
        <p:nvSpPr>
          <p:cNvPr id="20" name="Text 14"/>
          <p:cNvSpPr txBox="1"/>
          <p:nvPr/>
        </p:nvSpPr>
        <p:spPr>
          <a:xfrm>
            <a:off x="9103157"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再建築</a:t>
            </a:r>
            <a:endParaRPr lang="en-US" sz="1800" dirty="0"/>
          </a:p>
        </p:txBody>
      </p:sp>
      <p:sp>
        <p:nvSpPr>
          <p:cNvPr id="21" name="Text 15"/>
          <p:cNvSpPr txBox="1"/>
          <p:nvPr/>
        </p:nvSpPr>
        <p:spPr>
          <a:xfrm>
            <a:off x="8371637"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建て替えできるか（再建築不可・セットバック）</a:t>
            </a:r>
            <a:endParaRPr lang="en-US" sz="1400" dirty="0"/>
          </a:p>
        </p:txBody>
      </p:sp>
      <p:sp>
        <p:nvSpPr>
          <p:cNvPr id="22" name="Text 16"/>
          <p:cNvSpPr txBox="1"/>
          <p:nvPr/>
        </p:nvSpPr>
        <p:spPr>
          <a:xfrm>
            <a:off x="8371637"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確認方法：役所の建築指導課／重要事項説明</a:t>
            </a:r>
            <a:endParaRPr lang="en-US" sz="1100" dirty="0"/>
          </a:p>
        </p:txBody>
      </p:sp>
      <p:sp>
        <p:nvSpPr>
          <p:cNvPr id="23" name="Shape 17"/>
          <p:cNvSpPr/>
          <p:nvPr/>
        </p:nvSpPr>
        <p:spPr>
          <a:xfrm>
            <a:off x="640080" y="3794760"/>
            <a:ext cx="3454298" cy="1965960"/>
          </a:xfrm>
          <a:prstGeom prst="roundRect">
            <a:avLst>
              <a:gd name="adj" fmla="val 2791"/>
            </a:avLst>
          </a:prstGeom>
          <a:solidFill>
            <a:srgbClr val="EEF0F3"/>
          </a:solidFill>
          <a:ln w="9525">
            <a:solidFill>
              <a:srgbClr val="EEF0F3"/>
            </a:solidFill>
            <a:prstDash val="solid"/>
          </a:ln>
        </p:spPr>
      </p:sp>
      <p:sp>
        <p:nvSpPr>
          <p:cNvPr id="24" name="Shape 18"/>
          <p:cNvSpPr/>
          <p:nvPr/>
        </p:nvSpPr>
        <p:spPr>
          <a:xfrm>
            <a:off x="914400" y="4069080"/>
            <a:ext cx="566928" cy="566928"/>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1056132" y="4210812"/>
            <a:ext cx="283464" cy="283464"/>
          </a:xfrm>
          <a:prstGeom prst="rect">
            <a:avLst/>
          </a:prstGeom>
        </p:spPr>
      </p:pic>
      <p:sp>
        <p:nvSpPr>
          <p:cNvPr id="26" name="Text 19"/>
          <p:cNvSpPr txBox="1"/>
          <p:nvPr/>
        </p:nvSpPr>
        <p:spPr>
          <a:xfrm>
            <a:off x="1645920"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耐震</a:t>
            </a:r>
            <a:endParaRPr lang="en-US" sz="1800" dirty="0"/>
          </a:p>
        </p:txBody>
      </p:sp>
      <p:sp>
        <p:nvSpPr>
          <p:cNvPr id="27" name="Text 20"/>
          <p:cNvSpPr txBox="1"/>
          <p:nvPr/>
        </p:nvSpPr>
        <p:spPr>
          <a:xfrm>
            <a:off x="914400"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1981年6月以降の建築確認か（新耐震）</a:t>
            </a:r>
            <a:endParaRPr lang="en-US" sz="1400" dirty="0"/>
          </a:p>
        </p:txBody>
      </p:sp>
      <p:sp>
        <p:nvSpPr>
          <p:cNvPr id="28" name="Text 21"/>
          <p:cNvSpPr txBox="1"/>
          <p:nvPr/>
        </p:nvSpPr>
        <p:spPr>
          <a:xfrm>
            <a:off x="914400"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確認方法：確認済証／インスペクション</a:t>
            </a:r>
            <a:endParaRPr lang="en-US" sz="1100" dirty="0"/>
          </a:p>
        </p:txBody>
      </p:sp>
      <p:sp>
        <p:nvSpPr>
          <p:cNvPr id="29" name="Shape 22"/>
          <p:cNvSpPr/>
          <p:nvPr/>
        </p:nvSpPr>
        <p:spPr>
          <a:xfrm>
            <a:off x="4368698" y="3794760"/>
            <a:ext cx="3454298" cy="1965960"/>
          </a:xfrm>
          <a:prstGeom prst="roundRect">
            <a:avLst>
              <a:gd name="adj" fmla="val 2791"/>
            </a:avLst>
          </a:prstGeom>
          <a:solidFill>
            <a:srgbClr val="EEF0F3"/>
          </a:solidFill>
          <a:ln w="9525">
            <a:solidFill>
              <a:srgbClr val="EEF0F3"/>
            </a:solidFill>
            <a:prstDash val="solid"/>
          </a:ln>
        </p:spPr>
      </p:sp>
      <p:sp>
        <p:nvSpPr>
          <p:cNvPr id="30" name="Shape 23"/>
          <p:cNvSpPr/>
          <p:nvPr/>
        </p:nvSpPr>
        <p:spPr>
          <a:xfrm>
            <a:off x="4643018" y="4069080"/>
            <a:ext cx="566928" cy="566928"/>
          </a:xfrm>
          <a:prstGeom prst="ellipse">
            <a:avLst/>
          </a:prstGeom>
          <a:solidFill>
            <a:srgbClr val="17233B"/>
          </a:solidFill>
          <a:ln w="12700">
            <a:solidFill>
              <a:srgbClr val="17233B"/>
            </a:solidFill>
            <a:prstDash val="solid"/>
          </a:ln>
        </p:spPr>
      </p:sp>
      <p:pic>
        <p:nvPicPr>
          <p:cNvPr id="31" name="Image 4" descr="preencoded.png">    </p:cNvPr>
          <p:cNvPicPr>
            <a:picLocks noChangeAspect="1"/>
          </p:cNvPicPr>
          <p:nvPr/>
        </p:nvPicPr>
        <p:blipFill>
          <a:blip r:embed="rId5"/>
          <a:stretch>
            <a:fillRect/>
          </a:stretch>
        </p:blipFill>
        <p:spPr>
          <a:xfrm>
            <a:off x="4784750" y="4210812"/>
            <a:ext cx="283464" cy="283464"/>
          </a:xfrm>
          <a:prstGeom prst="rect">
            <a:avLst/>
          </a:prstGeom>
        </p:spPr>
      </p:pic>
      <p:sp>
        <p:nvSpPr>
          <p:cNvPr id="32" name="Text 24"/>
          <p:cNvSpPr txBox="1"/>
          <p:nvPr/>
        </p:nvSpPr>
        <p:spPr>
          <a:xfrm>
            <a:off x="5374538"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住宅性能</a:t>
            </a:r>
            <a:endParaRPr lang="en-US" sz="1800" dirty="0"/>
          </a:p>
        </p:txBody>
      </p:sp>
      <p:sp>
        <p:nvSpPr>
          <p:cNvPr id="33" name="Text 25"/>
          <p:cNvSpPr txBox="1"/>
          <p:nvPr/>
        </p:nvSpPr>
        <p:spPr>
          <a:xfrm>
            <a:off x="4643018"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省エネ・認定の証明書（控除の枠に直結）</a:t>
            </a:r>
            <a:endParaRPr lang="en-US" sz="1400" dirty="0"/>
          </a:p>
        </p:txBody>
      </p:sp>
      <p:sp>
        <p:nvSpPr>
          <p:cNvPr id="34" name="Text 26"/>
          <p:cNvSpPr txBox="1"/>
          <p:nvPr/>
        </p:nvSpPr>
        <p:spPr>
          <a:xfrm>
            <a:off x="4643018"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確認方法：性能証明書・評価書（P13）</a:t>
            </a:r>
            <a:endParaRPr lang="en-US" sz="1100" dirty="0"/>
          </a:p>
        </p:txBody>
      </p:sp>
      <p:sp>
        <p:nvSpPr>
          <p:cNvPr id="35" name="Shape 27"/>
          <p:cNvSpPr/>
          <p:nvPr/>
        </p:nvSpPr>
        <p:spPr>
          <a:xfrm>
            <a:off x="8097317" y="3794760"/>
            <a:ext cx="3454298" cy="1965960"/>
          </a:xfrm>
          <a:prstGeom prst="roundRect">
            <a:avLst>
              <a:gd name="adj" fmla="val 2791"/>
            </a:avLst>
          </a:prstGeom>
          <a:solidFill>
            <a:srgbClr val="EEF0F3"/>
          </a:solidFill>
          <a:ln w="9525">
            <a:solidFill>
              <a:srgbClr val="EEF0F3"/>
            </a:solidFill>
            <a:prstDash val="solid"/>
          </a:ln>
        </p:spPr>
      </p:sp>
      <p:sp>
        <p:nvSpPr>
          <p:cNvPr id="36" name="Shape 28"/>
          <p:cNvSpPr/>
          <p:nvPr/>
        </p:nvSpPr>
        <p:spPr>
          <a:xfrm>
            <a:off x="8371637" y="4069080"/>
            <a:ext cx="566928" cy="566928"/>
          </a:xfrm>
          <a:prstGeom prst="ellipse">
            <a:avLst/>
          </a:prstGeom>
          <a:solidFill>
            <a:srgbClr val="17233B"/>
          </a:solidFill>
          <a:ln w="12700">
            <a:solidFill>
              <a:srgbClr val="17233B"/>
            </a:solidFill>
            <a:prstDash val="solid"/>
          </a:ln>
        </p:spPr>
      </p:sp>
      <p:pic>
        <p:nvPicPr>
          <p:cNvPr id="37" name="Image 5" descr="preencoded.png">    </p:cNvPr>
          <p:cNvPicPr>
            <a:picLocks noChangeAspect="1"/>
          </p:cNvPicPr>
          <p:nvPr/>
        </p:nvPicPr>
        <p:blipFill>
          <a:blip r:embed="rId6"/>
          <a:stretch>
            <a:fillRect/>
          </a:stretch>
        </p:blipFill>
        <p:spPr>
          <a:xfrm>
            <a:off x="8513369" y="4210812"/>
            <a:ext cx="283464" cy="283464"/>
          </a:xfrm>
          <a:prstGeom prst="rect">
            <a:avLst/>
          </a:prstGeom>
        </p:spPr>
      </p:pic>
      <p:sp>
        <p:nvSpPr>
          <p:cNvPr id="38" name="Text 29"/>
          <p:cNvSpPr txBox="1"/>
          <p:nvPr/>
        </p:nvSpPr>
        <p:spPr>
          <a:xfrm>
            <a:off x="9103157"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ローン審査</a:t>
            </a:r>
            <a:endParaRPr lang="en-US" sz="1800" dirty="0"/>
          </a:p>
        </p:txBody>
      </p:sp>
      <p:sp>
        <p:nvSpPr>
          <p:cNvPr id="39" name="Text 30"/>
          <p:cNvSpPr txBox="1"/>
          <p:nvPr/>
        </p:nvSpPr>
        <p:spPr>
          <a:xfrm>
            <a:off x="8371637"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借入可能額と返済負担の確認</a:t>
            </a:r>
            <a:endParaRPr lang="en-US" sz="1400" dirty="0"/>
          </a:p>
        </p:txBody>
      </p:sp>
      <p:sp>
        <p:nvSpPr>
          <p:cNvPr id="40" name="Text 31"/>
          <p:cNvSpPr txBox="1"/>
          <p:nvPr/>
        </p:nvSpPr>
        <p:spPr>
          <a:xfrm>
            <a:off x="8371637"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確認方法：金融機関の事前審査</a:t>
            </a:r>
            <a:endParaRPr lang="en-US" sz="1100" dirty="0"/>
          </a:p>
        </p:txBody>
      </p:sp>
      <p:sp>
        <p:nvSpPr>
          <p:cNvPr id="41" name="Text 3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接道義務は建築基準法43条（例外あり）。新耐震基準は1981年6月1日以降の建築確認。住宅ローン控除の耐震要件は登記上1982年1月1日以降の建築か、耐震の証明で判断します。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あなたにとっての戸建ての価値。</a:t>
            </a:r>
            <a:endParaRPr lang="en-US" sz="3000" dirty="0"/>
          </a:p>
        </p:txBody>
      </p:sp>
      <p:sp>
        <p:nvSpPr>
          <p:cNvPr id="5" name="Shape 2"/>
          <p:cNvSpPr/>
          <p:nvPr/>
        </p:nvSpPr>
        <p:spPr>
          <a:xfrm>
            <a:off x="640080" y="1600200"/>
            <a:ext cx="5318608" cy="1965960"/>
          </a:xfrm>
          <a:prstGeom prst="roundRect">
            <a:avLst>
              <a:gd name="adj" fmla="val 2791"/>
            </a:avLst>
          </a:prstGeom>
          <a:solidFill>
            <a:srgbClr val="FFFFFF"/>
          </a:solidFill>
          <a:ln w="9525">
            <a:solidFill>
              <a:srgbClr val="FFFFFF"/>
            </a:solidFill>
            <a:prstDash val="solid"/>
          </a:ln>
        </p:spPr>
      </p:sp>
      <p:sp>
        <p:nvSpPr>
          <p:cNvPr id="6" name="Shape 3"/>
          <p:cNvSpPr/>
          <p:nvPr/>
        </p:nvSpPr>
        <p:spPr>
          <a:xfrm>
            <a:off x="960120" y="1920240"/>
            <a:ext cx="685800" cy="68580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31570" y="2091690"/>
            <a:ext cx="342900" cy="342900"/>
          </a:xfrm>
          <a:prstGeom prst="rect">
            <a:avLst/>
          </a:prstGeom>
        </p:spPr>
      </p:pic>
      <p:sp>
        <p:nvSpPr>
          <p:cNvPr id="8" name="Text 4"/>
          <p:cNvSpPr txBox="1"/>
          <p:nvPr/>
        </p:nvSpPr>
        <p:spPr>
          <a:xfrm>
            <a:off x="1874520"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生活価値</a:t>
            </a:r>
            <a:endParaRPr lang="en-US" sz="2000" dirty="0"/>
          </a:p>
        </p:txBody>
      </p:sp>
      <p:sp>
        <p:nvSpPr>
          <p:cNvPr id="9" name="Text 5"/>
          <p:cNvSpPr txBox="1"/>
          <p:nvPr/>
        </p:nvSpPr>
        <p:spPr>
          <a:xfrm>
            <a:off x="1874520"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毎日を、どう過ごしたい？</a:t>
            </a:r>
            <a:endParaRPr lang="en-US" sz="1500" dirty="0"/>
          </a:p>
        </p:txBody>
      </p:sp>
      <p:sp>
        <p:nvSpPr>
          <p:cNvPr id="10" name="Text 6"/>
          <p:cNvSpPr txBox="1"/>
          <p:nvPr/>
        </p:nvSpPr>
        <p:spPr>
          <a:xfrm>
            <a:off x="1874520"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静かさ・広さ・自分のリズムで暮らせること</a:t>
            </a:r>
            <a:endParaRPr lang="en-US" sz="1400" dirty="0"/>
          </a:p>
        </p:txBody>
      </p:sp>
      <p:sp>
        <p:nvSpPr>
          <p:cNvPr id="11" name="Shape 7"/>
          <p:cNvSpPr/>
          <p:nvPr/>
        </p:nvSpPr>
        <p:spPr>
          <a:xfrm>
            <a:off x="6233008" y="1600200"/>
            <a:ext cx="5318608" cy="1965960"/>
          </a:xfrm>
          <a:prstGeom prst="roundRect">
            <a:avLst>
              <a:gd name="adj" fmla="val 2791"/>
            </a:avLst>
          </a:prstGeom>
          <a:solidFill>
            <a:srgbClr val="FFFFFF"/>
          </a:solidFill>
          <a:ln w="9525">
            <a:solidFill>
              <a:srgbClr val="FFFFFF"/>
            </a:solidFill>
            <a:prstDash val="solid"/>
          </a:ln>
        </p:spPr>
      </p:sp>
      <p:sp>
        <p:nvSpPr>
          <p:cNvPr id="12" name="Shape 8"/>
          <p:cNvSpPr/>
          <p:nvPr/>
        </p:nvSpPr>
        <p:spPr>
          <a:xfrm>
            <a:off x="6553048" y="1920240"/>
            <a:ext cx="685800" cy="685800"/>
          </a:xfrm>
          <a:prstGeom prst="ellipse">
            <a:avLst/>
          </a:prstGeom>
          <a:solidFill>
            <a:srgbClr val="B89B6A"/>
          </a:solidFill>
          <a:ln w="12700">
            <a:solidFill>
              <a:srgbClr val="B89B6A"/>
            </a:solidFill>
            <a:prstDash val="solid"/>
          </a:ln>
        </p:spPr>
      </p:sp>
      <p:pic>
        <p:nvPicPr>
          <p:cNvPr id="13" name="Image 1" descr="preencoded.png">    </p:cNvPr>
          <p:cNvPicPr>
            <a:picLocks noChangeAspect="1"/>
          </p:cNvPicPr>
          <p:nvPr/>
        </p:nvPicPr>
        <p:blipFill>
          <a:blip r:embed="rId2"/>
          <a:stretch>
            <a:fillRect/>
          </a:stretch>
        </p:blipFill>
        <p:spPr>
          <a:xfrm>
            <a:off x="6724498" y="2091690"/>
            <a:ext cx="342900" cy="342900"/>
          </a:xfrm>
          <a:prstGeom prst="rect">
            <a:avLst/>
          </a:prstGeom>
        </p:spPr>
      </p:pic>
      <p:sp>
        <p:nvSpPr>
          <p:cNvPr id="14" name="Text 9"/>
          <p:cNvSpPr txBox="1"/>
          <p:nvPr/>
        </p:nvSpPr>
        <p:spPr>
          <a:xfrm>
            <a:off x="7467448"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土地所有価値</a:t>
            </a:r>
            <a:endParaRPr lang="en-US" sz="2000" dirty="0"/>
          </a:p>
        </p:txBody>
      </p:sp>
      <p:sp>
        <p:nvSpPr>
          <p:cNvPr id="15" name="Text 10"/>
          <p:cNvSpPr txBox="1"/>
          <p:nvPr/>
        </p:nvSpPr>
        <p:spPr>
          <a:xfrm>
            <a:off x="7467448"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どの場所に、根を張りたい？</a:t>
            </a:r>
            <a:endParaRPr lang="en-US" sz="1500" dirty="0"/>
          </a:p>
        </p:txBody>
      </p:sp>
      <p:sp>
        <p:nvSpPr>
          <p:cNvPr id="16" name="Text 11"/>
          <p:cNvSpPr txBox="1"/>
          <p:nvPr/>
        </p:nvSpPr>
        <p:spPr>
          <a:xfrm>
            <a:off x="7467448"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二つとない場所を、自分の判断で使えること</a:t>
            </a:r>
            <a:endParaRPr lang="en-US" sz="1400" dirty="0"/>
          </a:p>
        </p:txBody>
      </p:sp>
      <p:sp>
        <p:nvSpPr>
          <p:cNvPr id="17" name="Shape 12"/>
          <p:cNvSpPr/>
          <p:nvPr/>
        </p:nvSpPr>
        <p:spPr>
          <a:xfrm>
            <a:off x="640080" y="3794760"/>
            <a:ext cx="5318608" cy="1965960"/>
          </a:xfrm>
          <a:prstGeom prst="roundRect">
            <a:avLst>
              <a:gd name="adj" fmla="val 2791"/>
            </a:avLst>
          </a:prstGeom>
          <a:solidFill>
            <a:srgbClr val="FFFFFF"/>
          </a:solidFill>
          <a:ln w="9525">
            <a:solidFill>
              <a:srgbClr val="FFFFFF"/>
            </a:solidFill>
            <a:prstDash val="solid"/>
          </a:ln>
        </p:spPr>
      </p:sp>
      <p:sp>
        <p:nvSpPr>
          <p:cNvPr id="18" name="Shape 13"/>
          <p:cNvSpPr/>
          <p:nvPr/>
        </p:nvSpPr>
        <p:spPr>
          <a:xfrm>
            <a:off x="960120" y="4114800"/>
            <a:ext cx="685800" cy="685800"/>
          </a:xfrm>
          <a:prstGeom prst="ellipse">
            <a:avLst/>
          </a:prstGeom>
          <a:solidFill>
            <a:srgbClr val="B89B6A"/>
          </a:solidFill>
          <a:ln w="12700">
            <a:solidFill>
              <a:srgbClr val="B89B6A"/>
            </a:solidFill>
            <a:prstDash val="solid"/>
          </a:ln>
        </p:spPr>
      </p:sp>
      <p:pic>
        <p:nvPicPr>
          <p:cNvPr id="19" name="Image 2" descr="preencoded.png">    </p:cNvPr>
          <p:cNvPicPr>
            <a:picLocks noChangeAspect="1"/>
          </p:cNvPicPr>
          <p:nvPr/>
        </p:nvPicPr>
        <p:blipFill>
          <a:blip r:embed="rId3"/>
          <a:stretch>
            <a:fillRect/>
          </a:stretch>
        </p:blipFill>
        <p:spPr>
          <a:xfrm>
            <a:off x="1131570" y="4286250"/>
            <a:ext cx="342900" cy="342900"/>
          </a:xfrm>
          <a:prstGeom prst="rect">
            <a:avLst/>
          </a:prstGeom>
        </p:spPr>
      </p:pic>
      <p:sp>
        <p:nvSpPr>
          <p:cNvPr id="20" name="Text 14"/>
          <p:cNvSpPr txBox="1"/>
          <p:nvPr/>
        </p:nvSpPr>
        <p:spPr>
          <a:xfrm>
            <a:off x="1874520"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空間価値</a:t>
            </a:r>
            <a:endParaRPr lang="en-US" sz="2000" dirty="0"/>
          </a:p>
        </p:txBody>
      </p:sp>
      <p:sp>
        <p:nvSpPr>
          <p:cNvPr id="21" name="Text 15"/>
          <p:cNvSpPr txBox="1"/>
          <p:nvPr/>
        </p:nvSpPr>
        <p:spPr>
          <a:xfrm>
            <a:off x="1874520"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どんな部屋が、欲しい？</a:t>
            </a:r>
            <a:endParaRPr lang="en-US" sz="1500" dirty="0"/>
          </a:p>
        </p:txBody>
      </p:sp>
      <p:sp>
        <p:nvSpPr>
          <p:cNvPr id="22" name="Text 16"/>
          <p:cNvSpPr txBox="1"/>
          <p:nvPr/>
        </p:nvSpPr>
        <p:spPr>
          <a:xfrm>
            <a:off x="1874520"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趣味・仕事・収納・車・ペットのための空間</a:t>
            </a:r>
            <a:endParaRPr lang="en-US" sz="1400" dirty="0"/>
          </a:p>
        </p:txBody>
      </p:sp>
      <p:sp>
        <p:nvSpPr>
          <p:cNvPr id="23" name="Shape 17"/>
          <p:cNvSpPr/>
          <p:nvPr/>
        </p:nvSpPr>
        <p:spPr>
          <a:xfrm>
            <a:off x="6233008" y="3794760"/>
            <a:ext cx="5318608" cy="1965960"/>
          </a:xfrm>
          <a:prstGeom prst="roundRect">
            <a:avLst>
              <a:gd name="adj" fmla="val 2791"/>
            </a:avLst>
          </a:prstGeom>
          <a:solidFill>
            <a:srgbClr val="FFFFFF"/>
          </a:solidFill>
          <a:ln w="9525">
            <a:solidFill>
              <a:srgbClr val="FFFFFF"/>
            </a:solidFill>
            <a:prstDash val="solid"/>
          </a:ln>
        </p:spPr>
      </p:sp>
      <p:sp>
        <p:nvSpPr>
          <p:cNvPr id="24" name="Shape 18"/>
          <p:cNvSpPr/>
          <p:nvPr/>
        </p:nvSpPr>
        <p:spPr>
          <a:xfrm>
            <a:off x="6553048" y="4114800"/>
            <a:ext cx="685800" cy="685800"/>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6724498" y="4286250"/>
            <a:ext cx="342900" cy="342900"/>
          </a:xfrm>
          <a:prstGeom prst="rect">
            <a:avLst/>
          </a:prstGeom>
        </p:spPr>
      </p:pic>
      <p:sp>
        <p:nvSpPr>
          <p:cNvPr id="26" name="Text 19"/>
          <p:cNvSpPr txBox="1"/>
          <p:nvPr/>
        </p:nvSpPr>
        <p:spPr>
          <a:xfrm>
            <a:off x="7467448"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将来の選択肢</a:t>
            </a:r>
            <a:endParaRPr lang="en-US" sz="2000" dirty="0"/>
          </a:p>
        </p:txBody>
      </p:sp>
      <p:sp>
        <p:nvSpPr>
          <p:cNvPr id="27" name="Text 20"/>
          <p:cNvSpPr txBox="1"/>
          <p:nvPr/>
        </p:nvSpPr>
        <p:spPr>
          <a:xfrm>
            <a:off x="7467448"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10年後、どうしていたい？</a:t>
            </a:r>
            <a:endParaRPr lang="en-US" sz="1500" dirty="0"/>
          </a:p>
        </p:txBody>
      </p:sp>
      <p:sp>
        <p:nvSpPr>
          <p:cNvPr id="28" name="Text 21"/>
          <p:cNvSpPr txBox="1"/>
          <p:nvPr/>
        </p:nvSpPr>
        <p:spPr>
          <a:xfrm>
            <a:off x="7467448"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住み続ける・売る・住み替える・貸す</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この物件は、あなたの希望に合っているか。</a:t>
            </a:r>
            <a:endParaRPr lang="en-US" sz="3000" dirty="0"/>
          </a:p>
        </p:txBody>
      </p:sp>
      <p:sp>
        <p:nvSpPr>
          <p:cNvPr id="5" name="Text 2"/>
          <p:cNvSpPr txBox="1"/>
          <p:nvPr/>
        </p:nvSpPr>
        <p:spPr>
          <a:xfrm>
            <a:off x="640080" y="1554480"/>
            <a:ext cx="6583680" cy="32004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新築戸建て（サンプル・架空）×　あなたの希望</a:t>
            </a:r>
            <a:endParaRPr lang="en-US" sz="1300" dirty="0"/>
          </a:p>
        </p:txBody>
      </p:sp>
      <p:sp>
        <p:nvSpPr>
          <p:cNvPr id="6" name="Shape 3"/>
          <p:cNvSpPr/>
          <p:nvPr/>
        </p:nvSpPr>
        <p:spPr>
          <a:xfrm>
            <a:off x="640080" y="1920240"/>
            <a:ext cx="6583680" cy="365760"/>
          </a:xfrm>
          <a:prstGeom prst="rect">
            <a:avLst/>
          </a:prstGeom>
          <a:solidFill>
            <a:srgbClr val="EEF0F3"/>
          </a:solidFill>
          <a:ln w="12700">
            <a:solidFill>
              <a:srgbClr val="EEF0F3"/>
            </a:solidFill>
            <a:prstDash val="solid"/>
          </a:ln>
        </p:spPr>
      </p:sp>
      <p:sp>
        <p:nvSpPr>
          <p:cNvPr id="7" name="Text 4"/>
          <p:cNvSpPr txBox="1"/>
          <p:nvPr/>
        </p:nvSpPr>
        <p:spPr>
          <a:xfrm>
            <a:off x="731520" y="192024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8" name="Text 5"/>
          <p:cNvSpPr txBox="1"/>
          <p:nvPr/>
        </p:nvSpPr>
        <p:spPr>
          <a:xfrm>
            <a:off x="1188720" y="19202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毎月の住居費（必須）</a:t>
            </a:r>
            <a:endParaRPr lang="en-US" sz="1300" dirty="0"/>
          </a:p>
        </p:txBody>
      </p:sp>
      <p:sp>
        <p:nvSpPr>
          <p:cNvPr id="9" name="Text 6"/>
          <p:cNvSpPr txBox="1"/>
          <p:nvPr/>
        </p:nvSpPr>
        <p:spPr>
          <a:xfrm>
            <a:off x="3840480" y="19202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13.0万円以内／試算 12.5万円</a:t>
            </a:r>
            <a:endParaRPr lang="en-US" sz="1200" dirty="0"/>
          </a:p>
        </p:txBody>
      </p:sp>
      <p:sp>
        <p:nvSpPr>
          <p:cNvPr id="10" name="Text 7"/>
          <p:cNvSpPr txBox="1"/>
          <p:nvPr/>
        </p:nvSpPr>
        <p:spPr>
          <a:xfrm>
            <a:off x="731520" y="2286000"/>
            <a:ext cx="411480" cy="365760"/>
          </a:xfrm>
          <a:prstGeom prst="rect">
            <a:avLst/>
          </a:prstGeom>
          <a:noFill/>
          <a:ln/>
        </p:spPr>
        <p:txBody>
          <a:bodyPr wrap="square" lIns="0" tIns="0" rIns="0" bIns="0" rtlCol="0" anchor="ctr"/>
          <a:lstStyle/>
          <a:p>
            <a:pPr algn="ctr" indent="0" marL="0">
              <a:buNone/>
            </a:pPr>
            <a:r>
              <a:rPr lang="en-US" sz="1600" b="1" dirty="0">
                <a:solidFill>
                  <a:srgbClr val="8A6F3E"/>
                </a:solidFill>
                <a:latin typeface="Yu Gothic" pitchFamily="34" charset="0"/>
                <a:ea typeface="Yu Gothic" pitchFamily="34" charset="-122"/>
                <a:cs typeface="Yu Gothic" pitchFamily="34" charset="-120"/>
              </a:rPr>
              <a:t>△</a:t>
            </a:r>
            <a:endParaRPr lang="en-US" sz="1600" dirty="0"/>
          </a:p>
        </p:txBody>
      </p:sp>
      <p:sp>
        <p:nvSpPr>
          <p:cNvPr id="11" name="Text 8"/>
          <p:cNvSpPr txBox="1"/>
          <p:nvPr/>
        </p:nvSpPr>
        <p:spPr>
          <a:xfrm>
            <a:off x="1188720" y="22860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通勤時間</a:t>
            </a:r>
            <a:endParaRPr lang="en-US" sz="1300" dirty="0"/>
          </a:p>
        </p:txBody>
      </p:sp>
      <p:sp>
        <p:nvSpPr>
          <p:cNvPr id="12" name="Text 9"/>
          <p:cNvSpPr txBox="1"/>
          <p:nvPr/>
        </p:nvSpPr>
        <p:spPr>
          <a:xfrm>
            <a:off x="3840480" y="22860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30分以内／物件 35分</a:t>
            </a:r>
            <a:endParaRPr lang="en-US" sz="1200" dirty="0"/>
          </a:p>
        </p:txBody>
      </p:sp>
      <p:sp>
        <p:nvSpPr>
          <p:cNvPr id="13" name="Shape 10"/>
          <p:cNvSpPr/>
          <p:nvPr/>
        </p:nvSpPr>
        <p:spPr>
          <a:xfrm>
            <a:off x="640080" y="2651760"/>
            <a:ext cx="6583680" cy="365760"/>
          </a:xfrm>
          <a:prstGeom prst="rect">
            <a:avLst/>
          </a:prstGeom>
          <a:solidFill>
            <a:srgbClr val="EEF0F3"/>
          </a:solidFill>
          <a:ln w="12700">
            <a:solidFill>
              <a:srgbClr val="EEF0F3"/>
            </a:solidFill>
            <a:prstDash val="solid"/>
          </a:ln>
        </p:spPr>
      </p:sp>
      <p:sp>
        <p:nvSpPr>
          <p:cNvPr id="14" name="Text 11"/>
          <p:cNvSpPr txBox="1"/>
          <p:nvPr/>
        </p:nvSpPr>
        <p:spPr>
          <a:xfrm>
            <a:off x="731520" y="265176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5" name="Text 12"/>
          <p:cNvSpPr txBox="1"/>
          <p:nvPr/>
        </p:nvSpPr>
        <p:spPr>
          <a:xfrm>
            <a:off x="1188720" y="26517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広さ</a:t>
            </a:r>
            <a:endParaRPr lang="en-US" sz="1300" dirty="0"/>
          </a:p>
        </p:txBody>
      </p:sp>
      <p:sp>
        <p:nvSpPr>
          <p:cNvPr id="16" name="Text 13"/>
          <p:cNvSpPr txBox="1"/>
          <p:nvPr/>
        </p:nvSpPr>
        <p:spPr>
          <a:xfrm>
            <a:off x="3840480" y="26517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80㎡以上／物件 85㎡</a:t>
            </a:r>
            <a:endParaRPr lang="en-US" sz="1200" dirty="0"/>
          </a:p>
        </p:txBody>
      </p:sp>
      <p:sp>
        <p:nvSpPr>
          <p:cNvPr id="17" name="Text 14"/>
          <p:cNvSpPr txBox="1"/>
          <p:nvPr/>
        </p:nvSpPr>
        <p:spPr>
          <a:xfrm>
            <a:off x="731520" y="301752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8" name="Text 15"/>
          <p:cNvSpPr txBox="1"/>
          <p:nvPr/>
        </p:nvSpPr>
        <p:spPr>
          <a:xfrm>
            <a:off x="1188720" y="30175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駐車場（必須）</a:t>
            </a:r>
            <a:endParaRPr lang="en-US" sz="1300" dirty="0"/>
          </a:p>
        </p:txBody>
      </p:sp>
      <p:sp>
        <p:nvSpPr>
          <p:cNvPr id="19" name="Text 16"/>
          <p:cNvSpPr txBox="1"/>
          <p:nvPr/>
        </p:nvSpPr>
        <p:spPr>
          <a:xfrm>
            <a:off x="3840480" y="30175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1台／物件 1台</a:t>
            </a:r>
            <a:endParaRPr lang="en-US" sz="1200" dirty="0"/>
          </a:p>
        </p:txBody>
      </p:sp>
      <p:sp>
        <p:nvSpPr>
          <p:cNvPr id="20" name="Shape 17"/>
          <p:cNvSpPr/>
          <p:nvPr/>
        </p:nvSpPr>
        <p:spPr>
          <a:xfrm>
            <a:off x="640080" y="3383280"/>
            <a:ext cx="6583680" cy="365760"/>
          </a:xfrm>
          <a:prstGeom prst="rect">
            <a:avLst/>
          </a:prstGeom>
          <a:solidFill>
            <a:srgbClr val="EEF0F3"/>
          </a:solidFill>
          <a:ln w="12700">
            <a:solidFill>
              <a:srgbClr val="EEF0F3"/>
            </a:solidFill>
            <a:prstDash val="solid"/>
          </a:ln>
        </p:spPr>
      </p:sp>
      <p:sp>
        <p:nvSpPr>
          <p:cNvPr id="21" name="Text 18"/>
          <p:cNvSpPr txBox="1"/>
          <p:nvPr/>
        </p:nvSpPr>
        <p:spPr>
          <a:xfrm>
            <a:off x="731520" y="33832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2" name="Text 19"/>
          <p:cNvSpPr txBox="1"/>
          <p:nvPr/>
        </p:nvSpPr>
        <p:spPr>
          <a:xfrm>
            <a:off x="1188720" y="33832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書斎・仕事部屋（必須）</a:t>
            </a:r>
            <a:endParaRPr lang="en-US" sz="1300" dirty="0"/>
          </a:p>
        </p:txBody>
      </p:sp>
      <p:sp>
        <p:nvSpPr>
          <p:cNvPr id="23" name="Text 20"/>
          <p:cNvSpPr txBox="1"/>
          <p:nvPr/>
        </p:nvSpPr>
        <p:spPr>
          <a:xfrm>
            <a:off x="3840480" y="33832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独立した1部屋を確保できる</a:t>
            </a:r>
            <a:endParaRPr lang="en-US" sz="1200" dirty="0"/>
          </a:p>
        </p:txBody>
      </p:sp>
      <p:sp>
        <p:nvSpPr>
          <p:cNvPr id="24" name="Text 21"/>
          <p:cNvSpPr txBox="1"/>
          <p:nvPr/>
        </p:nvSpPr>
        <p:spPr>
          <a:xfrm>
            <a:off x="731520" y="374904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5" name="Text 22"/>
          <p:cNvSpPr txBox="1"/>
          <p:nvPr/>
        </p:nvSpPr>
        <p:spPr>
          <a:xfrm>
            <a:off x="1188720" y="37490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庭・外の空間</a:t>
            </a:r>
            <a:endParaRPr lang="en-US" sz="1300" dirty="0"/>
          </a:p>
        </p:txBody>
      </p:sp>
      <p:sp>
        <p:nvSpPr>
          <p:cNvPr id="26" name="Text 23"/>
          <p:cNvSpPr txBox="1"/>
          <p:nvPr/>
        </p:nvSpPr>
        <p:spPr>
          <a:xfrm>
            <a:off x="3840480" y="37490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あり</a:t>
            </a:r>
            <a:endParaRPr lang="en-US" sz="1200" dirty="0"/>
          </a:p>
        </p:txBody>
      </p:sp>
      <p:sp>
        <p:nvSpPr>
          <p:cNvPr id="27" name="Shape 24"/>
          <p:cNvSpPr/>
          <p:nvPr/>
        </p:nvSpPr>
        <p:spPr>
          <a:xfrm>
            <a:off x="640080" y="4114800"/>
            <a:ext cx="6583680" cy="365760"/>
          </a:xfrm>
          <a:prstGeom prst="rect">
            <a:avLst/>
          </a:prstGeom>
          <a:solidFill>
            <a:srgbClr val="EEF0F3"/>
          </a:solidFill>
          <a:ln w="12700">
            <a:solidFill>
              <a:srgbClr val="EEF0F3"/>
            </a:solidFill>
            <a:prstDash val="solid"/>
          </a:ln>
        </p:spPr>
      </p:sp>
      <p:sp>
        <p:nvSpPr>
          <p:cNvPr id="28" name="Text 25"/>
          <p:cNvSpPr txBox="1"/>
          <p:nvPr/>
        </p:nvSpPr>
        <p:spPr>
          <a:xfrm>
            <a:off x="731520" y="411480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9" name="Text 26"/>
          <p:cNvSpPr txBox="1"/>
          <p:nvPr/>
        </p:nvSpPr>
        <p:spPr>
          <a:xfrm>
            <a:off x="1188720" y="41148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ペット</a:t>
            </a:r>
            <a:endParaRPr lang="en-US" sz="1300" dirty="0"/>
          </a:p>
        </p:txBody>
      </p:sp>
      <p:sp>
        <p:nvSpPr>
          <p:cNvPr id="30" name="Text 27"/>
          <p:cNvSpPr txBox="1"/>
          <p:nvPr/>
        </p:nvSpPr>
        <p:spPr>
          <a:xfrm>
            <a:off x="3840480" y="41148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飼育できる（近隣への配慮は必要）</a:t>
            </a:r>
            <a:endParaRPr lang="en-US" sz="1200" dirty="0"/>
          </a:p>
        </p:txBody>
      </p:sp>
      <p:sp>
        <p:nvSpPr>
          <p:cNvPr id="31" name="Text 28"/>
          <p:cNvSpPr txBox="1"/>
          <p:nvPr/>
        </p:nvSpPr>
        <p:spPr>
          <a:xfrm>
            <a:off x="731520" y="448056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32" name="Text 29"/>
          <p:cNvSpPr txBox="1"/>
          <p:nvPr/>
        </p:nvSpPr>
        <p:spPr>
          <a:xfrm>
            <a:off x="1188720" y="44805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省エネ性能</a:t>
            </a:r>
            <a:endParaRPr lang="en-US" sz="1300" dirty="0"/>
          </a:p>
        </p:txBody>
      </p:sp>
      <p:sp>
        <p:nvSpPr>
          <p:cNvPr id="33" name="Text 30"/>
          <p:cNvSpPr txBox="1"/>
          <p:nvPr/>
        </p:nvSpPr>
        <p:spPr>
          <a:xfrm>
            <a:off x="3840480" y="44805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ZEH水準省エネ住宅（証明書あり）</a:t>
            </a:r>
            <a:endParaRPr lang="en-US" sz="1200" dirty="0"/>
          </a:p>
        </p:txBody>
      </p:sp>
      <p:sp>
        <p:nvSpPr>
          <p:cNvPr id="34" name="Shape 31"/>
          <p:cNvSpPr/>
          <p:nvPr/>
        </p:nvSpPr>
        <p:spPr>
          <a:xfrm>
            <a:off x="640080" y="4846320"/>
            <a:ext cx="6583680" cy="365760"/>
          </a:xfrm>
          <a:prstGeom prst="rect">
            <a:avLst/>
          </a:prstGeom>
          <a:solidFill>
            <a:srgbClr val="EEF0F3"/>
          </a:solidFill>
          <a:ln w="12700">
            <a:solidFill>
              <a:srgbClr val="EEF0F3"/>
            </a:solidFill>
            <a:prstDash val="solid"/>
          </a:ln>
        </p:spPr>
      </p:sp>
      <p:sp>
        <p:nvSpPr>
          <p:cNvPr id="35" name="Text 32"/>
          <p:cNvSpPr txBox="1"/>
          <p:nvPr/>
        </p:nvSpPr>
        <p:spPr>
          <a:xfrm>
            <a:off x="731520" y="4846320"/>
            <a:ext cx="411480" cy="365760"/>
          </a:xfrm>
          <a:prstGeom prst="rect">
            <a:avLst/>
          </a:prstGeom>
          <a:noFill/>
          <a:ln/>
        </p:spPr>
        <p:txBody>
          <a:bodyPr wrap="square" lIns="0" tIns="0" rIns="0" bIns="0" rtlCol="0" anchor="ctr"/>
          <a:lstStyle/>
          <a:p>
            <a:pPr algn="ctr" indent="0" marL="0">
              <a:buNone/>
            </a:pPr>
            <a:r>
              <a:rPr lang="en-US" sz="1600" b="1" dirty="0">
                <a:solidFill>
                  <a:srgbClr val="8C99AD"/>
                </a:solidFill>
                <a:latin typeface="Yu Gothic" pitchFamily="34" charset="0"/>
                <a:ea typeface="Yu Gothic" pitchFamily="34" charset="-122"/>
                <a:cs typeface="Yu Gothic" pitchFamily="34" charset="-120"/>
              </a:rPr>
              <a:t>？</a:t>
            </a:r>
            <a:endParaRPr lang="en-US" sz="1600" dirty="0"/>
          </a:p>
        </p:txBody>
      </p:sp>
      <p:sp>
        <p:nvSpPr>
          <p:cNvPr id="36" name="Text 33"/>
          <p:cNvSpPr txBox="1"/>
          <p:nvPr/>
        </p:nvSpPr>
        <p:spPr>
          <a:xfrm>
            <a:off x="1188720" y="48463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災害リスク（必須）</a:t>
            </a:r>
            <a:endParaRPr lang="en-US" sz="1300" dirty="0"/>
          </a:p>
        </p:txBody>
      </p:sp>
      <p:sp>
        <p:nvSpPr>
          <p:cNvPr id="37" name="Text 34"/>
          <p:cNvSpPr txBox="1"/>
          <p:nvPr/>
        </p:nvSpPr>
        <p:spPr>
          <a:xfrm>
            <a:off x="3840480" y="48463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ハザードマップで未確認</a:t>
            </a:r>
            <a:endParaRPr lang="en-US" sz="1200" dirty="0"/>
          </a:p>
        </p:txBody>
      </p:sp>
      <p:sp>
        <p:nvSpPr>
          <p:cNvPr id="38" name="Text 35"/>
          <p:cNvSpPr txBox="1"/>
          <p:nvPr/>
        </p:nvSpPr>
        <p:spPr>
          <a:xfrm>
            <a:off x="731520" y="52120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39" name="Text 36"/>
          <p:cNvSpPr txBox="1"/>
          <p:nvPr/>
        </p:nvSpPr>
        <p:spPr>
          <a:xfrm>
            <a:off x="1188720" y="52120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耐震性（必須）</a:t>
            </a:r>
            <a:endParaRPr lang="en-US" sz="1300" dirty="0"/>
          </a:p>
        </p:txBody>
      </p:sp>
      <p:sp>
        <p:nvSpPr>
          <p:cNvPr id="40" name="Text 37"/>
          <p:cNvSpPr txBox="1"/>
          <p:nvPr/>
        </p:nvSpPr>
        <p:spPr>
          <a:xfrm>
            <a:off x="3840480" y="52120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現行基準の新築</a:t>
            </a:r>
            <a:endParaRPr lang="en-US" sz="1200" dirty="0"/>
          </a:p>
        </p:txBody>
      </p:sp>
      <p:sp>
        <p:nvSpPr>
          <p:cNvPr id="41" name="Text 38"/>
          <p:cNvSpPr txBox="1"/>
          <p:nvPr/>
        </p:nvSpPr>
        <p:spPr>
          <a:xfrm>
            <a:off x="640080" y="5614416"/>
            <a:ext cx="6583680"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 合う　△ 一部　✕ 合わない　？ 未確認</a:t>
            </a:r>
            <a:endParaRPr lang="en-US" sz="1000" dirty="0"/>
          </a:p>
        </p:txBody>
      </p:sp>
      <p:sp>
        <p:nvSpPr>
          <p:cNvPr id="42" name="Shape 39"/>
          <p:cNvSpPr/>
          <p:nvPr/>
        </p:nvSpPr>
        <p:spPr>
          <a:xfrm>
            <a:off x="7498080" y="1554480"/>
            <a:ext cx="4053535" cy="1444752"/>
          </a:xfrm>
          <a:prstGeom prst="roundRect">
            <a:avLst>
              <a:gd name="adj" fmla="val 3797"/>
            </a:avLst>
          </a:prstGeom>
          <a:solidFill>
            <a:srgbClr val="17233B"/>
          </a:solidFill>
          <a:ln w="9525">
            <a:solidFill>
              <a:srgbClr val="17233B"/>
            </a:solidFill>
            <a:prstDash val="solid"/>
          </a:ln>
        </p:spPr>
      </p:sp>
      <p:sp>
        <p:nvSpPr>
          <p:cNvPr id="43" name="Text 40"/>
          <p:cNvSpPr txBox="1"/>
          <p:nvPr/>
        </p:nvSpPr>
        <p:spPr>
          <a:xfrm>
            <a:off x="7726680" y="1645920"/>
            <a:ext cx="3596335" cy="27432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メリット</a:t>
            </a:r>
            <a:endParaRPr lang="en-US" sz="1300" dirty="0"/>
          </a:p>
        </p:txBody>
      </p:sp>
      <p:sp>
        <p:nvSpPr>
          <p:cNvPr id="44" name="Text 41"/>
          <p:cNvSpPr txBox="1"/>
          <p:nvPr/>
        </p:nvSpPr>
        <p:spPr>
          <a:xfrm>
            <a:off x="7726680" y="1938528"/>
            <a:ext cx="3687775" cy="310896"/>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・駐車場・書斎・庭がそろう</a:t>
            </a:r>
            <a:endParaRPr lang="en-US" sz="1200" dirty="0"/>
          </a:p>
        </p:txBody>
      </p:sp>
      <p:sp>
        <p:nvSpPr>
          <p:cNvPr id="45" name="Text 42"/>
          <p:cNvSpPr txBox="1"/>
          <p:nvPr/>
        </p:nvSpPr>
        <p:spPr>
          <a:xfrm>
            <a:off x="7726680" y="2267712"/>
            <a:ext cx="3687775" cy="310896"/>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・ZEH水準で控除の枠が大きい（3,500万円・13年）</a:t>
            </a:r>
            <a:endParaRPr lang="en-US" sz="1200" dirty="0"/>
          </a:p>
        </p:txBody>
      </p:sp>
      <p:sp>
        <p:nvSpPr>
          <p:cNvPr id="46" name="Text 43"/>
          <p:cNvSpPr txBox="1"/>
          <p:nvPr/>
        </p:nvSpPr>
        <p:spPr>
          <a:xfrm>
            <a:off x="7726680" y="2596896"/>
            <a:ext cx="3687775" cy="310896"/>
          </a:xfrm>
          <a:prstGeom prst="rect">
            <a:avLst/>
          </a:prstGeom>
          <a:noFill/>
          <a:ln/>
        </p:spPr>
        <p:txBody>
          <a:bodyPr wrap="square" lIns="0" tIns="0" rIns="0" bIns="0"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・新築で当面の修繕が少ない</a:t>
            </a:r>
            <a:endParaRPr lang="en-US" sz="1200" dirty="0"/>
          </a:p>
        </p:txBody>
      </p:sp>
      <p:sp>
        <p:nvSpPr>
          <p:cNvPr id="47" name="Shape 44"/>
          <p:cNvSpPr/>
          <p:nvPr/>
        </p:nvSpPr>
        <p:spPr>
          <a:xfrm>
            <a:off x="7498080" y="3136392"/>
            <a:ext cx="4053535" cy="1444752"/>
          </a:xfrm>
          <a:prstGeom prst="roundRect">
            <a:avLst>
              <a:gd name="adj" fmla="val 3797"/>
            </a:avLst>
          </a:prstGeom>
          <a:solidFill>
            <a:srgbClr val="EEF0F3"/>
          </a:solidFill>
          <a:ln w="9525">
            <a:solidFill>
              <a:srgbClr val="EEF0F3"/>
            </a:solidFill>
            <a:prstDash val="solid"/>
          </a:ln>
        </p:spPr>
      </p:sp>
      <p:sp>
        <p:nvSpPr>
          <p:cNvPr id="48" name="Text 45"/>
          <p:cNvSpPr txBox="1"/>
          <p:nvPr/>
        </p:nvSpPr>
        <p:spPr>
          <a:xfrm>
            <a:off x="7726680" y="3227832"/>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デメリット</a:t>
            </a:r>
            <a:endParaRPr lang="en-US" sz="1300" dirty="0"/>
          </a:p>
        </p:txBody>
      </p:sp>
      <p:sp>
        <p:nvSpPr>
          <p:cNvPr id="49" name="Text 46"/>
          <p:cNvSpPr txBox="1"/>
          <p:nvPr/>
        </p:nvSpPr>
        <p:spPr>
          <a:xfrm>
            <a:off x="7726680" y="3520440"/>
            <a:ext cx="3687775" cy="310896"/>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・総住居費 月12.5万円（今より＋2.0万円）</a:t>
            </a:r>
            <a:endParaRPr lang="en-US" sz="1200" dirty="0"/>
          </a:p>
        </p:txBody>
      </p:sp>
      <p:sp>
        <p:nvSpPr>
          <p:cNvPr id="50" name="Text 47"/>
          <p:cNvSpPr txBox="1"/>
          <p:nvPr/>
        </p:nvSpPr>
        <p:spPr>
          <a:xfrm>
            <a:off x="7726680" y="3849624"/>
            <a:ext cx="3687775" cy="310896"/>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・返済が手取りの27.4%（目安25%超）</a:t>
            </a:r>
            <a:endParaRPr lang="en-US" sz="1200" dirty="0"/>
          </a:p>
        </p:txBody>
      </p:sp>
      <p:sp>
        <p:nvSpPr>
          <p:cNvPr id="51" name="Text 48"/>
          <p:cNvSpPr txBox="1"/>
          <p:nvPr/>
        </p:nvSpPr>
        <p:spPr>
          <a:xfrm>
            <a:off x="7726680" y="4178808"/>
            <a:ext cx="3687775" cy="310896"/>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・通勤が希望より5分長い</a:t>
            </a:r>
            <a:endParaRPr lang="en-US" sz="1200" dirty="0"/>
          </a:p>
        </p:txBody>
      </p:sp>
      <p:sp>
        <p:nvSpPr>
          <p:cNvPr id="52" name="Shape 49"/>
          <p:cNvSpPr/>
          <p:nvPr/>
        </p:nvSpPr>
        <p:spPr>
          <a:xfrm>
            <a:off x="7498080" y="4718304"/>
            <a:ext cx="4053535" cy="1115568"/>
          </a:xfrm>
          <a:prstGeom prst="roundRect">
            <a:avLst>
              <a:gd name="adj" fmla="val 4918"/>
            </a:avLst>
          </a:prstGeom>
          <a:solidFill>
            <a:srgbClr val="F7F4EE"/>
          </a:solidFill>
          <a:ln w="9525">
            <a:solidFill>
              <a:srgbClr val="F7F4EE"/>
            </a:solidFill>
            <a:prstDash val="solid"/>
          </a:ln>
        </p:spPr>
      </p:sp>
      <p:sp>
        <p:nvSpPr>
          <p:cNvPr id="53" name="Text 50"/>
          <p:cNvSpPr txBox="1"/>
          <p:nvPr/>
        </p:nvSpPr>
        <p:spPr>
          <a:xfrm>
            <a:off x="7726680" y="4809744"/>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未確認事項</a:t>
            </a:r>
            <a:endParaRPr lang="en-US" sz="1300" dirty="0"/>
          </a:p>
        </p:txBody>
      </p:sp>
      <p:sp>
        <p:nvSpPr>
          <p:cNvPr id="54" name="Text 51"/>
          <p:cNvSpPr txBox="1"/>
          <p:nvPr/>
        </p:nvSpPr>
        <p:spPr>
          <a:xfrm>
            <a:off x="7726680" y="5102352"/>
            <a:ext cx="3687775" cy="310896"/>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・災害リスク：ハザードマップで未確認</a:t>
            </a:r>
            <a:endParaRPr lang="en-US" sz="1200" dirty="0"/>
          </a:p>
        </p:txBody>
      </p:sp>
      <p:sp>
        <p:nvSpPr>
          <p:cNvPr id="55" name="Text 52"/>
          <p:cNvSpPr txBox="1"/>
          <p:nvPr/>
        </p:nvSpPr>
        <p:spPr>
          <a:xfrm>
            <a:off x="7726680" y="5431536"/>
            <a:ext cx="3687775" cy="310896"/>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・周辺環境（昼・夜／平日・休日）</a:t>
            </a:r>
            <a:endParaRPr lang="en-US" sz="1200" dirty="0"/>
          </a:p>
        </p:txBody>
      </p:sp>
      <p:sp>
        <p:nvSpPr>
          <p:cNvPr id="56" name="Text 53"/>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サンプル物件（架空）での例です。実際の物件ではシミュレーターに希望と物件情報を入力すると、適合チェックと提案書を自動で作成します。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b="1" dirty="0">
                <a:solidFill>
                  <a:srgbClr val="B89B6A"/>
                </a:solidFill>
                <a:latin typeface="Yu Gothic" pitchFamily="34" charset="0"/>
                <a:ea typeface="Yu Gothic" pitchFamily="34" charset="-122"/>
                <a:cs typeface="Yu Gothic" pitchFamily="34" charset="-120"/>
              </a:rPr>
              <a:t>ACT 5 ─ 行動　｜　P24</a:t>
            </a:r>
            <a:endParaRPr lang="en-US" sz="1100" dirty="0"/>
          </a:p>
        </p:txBody>
      </p:sp>
      <p:sp>
        <p:nvSpPr>
          <p:cNvPr id="4" name="Text 1"/>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600" b="1" dirty="0">
                <a:solidFill>
                  <a:srgbClr val="FFFFFF"/>
                </a:solidFill>
                <a:latin typeface="Yu Mincho" pitchFamily="34" charset="0"/>
                <a:ea typeface="Yu Mincho" pitchFamily="34" charset="-122"/>
                <a:cs typeface="Yu Mincho" pitchFamily="34" charset="-120"/>
              </a:rPr>
              <a:t>まずは、その暮らしを体感する。</a:t>
            </a:r>
            <a:endParaRPr lang="en-US" sz="36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dirty="0">
                <a:solidFill>
                  <a:srgbClr val="EADFCB"/>
                </a:solidFill>
                <a:latin typeface="Yu Gothic" pitchFamily="34" charset="0"/>
                <a:ea typeface="Yu Gothic" pitchFamily="34" charset="-122"/>
                <a:cs typeface="Yu Gothic" pitchFamily="34" charset="-120"/>
              </a:rPr>
              <a:t>決めるのは、見て、確かめてから。</a:t>
            </a:r>
            <a:endParaRPr lang="en-US" sz="1600" dirty="0"/>
          </a:p>
        </p:txBody>
      </p:sp>
      <p:sp>
        <p:nvSpPr>
          <p:cNvPr id="6" name="Shape 3"/>
          <p:cNvSpPr/>
          <p:nvPr/>
        </p:nvSpPr>
        <p:spPr>
          <a:xfrm>
            <a:off x="640080" y="2423160"/>
            <a:ext cx="2522144" cy="2514600"/>
          </a:xfrm>
          <a:prstGeom prst="roundRect">
            <a:avLst>
              <a:gd name="adj" fmla="val 2182"/>
            </a:avLst>
          </a:prstGeom>
          <a:solidFill>
            <a:srgbClr val="26375A"/>
          </a:solidFill>
          <a:ln w="9525">
            <a:solidFill>
              <a:srgbClr val="26375A"/>
            </a:solidFill>
            <a:prstDash val="solid"/>
          </a:ln>
        </p:spPr>
      </p:sp>
      <p:sp>
        <p:nvSpPr>
          <p:cNvPr id="7" name="Text 4"/>
          <p:cNvSpPr txBox="1"/>
          <p:nvPr/>
        </p:nvSpPr>
        <p:spPr>
          <a:xfrm>
            <a:off x="914400"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01</a:t>
            </a:r>
            <a:endParaRPr lang="en-US" sz="1100" dirty="0"/>
          </a:p>
        </p:txBody>
      </p:sp>
      <p:pic>
        <p:nvPicPr>
          <p:cNvPr id="8" name="Image 0" descr="preencoded.png">    </p:cNvPr>
          <p:cNvPicPr>
            <a:picLocks noChangeAspect="1"/>
          </p:cNvPicPr>
          <p:nvPr/>
        </p:nvPicPr>
        <p:blipFill>
          <a:blip r:embed="rId1"/>
          <a:stretch>
            <a:fillRect/>
          </a:stretch>
        </p:blipFill>
        <p:spPr>
          <a:xfrm>
            <a:off x="914400" y="2971800"/>
            <a:ext cx="502920" cy="502920"/>
          </a:xfrm>
          <a:prstGeom prst="rect">
            <a:avLst/>
          </a:prstGeom>
        </p:spPr>
      </p:pic>
      <p:sp>
        <p:nvSpPr>
          <p:cNvPr id="9" name="Text 5"/>
          <p:cNvSpPr txBox="1"/>
          <p:nvPr/>
        </p:nvSpPr>
        <p:spPr>
          <a:xfrm>
            <a:off x="914400" y="3611880"/>
            <a:ext cx="1973504" cy="384048"/>
          </a:xfrm>
          <a:prstGeom prst="rect">
            <a:avLst/>
          </a:prstGeom>
          <a:noFill/>
          <a:ln/>
        </p:spPr>
        <p:txBody>
          <a:bodyPr wrap="square" lIns="0" tIns="0" rIns="0" bIns="0" rtlCol="0" anchor="t"/>
          <a:lstStyle/>
          <a:p>
            <a:pPr indent="0" marL="0">
              <a:buNone/>
            </a:pPr>
            <a:r>
              <a:rPr lang="en-US" sz="1700" b="1" dirty="0">
                <a:solidFill>
                  <a:srgbClr val="FFFFFF"/>
                </a:solidFill>
                <a:latin typeface="Yu Mincho" pitchFamily="34" charset="0"/>
                <a:ea typeface="Yu Mincho" pitchFamily="34" charset="-122"/>
                <a:cs typeface="Yu Mincho" pitchFamily="34" charset="-120"/>
              </a:rPr>
              <a:t>物件見学</a:t>
            </a:r>
            <a:endParaRPr lang="en-US" sz="1700" dirty="0"/>
          </a:p>
        </p:txBody>
      </p:sp>
      <p:sp>
        <p:nvSpPr>
          <p:cNvPr id="10" name="Text 6"/>
          <p:cNvSpPr txBox="1"/>
          <p:nvPr/>
        </p:nvSpPr>
        <p:spPr>
          <a:xfrm>
            <a:off x="914400"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昼と夜、平日と休日に。日当たり・音・周辺の雰囲気を自分の目で。</a:t>
            </a:r>
            <a:endParaRPr lang="en-US" sz="1300" dirty="0"/>
          </a:p>
        </p:txBody>
      </p:sp>
      <p:sp>
        <p:nvSpPr>
          <p:cNvPr id="11" name="Shape 7"/>
          <p:cNvSpPr/>
          <p:nvPr/>
        </p:nvSpPr>
        <p:spPr>
          <a:xfrm>
            <a:off x="3436544" y="2423160"/>
            <a:ext cx="2522144" cy="2514600"/>
          </a:xfrm>
          <a:prstGeom prst="roundRect">
            <a:avLst>
              <a:gd name="adj" fmla="val 2182"/>
            </a:avLst>
          </a:prstGeom>
          <a:solidFill>
            <a:srgbClr val="26375A"/>
          </a:solidFill>
          <a:ln w="9525">
            <a:solidFill>
              <a:srgbClr val="26375A"/>
            </a:solidFill>
            <a:prstDash val="solid"/>
          </a:ln>
        </p:spPr>
      </p:sp>
      <p:sp>
        <p:nvSpPr>
          <p:cNvPr id="12" name="Text 8"/>
          <p:cNvSpPr txBox="1"/>
          <p:nvPr/>
        </p:nvSpPr>
        <p:spPr>
          <a:xfrm>
            <a:off x="3710864"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02</a:t>
            </a:r>
            <a:endParaRPr lang="en-US" sz="1100" dirty="0"/>
          </a:p>
        </p:txBody>
      </p:sp>
      <p:pic>
        <p:nvPicPr>
          <p:cNvPr id="13" name="Image 1" descr="preencoded.png">    </p:cNvPr>
          <p:cNvPicPr>
            <a:picLocks noChangeAspect="1"/>
          </p:cNvPicPr>
          <p:nvPr/>
        </p:nvPicPr>
        <p:blipFill>
          <a:blip r:embed="rId2"/>
          <a:stretch>
            <a:fillRect/>
          </a:stretch>
        </p:blipFill>
        <p:spPr>
          <a:xfrm>
            <a:off x="3710864" y="2971800"/>
            <a:ext cx="502920" cy="502920"/>
          </a:xfrm>
          <a:prstGeom prst="rect">
            <a:avLst/>
          </a:prstGeom>
        </p:spPr>
      </p:pic>
      <p:sp>
        <p:nvSpPr>
          <p:cNvPr id="14" name="Text 9"/>
          <p:cNvSpPr txBox="1"/>
          <p:nvPr/>
        </p:nvSpPr>
        <p:spPr>
          <a:xfrm>
            <a:off x="3710864" y="3611880"/>
            <a:ext cx="1973504" cy="384048"/>
          </a:xfrm>
          <a:prstGeom prst="rect">
            <a:avLst/>
          </a:prstGeom>
          <a:noFill/>
          <a:ln/>
        </p:spPr>
        <p:txBody>
          <a:bodyPr wrap="square" lIns="0" tIns="0" rIns="0" bIns="0" rtlCol="0" anchor="t"/>
          <a:lstStyle/>
          <a:p>
            <a:pPr indent="0" marL="0">
              <a:buNone/>
            </a:pPr>
            <a:r>
              <a:rPr lang="en-US" sz="1700" b="1" dirty="0">
                <a:solidFill>
                  <a:srgbClr val="FFFFFF"/>
                </a:solidFill>
                <a:latin typeface="Yu Mincho" pitchFamily="34" charset="0"/>
                <a:ea typeface="Yu Mincho" pitchFamily="34" charset="-122"/>
                <a:cs typeface="Yu Mincho" pitchFamily="34" charset="-120"/>
              </a:rPr>
              <a:t>資金計画のご相談</a:t>
            </a:r>
            <a:endParaRPr lang="en-US" sz="1700" dirty="0"/>
          </a:p>
        </p:txBody>
      </p:sp>
      <p:sp>
        <p:nvSpPr>
          <p:cNvPr id="15" name="Text 10"/>
          <p:cNvSpPr txBox="1"/>
          <p:nvPr/>
        </p:nvSpPr>
        <p:spPr>
          <a:xfrm>
            <a:off x="3710864"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源泉徴収票をもとに、返済・控除・予備資金を詳しく計算。</a:t>
            </a:r>
            <a:endParaRPr lang="en-US" sz="1300" dirty="0"/>
          </a:p>
        </p:txBody>
      </p:sp>
      <p:sp>
        <p:nvSpPr>
          <p:cNvPr id="16" name="Shape 11"/>
          <p:cNvSpPr/>
          <p:nvPr/>
        </p:nvSpPr>
        <p:spPr>
          <a:xfrm>
            <a:off x="6233008" y="2423160"/>
            <a:ext cx="2522144" cy="2514600"/>
          </a:xfrm>
          <a:prstGeom prst="roundRect">
            <a:avLst>
              <a:gd name="adj" fmla="val 2182"/>
            </a:avLst>
          </a:prstGeom>
          <a:solidFill>
            <a:srgbClr val="26375A"/>
          </a:solidFill>
          <a:ln w="9525">
            <a:solidFill>
              <a:srgbClr val="26375A"/>
            </a:solidFill>
            <a:prstDash val="solid"/>
          </a:ln>
        </p:spPr>
      </p:sp>
      <p:sp>
        <p:nvSpPr>
          <p:cNvPr id="17" name="Text 12"/>
          <p:cNvSpPr txBox="1"/>
          <p:nvPr/>
        </p:nvSpPr>
        <p:spPr>
          <a:xfrm>
            <a:off x="6507328"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03</a:t>
            </a:r>
            <a:endParaRPr lang="en-US" sz="1100" dirty="0"/>
          </a:p>
        </p:txBody>
      </p:sp>
      <p:pic>
        <p:nvPicPr>
          <p:cNvPr id="18" name="Image 2" descr="preencoded.png">    </p:cNvPr>
          <p:cNvPicPr>
            <a:picLocks noChangeAspect="1"/>
          </p:cNvPicPr>
          <p:nvPr/>
        </p:nvPicPr>
        <p:blipFill>
          <a:blip r:embed="rId3"/>
          <a:stretch>
            <a:fillRect/>
          </a:stretch>
        </p:blipFill>
        <p:spPr>
          <a:xfrm>
            <a:off x="6507328" y="2971800"/>
            <a:ext cx="502920" cy="502920"/>
          </a:xfrm>
          <a:prstGeom prst="rect">
            <a:avLst/>
          </a:prstGeom>
        </p:spPr>
      </p:pic>
      <p:sp>
        <p:nvSpPr>
          <p:cNvPr id="19" name="Text 13"/>
          <p:cNvSpPr txBox="1"/>
          <p:nvPr/>
        </p:nvSpPr>
        <p:spPr>
          <a:xfrm>
            <a:off x="6507328" y="3611880"/>
            <a:ext cx="1973504" cy="384048"/>
          </a:xfrm>
          <a:prstGeom prst="rect">
            <a:avLst/>
          </a:prstGeom>
          <a:noFill/>
          <a:ln/>
        </p:spPr>
        <p:txBody>
          <a:bodyPr wrap="square" lIns="0" tIns="0" rIns="0" bIns="0" rtlCol="0" anchor="t"/>
          <a:lstStyle/>
          <a:p>
            <a:pPr indent="0" marL="0">
              <a:buNone/>
            </a:pPr>
            <a:r>
              <a:rPr lang="en-US" sz="1700" b="1" dirty="0">
                <a:solidFill>
                  <a:srgbClr val="FFFFFF"/>
                </a:solidFill>
                <a:latin typeface="Yu Mincho" pitchFamily="34" charset="0"/>
                <a:ea typeface="Yu Mincho" pitchFamily="34" charset="-122"/>
                <a:cs typeface="Yu Mincho" pitchFamily="34" charset="-120"/>
              </a:rPr>
              <a:t>現地・書類の確認</a:t>
            </a:r>
            <a:endParaRPr lang="en-US" sz="1700" dirty="0"/>
          </a:p>
        </p:txBody>
      </p:sp>
      <p:sp>
        <p:nvSpPr>
          <p:cNvPr id="20" name="Text 14"/>
          <p:cNvSpPr txBox="1"/>
          <p:nvPr/>
        </p:nvSpPr>
        <p:spPr>
          <a:xfrm>
            <a:off x="6507328"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ハザード・接道・再建築・性能証明を一緒に確認。</a:t>
            </a:r>
            <a:endParaRPr lang="en-US" sz="1300" dirty="0"/>
          </a:p>
        </p:txBody>
      </p:sp>
      <p:sp>
        <p:nvSpPr>
          <p:cNvPr id="21" name="Shape 15"/>
          <p:cNvSpPr/>
          <p:nvPr/>
        </p:nvSpPr>
        <p:spPr>
          <a:xfrm>
            <a:off x="9029471" y="2423160"/>
            <a:ext cx="2522144" cy="2514600"/>
          </a:xfrm>
          <a:prstGeom prst="roundRect">
            <a:avLst>
              <a:gd name="adj" fmla="val 2182"/>
            </a:avLst>
          </a:prstGeom>
          <a:solidFill>
            <a:srgbClr val="26375A"/>
          </a:solidFill>
          <a:ln w="9525">
            <a:solidFill>
              <a:srgbClr val="26375A"/>
            </a:solidFill>
            <a:prstDash val="solid"/>
          </a:ln>
        </p:spPr>
      </p:sp>
      <p:sp>
        <p:nvSpPr>
          <p:cNvPr id="22" name="Text 16"/>
          <p:cNvSpPr txBox="1"/>
          <p:nvPr/>
        </p:nvSpPr>
        <p:spPr>
          <a:xfrm>
            <a:off x="9303791"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04</a:t>
            </a:r>
            <a:endParaRPr lang="en-US" sz="1100" dirty="0"/>
          </a:p>
        </p:txBody>
      </p:sp>
      <p:pic>
        <p:nvPicPr>
          <p:cNvPr id="23" name="Image 3" descr="preencoded.png">    </p:cNvPr>
          <p:cNvPicPr>
            <a:picLocks noChangeAspect="1"/>
          </p:cNvPicPr>
          <p:nvPr/>
        </p:nvPicPr>
        <p:blipFill>
          <a:blip r:embed="rId4"/>
          <a:stretch>
            <a:fillRect/>
          </a:stretch>
        </p:blipFill>
        <p:spPr>
          <a:xfrm>
            <a:off x="9303791" y="2971800"/>
            <a:ext cx="502920" cy="502920"/>
          </a:xfrm>
          <a:prstGeom prst="rect">
            <a:avLst/>
          </a:prstGeom>
        </p:spPr>
      </p:pic>
      <p:sp>
        <p:nvSpPr>
          <p:cNvPr id="24" name="Text 17"/>
          <p:cNvSpPr txBox="1"/>
          <p:nvPr/>
        </p:nvSpPr>
        <p:spPr>
          <a:xfrm>
            <a:off x="9303791" y="3611880"/>
            <a:ext cx="1973504" cy="384048"/>
          </a:xfrm>
          <a:prstGeom prst="rect">
            <a:avLst/>
          </a:prstGeom>
          <a:noFill/>
          <a:ln/>
        </p:spPr>
        <p:txBody>
          <a:bodyPr wrap="square" lIns="0" tIns="0" rIns="0" bIns="0" rtlCol="0" anchor="t"/>
          <a:lstStyle/>
          <a:p>
            <a:pPr indent="0" marL="0">
              <a:buNone/>
            </a:pPr>
            <a:r>
              <a:rPr lang="en-US" sz="1700" b="1" dirty="0">
                <a:solidFill>
                  <a:srgbClr val="FFFFFF"/>
                </a:solidFill>
                <a:latin typeface="Yu Mincho" pitchFamily="34" charset="0"/>
                <a:ea typeface="Yu Mincho" pitchFamily="34" charset="-122"/>
                <a:cs typeface="Yu Mincho" pitchFamily="34" charset="-120"/>
              </a:rPr>
              <a:t>次回のご提案</a:t>
            </a:r>
            <a:endParaRPr lang="en-US" sz="1700" dirty="0"/>
          </a:p>
        </p:txBody>
      </p:sp>
      <p:sp>
        <p:nvSpPr>
          <p:cNvPr id="25" name="Text 18"/>
          <p:cNvSpPr txBox="1"/>
          <p:nvPr/>
        </p:nvSpPr>
        <p:spPr>
          <a:xfrm>
            <a:off x="9303791"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希望に合う物件を比べてご提案。見送りも大切な選択肢です。</a:t>
            </a:r>
            <a:endParaRPr lang="en-US" sz="1300" dirty="0"/>
          </a:p>
        </p:txBody>
      </p:sp>
      <p:sp>
        <p:nvSpPr>
          <p:cNvPr id="26" name="Shape 19"/>
          <p:cNvSpPr/>
          <p:nvPr/>
        </p:nvSpPr>
        <p:spPr>
          <a:xfrm>
            <a:off x="640080" y="5212080"/>
            <a:ext cx="10911535" cy="0"/>
          </a:xfrm>
          <a:prstGeom prst="line">
            <a:avLst/>
          </a:prstGeom>
          <a:noFill/>
          <a:ln w="9525">
            <a:solidFill>
              <a:srgbClr val="26375A"/>
            </a:solidFill>
            <a:prstDash val="solid"/>
          </a:ln>
        </p:spPr>
      </p:sp>
      <p:sp>
        <p:nvSpPr>
          <p:cNvPr id="27" name="Text 20"/>
          <p:cNvSpPr txBox="1"/>
          <p:nvPr/>
        </p:nvSpPr>
        <p:spPr>
          <a:xfrm>
            <a:off x="640080" y="5349240"/>
            <a:ext cx="5486400" cy="36576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株式会社ジャパンマネジメント</a:t>
            </a:r>
            <a:endParaRPr lang="en-US" sz="1800" dirty="0"/>
          </a:p>
        </p:txBody>
      </p:sp>
      <p:sp>
        <p:nvSpPr>
          <p:cNvPr id="28" name="Text 21"/>
          <p:cNvSpPr txBox="1"/>
          <p:nvPr/>
        </p:nvSpPr>
        <p:spPr>
          <a:xfrm>
            <a:off x="640080" y="5733288"/>
            <a:ext cx="7315200" cy="292608"/>
          </a:xfrm>
          <a:prstGeom prst="rect">
            <a:avLst/>
          </a:prstGeom>
          <a:noFill/>
          <a:ln/>
        </p:spPr>
        <p:txBody>
          <a:bodyPr wrap="square" lIns="0" tIns="0" rIns="0" bIns="0" rtlCol="0" anchor="t"/>
          <a:lstStyle/>
          <a:p>
            <a:pPr indent="0" marL="0">
              <a:buNone/>
            </a:pPr>
            <a:r>
              <a:rPr lang="en-US" sz="1200" dirty="0">
                <a:solidFill>
                  <a:srgbClr val="C9D0DA"/>
                </a:solidFill>
                <a:latin typeface="Yu Gothic" pitchFamily="34" charset="0"/>
                <a:ea typeface="Yu Gothic" pitchFamily="34" charset="-122"/>
                <a:cs typeface="Yu Gothic" pitchFamily="34" charset="-120"/>
              </a:rPr>
              <a:t>japan-mgmt.co.jp　TEL 〔要確認〕　担当：＿＿＿＿＿＿</a:t>
            </a:r>
            <a:endParaRPr lang="en-US" sz="1200" dirty="0"/>
          </a:p>
        </p:txBody>
      </p:sp>
      <p:sp>
        <p:nvSpPr>
          <p:cNvPr id="29" name="Text 22"/>
          <p:cNvSpPr txBox="1"/>
          <p:nvPr/>
        </p:nvSpPr>
        <p:spPr>
          <a:xfrm>
            <a:off x="640080" y="6126480"/>
            <a:ext cx="10911535" cy="457200"/>
          </a:xfrm>
          <a:prstGeom prst="rect">
            <a:avLst/>
          </a:prstGeom>
          <a:noFill/>
          <a:ln/>
        </p:spPr>
        <p:txBody>
          <a:bodyPr wrap="square" lIns="0" tIns="0" rIns="0" bIns="0" rtlCol="0" anchor="t"/>
          <a:lstStyle/>
          <a:p>
            <a:pPr indent="0" marL="0">
              <a:buNone/>
            </a:pPr>
            <a:r>
              <a:rPr lang="en-US" sz="900" dirty="0">
                <a:solidFill>
                  <a:srgbClr val="C9D0DA"/>
                </a:solidFill>
                <a:latin typeface="Yu Gothic" pitchFamily="34" charset="0"/>
                <a:ea typeface="Yu Gothic" pitchFamily="34" charset="-122"/>
                <a:cs typeface="Yu Gothic" pitchFamily="34" charset="-120"/>
              </a:rPr>
              <a:t>本資料の数値は架空のサンプル条件と仮定値による試算で、将来の価格・金利・税制を保証するものではありません。税制は2026年10月時点の情報です。最新の制度は国税庁・国土交通省等でご確認ください。宅地建物取引業の表示：〔要確認〕</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Minch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株式会社ジャパンマネジメント</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人生を、自分の土地から。</dc:title>
  <dc:subject>単身者向け 戸建て所有のご提案</dc:subject>
  <dc:creator>株式会社ジャパンマネジメント</dc:creator>
  <cp:lastModifiedBy>株式会社ジャパンマネジメント</cp:lastModifiedBy>
  <cp:revision>1</cp:revision>
  <dcterms:created xsi:type="dcterms:W3CDTF">2026-10-25T04:35:21Z</dcterms:created>
  <dcterms:modified xsi:type="dcterms:W3CDTF">2026-10-25T04:35:21Z</dcterms:modified>
</cp:coreProperties>
</file>